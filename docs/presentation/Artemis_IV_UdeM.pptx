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ción" id="{2090f3ec-2595-d907-aca1-3bc16fd4d52f}">
          <p14:sldIdLst>
            <p14:sldId id="256"/>
            <p14:sldId id="257"/>
            <p14:sldId id="258"/>
            <p14:sldId id="259"/>
            <p14:sldId id="260"/>
            <p14:sldId id="261"/>
          </p14:sldIdLst>
        </p14:section>
        <p14:section name="Fase 1 · Ascenso" id="{72918961-eca7-1e50-a65e-80ea4ce7c09d}">
          <p14:sldIdLst>
            <p14:sldId id="262"/>
            <p14:sldId id="263"/>
            <p14:sldId id="264"/>
            <p14:sldId id="265"/>
            <p14:sldId id="266"/>
            <p14:sldId id="267"/>
            <p14:sldId id="268"/>
          </p14:sldIdLst>
        </p14:section>
        <p14:section name="Fase 2 · Tránsito" id="{35179700-9d3a-384a-af6f-99c99d16423f}">
          <p14:sldIdLst>
            <p14:sldId id="269"/>
            <p14:sldId id="270"/>
            <p14:sldId id="271"/>
            <p14:sldId id="272"/>
            <p14:sldId id="273"/>
          </p14:sldIdLst>
        </p14:section>
        <p14:section name="Fase 3 · TLI" id="{77aeb603-d5b5-818b-d5fc-1bf3dcf1a78e}">
          <p14:sldIdLst>
            <p14:sldId id="274"/>
            <p14:sldId id="275"/>
            <p14:sldId id="276"/>
          </p14:sldIdLst>
        </p14:section>
        <p14:section name="Cierre" id="{a2428688-8996-3c0c-eaad-031f7fd2aaa0}">
          <p14:sldIdLst>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Presentamos un simulador numérico de las primeras fases de vuelo de Artemis IV: el ascenso del cohete SLS Block 1B, el viaje de la Tierra a la Luna y el cálculo de la maniobra de inyección translunar. Todo está implementado en Python, verificado con pruebas automáticas, y cada resultado que mostramos sale directamente del código.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charla sigue el orden de la misión: contexto, luego las tres fases que simulamos y al final las conclusiones físicas y el trabajo futuro.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Artemis es el programa de la NASA para volver a la Luna de forma sostenible. Nuestro caso es Artemis IV porque es la primera misión con el SLS Block 1B, que cambia la etapa superior por la EUS y permite llevar Orion junto con el módulo I-Hab de la estación Gateway. Eso cambia las masas y el empuje, y por eso modelamos ese vehículo concreto.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son los parámetros del vehículo, todos definidos en constants.py como objetos StageSpec inmutables. La masa al despegue sale de sumar etapas y carga útil: unas 2 710 toneladas. La relación empuje/peso al despegue es de 1.41, dentro del rango esperado para el SLS.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perfil completo tiene cinco fases. Simulamos las tres primeras: ascenso, inserción en órbita y TLI. La NRHO y el descenso quedan como trabajo futuro. La idea que atraviesa todo el proyecto es que cada régimen físico necesita un método numérico diferente.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código está en src/artemis_sim. Hay tres capas: datos (constants, state), física pura (physics_engine, ephemeris) y solvers, uno por fase. El script scripts/generate_figures.py produce todas las gráficas y los números del informe, así que lo que mostramos es reproducible. Hay 63 pruebas automáticas.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Primera fase: el ascenso por la atmósfera.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Escribimos las ecuaciones en el marco geocéntrico inercial ECI. El estado tiene siete componentes: posición, velocidad y masa. La aceleración suma empuje, arrastre y gravedad. Detalle importante: en un marco inercial no hay Coriolis; la rotación de la Tierra entra por la velocidad relativa al aire y por la velocidad inicial de 408 m/s del LC-39B. Por eso se lanza hacia el este: la rotación terrestre regala unos 408 m/s. Todo esto está en make_ascent_derivatives, que devuelve la función f(t, Y) que recibe solve_ivp.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empuje real depende de la presión: T = T_vac - p_a A_e. Los SRB no empujan de forma constante: el grano de combustible sólido se talla para dar un empuje regresivo, alto al despegue y menor cerca de Max-Q. Modelamos ese perfil y lo escalamos con un factor k que garantiza la conservación de la masa: en 126 segundos se quema exactamente el propelente de los SRB. Ese factor da 1.0033: los datos públicos son coherentes. Hay una prueba automática que integra el flujo másico y comprueba que da exactamente la masa de propelente.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atmósfera usa densidad exponencial y la temperatura por capas de la atmósfera estándar de 1976, de donde sale la velocidad del sonido y el Mach. El coeficiente de arrastre ya no es constante: se interpola de una tabla con el pico transónico típico de los cohetes. Todas son funciones puras de physics_engine.py.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guiado tiene tres tramos. En la atmósfera hacemos un giro por gravedad: el empuje sigue la velocidad relativa, con ángulo de ataque cero para minimizar las cargas. Fuera de la atmósfera usamos la ley de tangente lineal, que es la óptima para empuje en el vacío. Los dos parámetros se resolvieron con fsolve para llegar al MECO a 160 km con ángulo de trayectoria cero. El giro por gravedad puro es muy sensible al ángulo inicial; por eso, fuera de la atmósfera, se pasa a la tangente lineal. La integración usa RK45 con eventos: al detectar el fin de los SRB se descarta su masa seca y se reinicia hasta el MECO.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Resultados del ascenso completo. La presión dinámica máxima es de 27.5 kPa a los 65 segundos, ya en régimen supersónico, del mismo orden que la del SLS real. A los 126 s se separan los SRB y se ve el salto de masa. El MECO llega a los 480 s a 160 km con 6.6 km/s. La aceleración llega a 3.5 g al final; el vehículo real estrangula los motores para limitarla, algo que no modelamos.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Así se ve la trayectoria: 980 km de alcance hasta el MECO. Como en el MECO la velocidad (6.6 km/s) es menor que la circular (7.8 km/s), la EUS debe completar la inserción con 1.2 km/s y luego hacer la TLI de 3.15 km/s. Con Tsiolkovsky, la EUS dispone de 5.55 km/s, así que sobran unas 16 toneladas de propelente: la misión es factible dentro del modelo.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Segunda fase: el viaje balístico de la Tierra a la Luna.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el vacío solo actúan la gravedad terrestre y la lunar. Como usamos coordenadas centradas en la Tierra, y la Tierra también es atraída por la Luna, aparece el término indirecto. Además, la velocidad angular de la Luna se obtiene de la tercera ley de Kepler: para que el modelo sea un problema restringido circular de tres cuerpos auténtico, debe cumplir la tercera ley de Kepler con las masas de ambos cuerpos.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el tránsito usamos Velocity Verlet. Es de orden 2 pero simpléctico: conserva la estructura geométrica del problema hamiltoniano. Por el análisis de error regresivo, conserva exactamente un hamiltoniano modificado cercano al real, así que el error de energía queda acotado para siempre. La gráfica verifica el orden: las pendientes medidas son 2.00 para Verlet y 4.14 para RK4.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gráfica clave del proyecto. Con el mismo paso, RK4, que es de mayor orden, pierde energía de forma continua: es una disipación numérica que haría decaer la órbita. Verlet tiene más error instantáneo, pero no crece: oscila acotado. El momento angular de Verlet se conserva hasta el redondeo. Por eso, para propagaciones largas, el integrador simpléctico es la elección correcta.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la Luna presente, la energía respecto a la Tierra no es constante: cambia un 77 % en el encuentro, y eso es física, no un error. El invariante correcto es la integral de Jacobi del problema restringido. Verlet la conserva con un error relativo de 1e-5, que aparece en la primera hora cerca de la Tierra y luego se mantiene plano.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Tercera fase: calcular la maniobra para llegar a la Luna.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TLI es un problema de valores en la frontera: conocemos dónde empezamos y dónde queremos estar en 4 días, pero no la velocidad inicial. Lo resolvemos con el método del disparo: F(Δv) es el error de posición al llegar, y con Newton y un jacobiano por diferencias centrales iteramos hasta anularlo. Newton solo converge si arrancamos cerca, así que la semilla se obtiene resolviendo la ecuación de Kepler, que nos dice dónde encender para que el apogeo coincida con la Luna. Así el residuo inicial cae a 24 000 km, causado solo por la gravedad lunar.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Newton converge en 5 iteraciones a un Δv de 3 150 m/s, justo el valor clásico de una TLI. En la gráfica se ve la convergencia cuadrática al final. En el marco rotante, a la derecha, la Luna queda fija y se aprecia la forma de la transferencia. Al repropagar con Verlet, la nave llega a 4 001 km de altitud, prácticamente el objetivo de 4 000 km.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cerrar, cuatro ideas. Primero, el simulador reproduce el vuelo real: los resultados del ascenso y del viaje a la Luna son del mismo orden que los de la misión real. Segundo, no existe un único método para todo: la atmósfera requiere un método adaptativo y el vacío uno que respete la energía. Tercero, para viajes largos el método simpléctico es mejor, porque su error de energía no crece con el tiempo. Y cuarto, la misión es factible: la etapa EUS tiene combustible suficiente para entrar en órbita y llegar a la Luna. Como trabajo futuro quedan la órbita de Gateway, el descenso a la superficie lunar y modelos más realistas.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Gracias. Quedamos atentos a sus preguntas. Si quiere, podemos abrir el código y mostrar cualquiera de las funciones citadas en las diapositivas.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B1D3A"/>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0B1D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0"/>
            <a:ext cx="7498080" cy="109728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3840480"/>
            <a:ext cx="7498080" cy="1097280"/>
          </a:xfrm>
          <a:prstGeom prst="rect">
            <a:avLst/>
          </a:prstGeom>
          <a:noFill/>
          <a:ln/>
        </p:spPr>
        <p:txBody>
          <a:bodyPr wrap="square" rtlCol="0"/>
          <a:lstStyle>
            <a:lvl1pPr algn="l" indent="0" marL="0">
              <a:buNone/>
              <a:defRPr lang="en-US" sz="1800" dirty="0">
                <a:solidFill>
                  <a:srgbClr val="CADCFC"/>
                </a:solidFill>
                <a:latin typeface="Calibri" pitchFamily="34" charset="0"/>
                <a:ea typeface="Calibri" pitchFamily="34" charset="-122"/>
                <a:cs typeface="Calibri" pitchFamily="34" charset="-120"/>
              </a:defRPr>
            </a:lvl1pPr>
          </a:lstStyle>
          <a:p>
            <a:pPr algn="l" indent="0" marL="0">
              <a:buNone/>
            </a:pPr>
            <a:endParaRPr lang="en-US" sz="1800" dirty="0"/>
          </a:p>
        </p:txBody>
      </p:sp>
      <p:sp>
        <p:nvSpPr>
          <p:cNvPr id="25" name="Slide Number Placeholder 0"/>
          <p:cNvSpPr>
            <a:spLocks noGrp="1"/>
          </p:cNvSpPr>
          <p:nvPr>
            <p:ph type="sldNum" sz="quarter" idx="4294967295"/>
          </p:nvPr>
        </p:nvSpPr>
        <p:spPr>
          <a:xfrm>
            <a:off x="1127729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pic>
        <p:nvPicPr>
          <p:cNvPr id="2" name="Image 0" descr="/home/mayday3003/Documents/githubrepos/ArtemisIV-flight-dynamics/docs/paper/final/logo.png">    </p:cNvPr>
          <p:cNvPicPr>
            <a:picLocks noChangeAspect="1"/>
          </p:cNvPicPr>
          <p:nvPr/>
        </p:nvPicPr>
        <p:blipFill>
          <a:blip r:embed="rId1"/>
          <a:stretch>
            <a:fillRect/>
          </a:stretch>
        </p:blipFill>
        <p:spPr>
          <a:xfrm>
            <a:off x="10957255" y="6291072"/>
            <a:ext cx="713232" cy="438912"/>
          </a:xfrm>
          <a:prstGeom prst="rect">
            <a:avLst/>
          </a:prstGeom>
        </p:spPr>
      </p:pic>
      <p:sp>
        <p:nvSpPr>
          <p:cNvPr id="3" name="Text 0"/>
          <p:cNvSpPr/>
          <p:nvPr>
            <p:ph idx="101" type="title" hasCustomPrompt="1"/>
          </p:nvPr>
        </p:nvSpPr>
        <p:spPr>
          <a:xfrm>
            <a:off x="548640" y="320040"/>
            <a:ext cx="11094415" cy="731520"/>
          </a:xfrm>
          <a:prstGeom prst="rect">
            <a:avLst/>
          </a:prstGeom>
          <a:noFill/>
          <a:ln/>
        </p:spPr>
        <p:txBody>
          <a:bodyPr wrap="square" rtlCol="0"/>
          <a:lstStyle>
            <a:lvl1pPr indent="0" marL="0">
              <a:buNone/>
              <a:defRPr lang="en-US" sz="3000" b="1" dirty="0">
                <a:solidFill>
                  <a:srgbClr val="0B1D3A"/>
                </a:solidFill>
                <a:latin typeface="Cambria" pitchFamily="34" charset="0"/>
                <a:ea typeface="Cambria" pitchFamily="34" charset="-122"/>
                <a:cs typeface="Cambria" pitchFamily="34" charset="-120"/>
              </a:defRPr>
            </a:lvl1pPr>
          </a:lstStyle>
          <a:p>
            <a:pPr indent="0" marL="0">
              <a:buNone/>
            </a:pPr>
            <a:endParaRPr lang="en-US" sz="300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729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4.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4.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4.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4.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4.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4.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4.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4.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4.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4.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home/mayday3003/Documents/githubrepos/ArtemisIV-flight-dynamics/docs/presentation/assets/nasa_sls_launch.jpg">    </p:cNvPr>
          <p:cNvPicPr>
            <a:picLocks noChangeAspect="1"/>
          </p:cNvPicPr>
          <p:nvPr/>
        </p:nvPicPr>
        <p:blipFill>
          <a:blip r:embed="rId1"/>
          <a:stretch>
            <a:fillRect/>
          </a:stretch>
        </p:blipFill>
        <p:spPr>
          <a:xfrm>
            <a:off x="7863840" y="404464"/>
            <a:ext cx="4325112" cy="6049072"/>
          </a:xfrm>
          <a:prstGeom prst="rect">
            <a:avLst/>
          </a:prstGeom>
        </p:spPr>
      </p:pic>
      <p:sp>
        <p:nvSpPr>
          <p:cNvPr id="3" name="Shape 0"/>
          <p:cNvSpPr/>
          <p:nvPr/>
        </p:nvSpPr>
        <p:spPr>
          <a:xfrm>
            <a:off x="548640" y="457200"/>
            <a:ext cx="1417320" cy="868680"/>
          </a:xfrm>
          <a:prstGeom prst="roundRect">
            <a:avLst>
              <a:gd name="adj" fmla="val 8421"/>
            </a:avLst>
          </a:prstGeom>
          <a:solidFill>
            <a:srgbClr val="FFFFFF"/>
          </a:solidFill>
          <a:ln w="12700">
            <a:solidFill>
              <a:srgbClr val="FFFFFF"/>
            </a:solidFill>
            <a:prstDash val="solid"/>
          </a:ln>
        </p:spPr>
      </p:sp>
      <p:pic>
        <p:nvPicPr>
          <p:cNvPr id="4" name="Image 1" descr="/home/mayday3003/Documents/githubrepos/ArtemisIV-flight-dynamics/docs/paper/final/logo.png">    </p:cNvPr>
          <p:cNvPicPr>
            <a:picLocks noChangeAspect="1"/>
          </p:cNvPicPr>
          <p:nvPr/>
        </p:nvPicPr>
        <p:blipFill>
          <a:blip r:embed="rId2"/>
          <a:stretch>
            <a:fillRect/>
          </a:stretch>
        </p:blipFill>
        <p:spPr>
          <a:xfrm>
            <a:off x="628156" y="502920"/>
            <a:ext cx="1267431" cy="777240"/>
          </a:xfrm>
          <a:prstGeom prst="rect">
            <a:avLst/>
          </a:prstGeom>
        </p:spPr>
      </p:pic>
      <p:sp>
        <p:nvSpPr>
          <p:cNvPr id="5" name="Text 1"/>
          <p:cNvSpPr txBox="1"/>
          <p:nvPr/>
        </p:nvSpPr>
        <p:spPr>
          <a:xfrm>
            <a:off x="548640" y="1645920"/>
            <a:ext cx="7040880" cy="173736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Simulación dinámica multifase de la misión Artemis IV</a:t>
            </a:r>
            <a:endParaRPr lang="en-US" sz="3800" dirty="0"/>
          </a:p>
        </p:txBody>
      </p:sp>
      <p:sp>
        <p:nvSpPr>
          <p:cNvPr id="6" name="Text 2"/>
          <p:cNvSpPr txBox="1"/>
          <p:nvPr/>
        </p:nvSpPr>
        <p:spPr>
          <a:xfrm>
            <a:off x="548640" y="3429000"/>
            <a:ext cx="6858000" cy="822960"/>
          </a:xfrm>
          <a:prstGeom prst="rect">
            <a:avLst/>
          </a:prstGeom>
          <a:noFill/>
          <a:ln/>
        </p:spPr>
        <p:txBody>
          <a:bodyPr wrap="square" lIns="0" tIns="0" rIns="0" bIns="0" rtlCol="0" anchor="ctr"/>
          <a:lstStyle/>
          <a:p>
            <a:pPr indent="0" marL="0">
              <a:buNone/>
            </a:pPr>
            <a:r>
              <a:rPr lang="en-US" sz="1800" dirty="0">
                <a:solidFill>
                  <a:srgbClr val="CADCFC"/>
                </a:solidFill>
              </a:rPr>
              <a:t>Ascenso del SLS Block 1B, integración simpléctica y targeting de la inyección translunar</a:t>
            </a:r>
            <a:endParaRPr lang="en-US" sz="1800" dirty="0"/>
          </a:p>
        </p:txBody>
      </p:sp>
      <p:sp>
        <p:nvSpPr>
          <p:cNvPr id="7" name="Text 3"/>
          <p:cNvSpPr txBox="1"/>
          <p:nvPr/>
        </p:nvSpPr>
        <p:spPr>
          <a:xfrm>
            <a:off x="548640" y="4846320"/>
            <a:ext cx="7040880" cy="1097280"/>
          </a:xfrm>
          <a:prstGeom prst="rect">
            <a:avLst/>
          </a:prstGeom>
          <a:noFill/>
          <a:ln/>
        </p:spPr>
        <p:txBody>
          <a:bodyPr wrap="square" lIns="0" tIns="0" rIns="0" bIns="0" rtlCol="0" anchor="ctr"/>
          <a:lstStyle/>
          <a:p>
            <a:pPr indent="0" marL="0">
              <a:spcAft>
                <a:spcPts val="400"/>
              </a:spcAft>
              <a:buNone/>
            </a:pPr>
            <a:r>
              <a:rPr lang="en-US" sz="1400" b="1" dirty="0">
                <a:solidFill>
                  <a:srgbClr val="FFFFFF"/>
                </a:solidFill>
              </a:rPr>
              <a:t>Mariana Lopera Correa · Juan José Becerra Bedoya · Daniel Santiago Machado</a:t>
            </a:r>
            <a:endParaRPr lang="en-US" sz="1400" dirty="0"/>
          </a:p>
          <a:p>
            <a:pPr indent="0" marL="0">
              <a:spcAft>
                <a:spcPts val="400"/>
              </a:spcAft>
              <a:buNone/>
            </a:pPr>
            <a:r>
              <a:rPr lang="en-US" sz="1400" dirty="0">
                <a:solidFill>
                  <a:srgbClr val="FFFFFF"/>
                </a:solidFill>
              </a:rPr>
              <a:t>Programa de Computación Científica · Universidad de Medellín</a:t>
            </a:r>
            <a:endParaRPr lang="en-US" sz="1400" dirty="0"/>
          </a:p>
          <a:p>
            <a:pPr indent="0" marL="0">
              <a:spcAft>
                <a:spcPts val="400"/>
              </a:spcAft>
              <a:buNone/>
            </a:pPr>
            <a:r>
              <a:rPr lang="en-US" sz="1400" dirty="0">
                <a:solidFill>
                  <a:srgbClr val="FFFFFF"/>
                </a:solidFill>
              </a:rPr>
              <a:t>16 de octubre de 2026</a:t>
            </a:r>
            <a:endParaRPr lang="en-US" sz="1400" dirty="0"/>
          </a:p>
        </p:txBody>
      </p:sp>
      <p:sp>
        <p:nvSpPr>
          <p:cNvPr id="8" name="Text 4"/>
          <p:cNvSpPr txBox="1"/>
          <p:nvPr/>
        </p:nvSpPr>
        <p:spPr>
          <a:xfrm>
            <a:off x="8001000" y="6537960"/>
            <a:ext cx="4023360" cy="228600"/>
          </a:xfrm>
          <a:prstGeom prst="rect">
            <a:avLst/>
          </a:prstGeom>
          <a:noFill/>
          <a:ln/>
        </p:spPr>
        <p:txBody>
          <a:bodyPr wrap="square" lIns="0" tIns="0" rIns="0" bIns="0" rtlCol="0" anchor="ctr"/>
          <a:lstStyle/>
          <a:p>
            <a:pPr indent="0" marL="0">
              <a:buNone/>
            </a:pPr>
            <a:r>
              <a:rPr lang="en-US" sz="1000" i="1" dirty="0">
                <a:solidFill>
                  <a:srgbClr val="CADCFC"/>
                </a:solidFill>
              </a:rPr>
              <a:t>Imagen: NASA, lanzamiento del SLS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000" b="1" dirty="0">
                <a:solidFill>
                  <a:srgbClr val="0B1D3A"/>
                </a:solidFill>
                <a:latin typeface="Cambria" pitchFamily="34" charset="0"/>
                <a:ea typeface="Cambria" pitchFamily="34" charset="-122"/>
                <a:cs typeface="Cambria" pitchFamily="34" charset="-120"/>
              </a:rPr>
              <a:t>Agenda</a:t>
            </a:r>
            <a:endParaRPr lang="en-US" sz="3000" dirty="0"/>
          </a:p>
        </p:txBody>
      </p:sp>
      <p:sp>
        <p:nvSpPr>
          <p:cNvPr id="3" name="Shape 1"/>
          <p:cNvSpPr/>
          <p:nvPr/>
        </p:nvSpPr>
        <p:spPr>
          <a:xfrm>
            <a:off x="548640" y="1325880"/>
            <a:ext cx="731520" cy="731520"/>
          </a:xfrm>
          <a:prstGeom prst="ellipse">
            <a:avLst/>
          </a:prstGeom>
          <a:solidFill>
            <a:srgbClr val="E8702A"/>
          </a:solidFill>
          <a:ln w="12700">
            <a:solidFill>
              <a:srgbClr val="E8702A"/>
            </a:solidFill>
            <a:prstDash val="solid"/>
          </a:ln>
        </p:spPr>
      </p:sp>
      <p:sp>
        <p:nvSpPr>
          <p:cNvPr id="4" name="Text 2"/>
          <p:cNvSpPr txBox="1"/>
          <p:nvPr/>
        </p:nvSpPr>
        <p:spPr>
          <a:xfrm>
            <a:off x="548640" y="1325880"/>
            <a:ext cx="731520" cy="731520"/>
          </a:xfrm>
          <a:prstGeom prst="rect">
            <a:avLst/>
          </a:prstGeom>
          <a:noFill/>
          <a:ln/>
        </p:spPr>
        <p:txBody>
          <a:bodyPr wrap="square" lIns="0" tIns="0" rIns="0" bIns="0" rtlCol="0" anchor="ctr"/>
          <a:lstStyle/>
          <a:p>
            <a:pPr algn="ctr" indent="0" marL="0">
              <a:buNone/>
            </a:pPr>
            <a:r>
              <a:rPr lang="en-US" sz="1800" b="1" dirty="0">
                <a:solidFill>
                  <a:srgbClr val="FFFFFF"/>
                </a:solidFill>
              </a:rPr>
              <a:t>01</a:t>
            </a:r>
            <a:endParaRPr lang="en-US" sz="1800" dirty="0"/>
          </a:p>
        </p:txBody>
      </p:sp>
      <p:sp>
        <p:nvSpPr>
          <p:cNvPr id="5" name="Text 3"/>
          <p:cNvSpPr txBox="1"/>
          <p:nvPr/>
        </p:nvSpPr>
        <p:spPr>
          <a:xfrm>
            <a:off x="1508760" y="1344168"/>
            <a:ext cx="4572000" cy="384048"/>
          </a:xfrm>
          <a:prstGeom prst="rect">
            <a:avLst/>
          </a:prstGeom>
          <a:noFill/>
          <a:ln/>
        </p:spPr>
        <p:txBody>
          <a:bodyPr wrap="square" lIns="0" tIns="0" rIns="0" bIns="0" rtlCol="0" anchor="ctr"/>
          <a:lstStyle/>
          <a:p>
            <a:pPr indent="0" marL="0">
              <a:buNone/>
            </a:pPr>
            <a:r>
              <a:rPr lang="en-US" sz="2000" b="1" dirty="0">
                <a:solidFill>
                  <a:srgbClr val="0B1D3A"/>
                </a:solidFill>
                <a:latin typeface="Cambria" pitchFamily="34" charset="0"/>
                <a:ea typeface="Cambria" pitchFamily="34" charset="-122"/>
                <a:cs typeface="Cambria" pitchFamily="34" charset="-120"/>
              </a:rPr>
              <a:t>Contexto</a:t>
            </a:r>
            <a:endParaRPr lang="en-US" sz="2000" dirty="0"/>
          </a:p>
        </p:txBody>
      </p:sp>
      <p:sp>
        <p:nvSpPr>
          <p:cNvPr id="6" name="Text 4"/>
          <p:cNvSpPr txBox="1"/>
          <p:nvPr/>
        </p:nvSpPr>
        <p:spPr>
          <a:xfrm>
            <a:off x="1508760" y="1709928"/>
            <a:ext cx="5852160" cy="320040"/>
          </a:xfrm>
          <a:prstGeom prst="rect">
            <a:avLst/>
          </a:prstGeom>
          <a:noFill/>
          <a:ln/>
        </p:spPr>
        <p:txBody>
          <a:bodyPr wrap="square" lIns="0" tIns="0" rIns="0" bIns="0" rtlCol="0" anchor="ctr"/>
          <a:lstStyle/>
          <a:p>
            <a:pPr indent="0" marL="0">
              <a:buNone/>
            </a:pPr>
            <a:r>
              <a:rPr lang="en-US" sz="1400" dirty="0">
                <a:solidFill>
                  <a:srgbClr val="52514E"/>
                </a:solidFill>
              </a:rPr>
              <a:t>Programa Artemis, SLS Block 1B y alcance</a:t>
            </a:r>
            <a:endParaRPr lang="en-US" sz="1400" dirty="0"/>
          </a:p>
        </p:txBody>
      </p:sp>
      <p:sp>
        <p:nvSpPr>
          <p:cNvPr id="7" name="Shape 5"/>
          <p:cNvSpPr/>
          <p:nvPr/>
        </p:nvSpPr>
        <p:spPr>
          <a:xfrm>
            <a:off x="548640" y="2313432"/>
            <a:ext cx="731520" cy="731520"/>
          </a:xfrm>
          <a:prstGeom prst="ellipse">
            <a:avLst/>
          </a:prstGeom>
          <a:solidFill>
            <a:srgbClr val="0B1D3A"/>
          </a:solidFill>
          <a:ln w="12700">
            <a:solidFill>
              <a:srgbClr val="0B1D3A"/>
            </a:solidFill>
            <a:prstDash val="solid"/>
          </a:ln>
        </p:spPr>
      </p:sp>
      <p:sp>
        <p:nvSpPr>
          <p:cNvPr id="8" name="Text 6"/>
          <p:cNvSpPr txBox="1"/>
          <p:nvPr/>
        </p:nvSpPr>
        <p:spPr>
          <a:xfrm>
            <a:off x="548640" y="2313432"/>
            <a:ext cx="731520" cy="731520"/>
          </a:xfrm>
          <a:prstGeom prst="rect">
            <a:avLst/>
          </a:prstGeom>
          <a:noFill/>
          <a:ln/>
        </p:spPr>
        <p:txBody>
          <a:bodyPr wrap="square" lIns="0" tIns="0" rIns="0" bIns="0" rtlCol="0" anchor="ctr"/>
          <a:lstStyle/>
          <a:p>
            <a:pPr algn="ctr" indent="0" marL="0">
              <a:buNone/>
            </a:pPr>
            <a:r>
              <a:rPr lang="en-US" sz="1800" b="1" dirty="0">
                <a:solidFill>
                  <a:srgbClr val="FFFFFF"/>
                </a:solidFill>
              </a:rPr>
              <a:t>02</a:t>
            </a:r>
            <a:endParaRPr lang="en-US" sz="1800" dirty="0"/>
          </a:p>
        </p:txBody>
      </p:sp>
      <p:sp>
        <p:nvSpPr>
          <p:cNvPr id="9" name="Text 7"/>
          <p:cNvSpPr txBox="1"/>
          <p:nvPr/>
        </p:nvSpPr>
        <p:spPr>
          <a:xfrm>
            <a:off x="1508760" y="2331720"/>
            <a:ext cx="4572000" cy="384048"/>
          </a:xfrm>
          <a:prstGeom prst="rect">
            <a:avLst/>
          </a:prstGeom>
          <a:noFill/>
          <a:ln/>
        </p:spPr>
        <p:txBody>
          <a:bodyPr wrap="square" lIns="0" tIns="0" rIns="0" bIns="0" rtlCol="0" anchor="ctr"/>
          <a:lstStyle/>
          <a:p>
            <a:pPr indent="0" marL="0">
              <a:buNone/>
            </a:pPr>
            <a:r>
              <a:rPr lang="en-US" sz="2000" b="1" dirty="0">
                <a:solidFill>
                  <a:srgbClr val="0B1D3A"/>
                </a:solidFill>
                <a:latin typeface="Cambria" pitchFamily="34" charset="0"/>
                <a:ea typeface="Cambria" pitchFamily="34" charset="-122"/>
                <a:cs typeface="Cambria" pitchFamily="34" charset="-120"/>
              </a:rPr>
              <a:t>Fase 1 · Ascenso</a:t>
            </a:r>
            <a:endParaRPr lang="en-US" sz="2000" dirty="0"/>
          </a:p>
        </p:txBody>
      </p:sp>
      <p:sp>
        <p:nvSpPr>
          <p:cNvPr id="10" name="Text 8"/>
          <p:cNvSpPr txBox="1"/>
          <p:nvPr/>
        </p:nvSpPr>
        <p:spPr>
          <a:xfrm>
            <a:off x="1508760" y="2697480"/>
            <a:ext cx="5852160" cy="320040"/>
          </a:xfrm>
          <a:prstGeom prst="rect">
            <a:avLst/>
          </a:prstGeom>
          <a:noFill/>
          <a:ln/>
        </p:spPr>
        <p:txBody>
          <a:bodyPr wrap="square" lIns="0" tIns="0" rIns="0" bIns="0" rtlCol="0" anchor="ctr"/>
          <a:lstStyle/>
          <a:p>
            <a:pPr indent="0" marL="0">
              <a:buNone/>
            </a:pPr>
            <a:r>
              <a:rPr lang="en-US" sz="1400" dirty="0">
                <a:solidFill>
                  <a:srgbClr val="52514E"/>
                </a:solidFill>
              </a:rPr>
              <a:t>Ecuaciones en ECI, empuje, aerodinámica, guiado, RK45</a:t>
            </a:r>
            <a:endParaRPr lang="en-US" sz="1400" dirty="0"/>
          </a:p>
        </p:txBody>
      </p:sp>
      <p:sp>
        <p:nvSpPr>
          <p:cNvPr id="11" name="Shape 9"/>
          <p:cNvSpPr/>
          <p:nvPr/>
        </p:nvSpPr>
        <p:spPr>
          <a:xfrm>
            <a:off x="548640" y="3300984"/>
            <a:ext cx="731520" cy="731520"/>
          </a:xfrm>
          <a:prstGeom prst="ellipse">
            <a:avLst/>
          </a:prstGeom>
          <a:solidFill>
            <a:srgbClr val="0B1D3A"/>
          </a:solidFill>
          <a:ln w="12700">
            <a:solidFill>
              <a:srgbClr val="0B1D3A"/>
            </a:solidFill>
            <a:prstDash val="solid"/>
          </a:ln>
        </p:spPr>
      </p:sp>
      <p:sp>
        <p:nvSpPr>
          <p:cNvPr id="12" name="Text 10"/>
          <p:cNvSpPr txBox="1"/>
          <p:nvPr/>
        </p:nvSpPr>
        <p:spPr>
          <a:xfrm>
            <a:off x="548640" y="3300984"/>
            <a:ext cx="731520" cy="731520"/>
          </a:xfrm>
          <a:prstGeom prst="rect">
            <a:avLst/>
          </a:prstGeom>
          <a:noFill/>
          <a:ln/>
        </p:spPr>
        <p:txBody>
          <a:bodyPr wrap="square" lIns="0" tIns="0" rIns="0" bIns="0" rtlCol="0" anchor="ctr"/>
          <a:lstStyle/>
          <a:p>
            <a:pPr algn="ctr" indent="0" marL="0">
              <a:buNone/>
            </a:pPr>
            <a:r>
              <a:rPr lang="en-US" sz="1800" b="1" dirty="0">
                <a:solidFill>
                  <a:srgbClr val="FFFFFF"/>
                </a:solidFill>
              </a:rPr>
              <a:t>03</a:t>
            </a:r>
            <a:endParaRPr lang="en-US" sz="1800" dirty="0"/>
          </a:p>
        </p:txBody>
      </p:sp>
      <p:sp>
        <p:nvSpPr>
          <p:cNvPr id="13" name="Text 11"/>
          <p:cNvSpPr txBox="1"/>
          <p:nvPr/>
        </p:nvSpPr>
        <p:spPr>
          <a:xfrm>
            <a:off x="1508760" y="3319272"/>
            <a:ext cx="4572000" cy="384048"/>
          </a:xfrm>
          <a:prstGeom prst="rect">
            <a:avLst/>
          </a:prstGeom>
          <a:noFill/>
          <a:ln/>
        </p:spPr>
        <p:txBody>
          <a:bodyPr wrap="square" lIns="0" tIns="0" rIns="0" bIns="0" rtlCol="0" anchor="ctr"/>
          <a:lstStyle/>
          <a:p>
            <a:pPr indent="0" marL="0">
              <a:buNone/>
            </a:pPr>
            <a:r>
              <a:rPr lang="en-US" sz="2000" b="1" dirty="0">
                <a:solidFill>
                  <a:srgbClr val="0B1D3A"/>
                </a:solidFill>
                <a:latin typeface="Cambria" pitchFamily="34" charset="0"/>
                <a:ea typeface="Cambria" pitchFamily="34" charset="-122"/>
                <a:cs typeface="Cambria" pitchFamily="34" charset="-120"/>
              </a:rPr>
              <a:t>Fase 2 · Tránsito</a:t>
            </a:r>
            <a:endParaRPr lang="en-US" sz="2000" dirty="0"/>
          </a:p>
        </p:txBody>
      </p:sp>
      <p:sp>
        <p:nvSpPr>
          <p:cNvPr id="14" name="Text 12"/>
          <p:cNvSpPr txBox="1"/>
          <p:nvPr/>
        </p:nvSpPr>
        <p:spPr>
          <a:xfrm>
            <a:off x="1508760" y="3685032"/>
            <a:ext cx="5852160" cy="320040"/>
          </a:xfrm>
          <a:prstGeom prst="rect">
            <a:avLst/>
          </a:prstGeom>
          <a:noFill/>
          <a:ln/>
        </p:spPr>
        <p:txBody>
          <a:bodyPr wrap="square" lIns="0" tIns="0" rIns="0" bIns="0" rtlCol="0" anchor="ctr"/>
          <a:lstStyle/>
          <a:p>
            <a:pPr indent="0" marL="0">
              <a:buNone/>
            </a:pPr>
            <a:r>
              <a:rPr lang="en-US" sz="1400" dirty="0">
                <a:solidFill>
                  <a:srgbClr val="52514E"/>
                </a:solidFill>
              </a:rPr>
              <a:t>Problema de 3 cuerpos, Verlet simpléctico, Jacobi</a:t>
            </a:r>
            <a:endParaRPr lang="en-US" sz="1400" dirty="0"/>
          </a:p>
        </p:txBody>
      </p:sp>
      <p:sp>
        <p:nvSpPr>
          <p:cNvPr id="15" name="Shape 13"/>
          <p:cNvSpPr/>
          <p:nvPr/>
        </p:nvSpPr>
        <p:spPr>
          <a:xfrm>
            <a:off x="548640" y="4288536"/>
            <a:ext cx="731520" cy="731520"/>
          </a:xfrm>
          <a:prstGeom prst="ellipse">
            <a:avLst/>
          </a:prstGeom>
          <a:solidFill>
            <a:srgbClr val="0B1D3A"/>
          </a:solidFill>
          <a:ln w="12700">
            <a:solidFill>
              <a:srgbClr val="0B1D3A"/>
            </a:solidFill>
            <a:prstDash val="solid"/>
          </a:ln>
        </p:spPr>
      </p:sp>
      <p:sp>
        <p:nvSpPr>
          <p:cNvPr id="16" name="Text 14"/>
          <p:cNvSpPr txBox="1"/>
          <p:nvPr/>
        </p:nvSpPr>
        <p:spPr>
          <a:xfrm>
            <a:off x="548640" y="4288536"/>
            <a:ext cx="731520" cy="731520"/>
          </a:xfrm>
          <a:prstGeom prst="rect">
            <a:avLst/>
          </a:prstGeom>
          <a:noFill/>
          <a:ln/>
        </p:spPr>
        <p:txBody>
          <a:bodyPr wrap="square" lIns="0" tIns="0" rIns="0" bIns="0" rtlCol="0" anchor="ctr"/>
          <a:lstStyle/>
          <a:p>
            <a:pPr algn="ctr" indent="0" marL="0">
              <a:buNone/>
            </a:pPr>
            <a:r>
              <a:rPr lang="en-US" sz="1800" b="1" dirty="0">
                <a:solidFill>
                  <a:srgbClr val="FFFFFF"/>
                </a:solidFill>
              </a:rPr>
              <a:t>04</a:t>
            </a:r>
            <a:endParaRPr lang="en-US" sz="1800" dirty="0"/>
          </a:p>
        </p:txBody>
      </p:sp>
      <p:sp>
        <p:nvSpPr>
          <p:cNvPr id="17" name="Text 15"/>
          <p:cNvSpPr txBox="1"/>
          <p:nvPr/>
        </p:nvSpPr>
        <p:spPr>
          <a:xfrm>
            <a:off x="1508760" y="4306824"/>
            <a:ext cx="4572000" cy="384048"/>
          </a:xfrm>
          <a:prstGeom prst="rect">
            <a:avLst/>
          </a:prstGeom>
          <a:noFill/>
          <a:ln/>
        </p:spPr>
        <p:txBody>
          <a:bodyPr wrap="square" lIns="0" tIns="0" rIns="0" bIns="0" rtlCol="0" anchor="ctr"/>
          <a:lstStyle/>
          <a:p>
            <a:pPr indent="0" marL="0">
              <a:buNone/>
            </a:pPr>
            <a:r>
              <a:rPr lang="en-US" sz="2000" b="1" dirty="0">
                <a:solidFill>
                  <a:srgbClr val="0B1D3A"/>
                </a:solidFill>
                <a:latin typeface="Cambria" pitchFamily="34" charset="0"/>
                <a:ea typeface="Cambria" pitchFamily="34" charset="-122"/>
                <a:cs typeface="Cambria" pitchFamily="34" charset="-120"/>
              </a:rPr>
              <a:t>Fase 3 · TLI</a:t>
            </a:r>
            <a:endParaRPr lang="en-US" sz="2000" dirty="0"/>
          </a:p>
        </p:txBody>
      </p:sp>
      <p:sp>
        <p:nvSpPr>
          <p:cNvPr id="18" name="Text 16"/>
          <p:cNvSpPr txBox="1"/>
          <p:nvPr/>
        </p:nvSpPr>
        <p:spPr>
          <a:xfrm>
            <a:off x="1508760" y="4672584"/>
            <a:ext cx="5852160" cy="320040"/>
          </a:xfrm>
          <a:prstGeom prst="rect">
            <a:avLst/>
          </a:prstGeom>
          <a:noFill/>
          <a:ln/>
        </p:spPr>
        <p:txBody>
          <a:bodyPr wrap="square" lIns="0" tIns="0" rIns="0" bIns="0" rtlCol="0" anchor="ctr"/>
          <a:lstStyle/>
          <a:p>
            <a:pPr indent="0" marL="0">
              <a:buNone/>
            </a:pPr>
            <a:r>
              <a:rPr lang="en-US" sz="1400" dirty="0">
                <a:solidFill>
                  <a:srgbClr val="52514E"/>
                </a:solidFill>
              </a:rPr>
              <a:t>Método del disparo y Newton-Raphson</a:t>
            </a:r>
            <a:endParaRPr lang="en-US" sz="1400" dirty="0"/>
          </a:p>
        </p:txBody>
      </p:sp>
      <p:sp>
        <p:nvSpPr>
          <p:cNvPr id="19" name="Shape 17"/>
          <p:cNvSpPr/>
          <p:nvPr/>
        </p:nvSpPr>
        <p:spPr>
          <a:xfrm>
            <a:off x="548640" y="5276088"/>
            <a:ext cx="731520" cy="731520"/>
          </a:xfrm>
          <a:prstGeom prst="ellipse">
            <a:avLst/>
          </a:prstGeom>
          <a:solidFill>
            <a:srgbClr val="0B1D3A"/>
          </a:solidFill>
          <a:ln w="12700">
            <a:solidFill>
              <a:srgbClr val="0B1D3A"/>
            </a:solidFill>
            <a:prstDash val="solid"/>
          </a:ln>
        </p:spPr>
      </p:sp>
      <p:sp>
        <p:nvSpPr>
          <p:cNvPr id="20" name="Text 18"/>
          <p:cNvSpPr txBox="1"/>
          <p:nvPr/>
        </p:nvSpPr>
        <p:spPr>
          <a:xfrm>
            <a:off x="548640" y="5276088"/>
            <a:ext cx="731520" cy="731520"/>
          </a:xfrm>
          <a:prstGeom prst="rect">
            <a:avLst/>
          </a:prstGeom>
          <a:noFill/>
          <a:ln/>
        </p:spPr>
        <p:txBody>
          <a:bodyPr wrap="square" lIns="0" tIns="0" rIns="0" bIns="0" rtlCol="0" anchor="ctr"/>
          <a:lstStyle/>
          <a:p>
            <a:pPr algn="ctr" indent="0" marL="0">
              <a:buNone/>
            </a:pPr>
            <a:r>
              <a:rPr lang="en-US" sz="1800" b="1" dirty="0">
                <a:solidFill>
                  <a:srgbClr val="FFFFFF"/>
                </a:solidFill>
              </a:rPr>
              <a:t>05</a:t>
            </a:r>
            <a:endParaRPr lang="en-US" sz="1800" dirty="0"/>
          </a:p>
        </p:txBody>
      </p:sp>
      <p:sp>
        <p:nvSpPr>
          <p:cNvPr id="21" name="Text 19"/>
          <p:cNvSpPr txBox="1"/>
          <p:nvPr/>
        </p:nvSpPr>
        <p:spPr>
          <a:xfrm>
            <a:off x="1508760" y="5294376"/>
            <a:ext cx="4572000" cy="384048"/>
          </a:xfrm>
          <a:prstGeom prst="rect">
            <a:avLst/>
          </a:prstGeom>
          <a:noFill/>
          <a:ln/>
        </p:spPr>
        <p:txBody>
          <a:bodyPr wrap="square" lIns="0" tIns="0" rIns="0" bIns="0" rtlCol="0" anchor="ctr"/>
          <a:lstStyle/>
          <a:p>
            <a:pPr indent="0" marL="0">
              <a:buNone/>
            </a:pPr>
            <a:r>
              <a:rPr lang="en-US" sz="2000" b="1" dirty="0">
                <a:solidFill>
                  <a:srgbClr val="0B1D3A"/>
                </a:solidFill>
                <a:latin typeface="Cambria" pitchFamily="34" charset="0"/>
                <a:ea typeface="Cambria" pitchFamily="34" charset="-122"/>
                <a:cs typeface="Cambria" pitchFamily="34" charset="-120"/>
              </a:rPr>
              <a:t>Cierre</a:t>
            </a:r>
            <a:endParaRPr lang="en-US" sz="2000" dirty="0"/>
          </a:p>
        </p:txBody>
      </p:sp>
      <p:sp>
        <p:nvSpPr>
          <p:cNvPr id="22" name="Text 20"/>
          <p:cNvSpPr txBox="1"/>
          <p:nvPr/>
        </p:nvSpPr>
        <p:spPr>
          <a:xfrm>
            <a:off x="1508760" y="5660136"/>
            <a:ext cx="5852160" cy="320040"/>
          </a:xfrm>
          <a:prstGeom prst="rect">
            <a:avLst/>
          </a:prstGeom>
          <a:noFill/>
          <a:ln/>
        </p:spPr>
        <p:txBody>
          <a:bodyPr wrap="square" lIns="0" tIns="0" rIns="0" bIns="0" rtlCol="0" anchor="ctr"/>
          <a:lstStyle/>
          <a:p>
            <a:pPr indent="0" marL="0">
              <a:buNone/>
            </a:pPr>
            <a:r>
              <a:rPr lang="en-US" sz="1400" dirty="0">
                <a:solidFill>
                  <a:srgbClr val="52514E"/>
                </a:solidFill>
              </a:rPr>
              <a:t>Resultados físicos, conclusiones y trabajo futuro</a:t>
            </a:r>
            <a:endParaRPr lang="en-US" sz="1400" dirty="0"/>
          </a:p>
        </p:txBody>
      </p:sp>
      <p:pic>
        <p:nvPicPr>
          <p:cNvPr id="23" name="Image 0" descr="/home/mayday3003/Documents/githubrepos/ArtemisIV-flight-dynamics/docs/presentation/assets/nasa_sls_block1b.jpg">    </p:cNvPr>
          <p:cNvPicPr>
            <a:picLocks noChangeAspect="1"/>
          </p:cNvPicPr>
          <p:nvPr/>
        </p:nvPicPr>
        <p:blipFill>
          <a:blip r:embed="rId1"/>
          <a:stretch>
            <a:fillRect/>
          </a:stretch>
        </p:blipFill>
        <p:spPr>
          <a:xfrm>
            <a:off x="7928244" y="1188720"/>
            <a:ext cx="3620233" cy="4937760"/>
          </a:xfrm>
          <a:prstGeom prst="rect">
            <a:avLst/>
          </a:prstGeom>
        </p:spPr>
      </p:pic>
      <p:sp>
        <p:nvSpPr>
          <p:cNvPr id="24" name="Text 21"/>
          <p:cNvSpPr txBox="1"/>
          <p:nvPr/>
        </p:nvSpPr>
        <p:spPr>
          <a:xfrm>
            <a:off x="8138160" y="6172200"/>
            <a:ext cx="3291840" cy="228600"/>
          </a:xfrm>
          <a:prstGeom prst="rect">
            <a:avLst/>
          </a:prstGeom>
          <a:noFill/>
          <a:ln/>
        </p:spPr>
        <p:txBody>
          <a:bodyPr wrap="square" lIns="0" tIns="0" rIns="0" bIns="0" rtlCol="0" anchor="ctr"/>
          <a:lstStyle/>
          <a:p>
            <a:pPr indent="0" marL="0">
              <a:buNone/>
            </a:pPr>
            <a:r>
              <a:rPr lang="en-US" sz="1000" i="1" dirty="0">
                <a:solidFill>
                  <a:srgbClr val="52514E"/>
                </a:solidFill>
              </a:rPr>
              <a:t>Imagen: NASA, SLS Block 1B (render)</a:t>
            </a:r>
            <a:endParaRPr lang="en-US" sz="100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000" b="1" dirty="0">
                <a:solidFill>
                  <a:srgbClr val="0B1D3A"/>
                </a:solidFill>
                <a:latin typeface="Cambria" pitchFamily="34" charset="0"/>
                <a:ea typeface="Cambria" pitchFamily="34" charset="-122"/>
                <a:cs typeface="Cambria" pitchFamily="34" charset="-120"/>
              </a:rPr>
              <a:t>El programa Artemis: regreso sostenible a la Luna</a:t>
            </a:r>
            <a:endParaRPr lang="en-US" sz="3000" dirty="0"/>
          </a:p>
        </p:txBody>
      </p:sp>
      <p:pic>
        <p:nvPicPr>
          <p:cNvPr id="3" name="Image 0" descr="/home/mayday3003/Documents/githubrepos/ArtemisIV-flight-dynamics/docs/presentation/assets/nasa_artemis_moon.jpg">    </p:cNvPr>
          <p:cNvPicPr>
            <a:picLocks noChangeAspect="1"/>
          </p:cNvPicPr>
          <p:nvPr/>
        </p:nvPicPr>
        <p:blipFill>
          <a:blip r:embed="rId1"/>
          <a:stretch>
            <a:fillRect/>
          </a:stretch>
        </p:blipFill>
        <p:spPr>
          <a:xfrm>
            <a:off x="548640" y="1243111"/>
            <a:ext cx="3840480" cy="4966138"/>
          </a:xfrm>
          <a:prstGeom prst="rect">
            <a:avLst/>
          </a:prstGeom>
        </p:spPr>
      </p:pic>
      <p:sp>
        <p:nvSpPr>
          <p:cNvPr id="4" name="Text 1"/>
          <p:cNvSpPr txBox="1"/>
          <p:nvPr/>
        </p:nvSpPr>
        <p:spPr>
          <a:xfrm>
            <a:off x="548640" y="6263640"/>
            <a:ext cx="3840480" cy="228600"/>
          </a:xfrm>
          <a:prstGeom prst="rect">
            <a:avLst/>
          </a:prstGeom>
          <a:noFill/>
          <a:ln/>
        </p:spPr>
        <p:txBody>
          <a:bodyPr wrap="square" lIns="0" tIns="0" rIns="0" bIns="0" rtlCol="0" anchor="ctr"/>
          <a:lstStyle/>
          <a:p>
            <a:pPr indent="0" marL="0">
              <a:buNone/>
            </a:pPr>
            <a:r>
              <a:rPr lang="en-US" sz="1000" i="1" dirty="0">
                <a:solidFill>
                  <a:srgbClr val="52514E"/>
                </a:solidFill>
              </a:rPr>
              <a:t>Imagen: NASA, Artemis Plan (2020)</a:t>
            </a:r>
            <a:endParaRPr lang="en-US" sz="1000" dirty="0"/>
          </a:p>
        </p:txBody>
      </p:sp>
      <p:sp>
        <p:nvSpPr>
          <p:cNvPr id="5" name="Shape 2"/>
          <p:cNvSpPr/>
          <p:nvPr/>
        </p:nvSpPr>
        <p:spPr>
          <a:xfrm>
            <a:off x="4846320" y="1325880"/>
            <a:ext cx="6766560" cy="914400"/>
          </a:xfrm>
          <a:prstGeom prst="roundRect">
            <a:avLst>
              <a:gd name="adj" fmla="val 8000"/>
            </a:avLst>
          </a:prstGeom>
          <a:solidFill>
            <a:srgbClr val="EEF2F7"/>
          </a:solidFill>
          <a:ln w="12700">
            <a:solidFill>
              <a:srgbClr val="EEF2F7"/>
            </a:solidFill>
            <a:prstDash val="solid"/>
          </a:ln>
        </p:spPr>
      </p:sp>
      <p:sp>
        <p:nvSpPr>
          <p:cNvPr id="6" name="Text 3"/>
          <p:cNvSpPr txBox="1"/>
          <p:nvPr/>
        </p:nvSpPr>
        <p:spPr>
          <a:xfrm>
            <a:off x="5074920" y="1399032"/>
            <a:ext cx="6400800" cy="365760"/>
          </a:xfrm>
          <a:prstGeom prst="rect">
            <a:avLst/>
          </a:prstGeom>
          <a:noFill/>
          <a:ln/>
        </p:spPr>
        <p:txBody>
          <a:bodyPr wrap="square" lIns="0" tIns="0" rIns="0" bIns="0" rtlCol="0" anchor="ctr"/>
          <a:lstStyle/>
          <a:p>
            <a:pPr indent="0" marL="0">
              <a:buNone/>
            </a:pPr>
            <a:r>
              <a:rPr lang="en-US" sz="1800" b="1" dirty="0">
                <a:solidFill>
                  <a:srgbClr val="0B1D3A"/>
                </a:solidFill>
                <a:latin typeface="Cambria" pitchFamily="34" charset="0"/>
                <a:ea typeface="Cambria" pitchFamily="34" charset="-122"/>
                <a:cs typeface="Cambria" pitchFamily="34" charset="-120"/>
              </a:rPr>
              <a:t>Artemis I (2022)</a:t>
            </a:r>
            <a:endParaRPr lang="en-US" sz="1800" dirty="0"/>
          </a:p>
        </p:txBody>
      </p:sp>
      <p:sp>
        <p:nvSpPr>
          <p:cNvPr id="7" name="Text 4"/>
          <p:cNvSpPr txBox="1"/>
          <p:nvPr/>
        </p:nvSpPr>
        <p:spPr>
          <a:xfrm>
            <a:off x="5074920" y="1783080"/>
            <a:ext cx="6400800" cy="365760"/>
          </a:xfrm>
          <a:prstGeom prst="rect">
            <a:avLst/>
          </a:prstGeom>
          <a:noFill/>
          <a:ln/>
        </p:spPr>
        <p:txBody>
          <a:bodyPr wrap="square" lIns="0" tIns="0" rIns="0" bIns="0" rtlCol="0" anchor="ctr"/>
          <a:lstStyle/>
          <a:p>
            <a:pPr indent="0" marL="0">
              <a:buNone/>
            </a:pPr>
            <a:r>
              <a:rPr lang="en-US" sz="1500" dirty="0">
                <a:solidFill>
                  <a:srgbClr val="1B1B1F"/>
                </a:solidFill>
              </a:rPr>
              <a:t>Vuelo de prueba sin tripulación de SLS + Orion alrededor de la Luna</a:t>
            </a:r>
            <a:endParaRPr lang="en-US" sz="1500" dirty="0"/>
          </a:p>
        </p:txBody>
      </p:sp>
      <p:sp>
        <p:nvSpPr>
          <p:cNvPr id="8" name="Shape 5"/>
          <p:cNvSpPr/>
          <p:nvPr/>
        </p:nvSpPr>
        <p:spPr>
          <a:xfrm>
            <a:off x="4846320" y="2423160"/>
            <a:ext cx="6766560" cy="914400"/>
          </a:xfrm>
          <a:prstGeom prst="roundRect">
            <a:avLst>
              <a:gd name="adj" fmla="val 8000"/>
            </a:avLst>
          </a:prstGeom>
          <a:solidFill>
            <a:srgbClr val="EEF2F7"/>
          </a:solidFill>
          <a:ln w="12700">
            <a:solidFill>
              <a:srgbClr val="EEF2F7"/>
            </a:solidFill>
            <a:prstDash val="solid"/>
          </a:ln>
        </p:spPr>
      </p:sp>
      <p:sp>
        <p:nvSpPr>
          <p:cNvPr id="9" name="Text 6"/>
          <p:cNvSpPr txBox="1"/>
          <p:nvPr/>
        </p:nvSpPr>
        <p:spPr>
          <a:xfrm>
            <a:off x="5074920" y="2496312"/>
            <a:ext cx="6400800" cy="365760"/>
          </a:xfrm>
          <a:prstGeom prst="rect">
            <a:avLst/>
          </a:prstGeom>
          <a:noFill/>
          <a:ln/>
        </p:spPr>
        <p:txBody>
          <a:bodyPr wrap="square" lIns="0" tIns="0" rIns="0" bIns="0" rtlCol="0" anchor="ctr"/>
          <a:lstStyle/>
          <a:p>
            <a:pPr indent="0" marL="0">
              <a:buNone/>
            </a:pPr>
            <a:r>
              <a:rPr lang="en-US" sz="1800" b="1" dirty="0">
                <a:solidFill>
                  <a:srgbClr val="0B1D3A"/>
                </a:solidFill>
                <a:latin typeface="Cambria" pitchFamily="34" charset="0"/>
                <a:ea typeface="Cambria" pitchFamily="34" charset="-122"/>
                <a:cs typeface="Cambria" pitchFamily="34" charset="-120"/>
              </a:rPr>
              <a:t>Artemis II</a:t>
            </a:r>
            <a:endParaRPr lang="en-US" sz="1800" dirty="0"/>
          </a:p>
        </p:txBody>
      </p:sp>
      <p:sp>
        <p:nvSpPr>
          <p:cNvPr id="10" name="Text 7"/>
          <p:cNvSpPr txBox="1"/>
          <p:nvPr/>
        </p:nvSpPr>
        <p:spPr>
          <a:xfrm>
            <a:off x="5074920" y="2880360"/>
            <a:ext cx="6400800" cy="365760"/>
          </a:xfrm>
          <a:prstGeom prst="rect">
            <a:avLst/>
          </a:prstGeom>
          <a:noFill/>
          <a:ln/>
        </p:spPr>
        <p:txBody>
          <a:bodyPr wrap="square" lIns="0" tIns="0" rIns="0" bIns="0" rtlCol="0" anchor="ctr"/>
          <a:lstStyle/>
          <a:p>
            <a:pPr indent="0" marL="0">
              <a:buNone/>
            </a:pPr>
            <a:r>
              <a:rPr lang="en-US" sz="1500" dirty="0">
                <a:solidFill>
                  <a:srgbClr val="1B1B1F"/>
                </a:solidFill>
              </a:rPr>
              <a:t>Primer sobrevuelo lunar tripulado</a:t>
            </a:r>
            <a:endParaRPr lang="en-US" sz="1500" dirty="0"/>
          </a:p>
        </p:txBody>
      </p:sp>
      <p:sp>
        <p:nvSpPr>
          <p:cNvPr id="11" name="Shape 8"/>
          <p:cNvSpPr/>
          <p:nvPr/>
        </p:nvSpPr>
        <p:spPr>
          <a:xfrm>
            <a:off x="4846320" y="3520440"/>
            <a:ext cx="6766560" cy="914400"/>
          </a:xfrm>
          <a:prstGeom prst="roundRect">
            <a:avLst>
              <a:gd name="adj" fmla="val 8000"/>
            </a:avLst>
          </a:prstGeom>
          <a:solidFill>
            <a:srgbClr val="EEF2F7"/>
          </a:solidFill>
          <a:ln w="12700">
            <a:solidFill>
              <a:srgbClr val="EEF2F7"/>
            </a:solidFill>
            <a:prstDash val="solid"/>
          </a:ln>
        </p:spPr>
      </p:sp>
      <p:sp>
        <p:nvSpPr>
          <p:cNvPr id="12" name="Text 9"/>
          <p:cNvSpPr txBox="1"/>
          <p:nvPr/>
        </p:nvSpPr>
        <p:spPr>
          <a:xfrm>
            <a:off x="5074920" y="3593592"/>
            <a:ext cx="6400800" cy="365760"/>
          </a:xfrm>
          <a:prstGeom prst="rect">
            <a:avLst/>
          </a:prstGeom>
          <a:noFill/>
          <a:ln/>
        </p:spPr>
        <p:txBody>
          <a:bodyPr wrap="square" lIns="0" tIns="0" rIns="0" bIns="0" rtlCol="0" anchor="ctr"/>
          <a:lstStyle/>
          <a:p>
            <a:pPr indent="0" marL="0">
              <a:buNone/>
            </a:pPr>
            <a:r>
              <a:rPr lang="en-US" sz="1800" b="1" dirty="0">
                <a:solidFill>
                  <a:srgbClr val="0B1D3A"/>
                </a:solidFill>
                <a:latin typeface="Cambria" pitchFamily="34" charset="0"/>
                <a:ea typeface="Cambria" pitchFamily="34" charset="-122"/>
                <a:cs typeface="Cambria" pitchFamily="34" charset="-120"/>
              </a:rPr>
              <a:t>Artemis III</a:t>
            </a:r>
            <a:endParaRPr lang="en-US" sz="1800" dirty="0"/>
          </a:p>
        </p:txBody>
      </p:sp>
      <p:sp>
        <p:nvSpPr>
          <p:cNvPr id="13" name="Text 10"/>
          <p:cNvSpPr txBox="1"/>
          <p:nvPr/>
        </p:nvSpPr>
        <p:spPr>
          <a:xfrm>
            <a:off x="5074920" y="3977640"/>
            <a:ext cx="6400800" cy="365760"/>
          </a:xfrm>
          <a:prstGeom prst="rect">
            <a:avLst/>
          </a:prstGeom>
          <a:noFill/>
          <a:ln/>
        </p:spPr>
        <p:txBody>
          <a:bodyPr wrap="square" lIns="0" tIns="0" rIns="0" bIns="0" rtlCol="0" anchor="ctr"/>
          <a:lstStyle/>
          <a:p>
            <a:pPr indent="0" marL="0">
              <a:buNone/>
            </a:pPr>
            <a:r>
              <a:rPr lang="en-US" sz="1500" dirty="0">
                <a:solidFill>
                  <a:srgbClr val="1B1B1F"/>
                </a:solidFill>
              </a:rPr>
              <a:t>Primer alunizaje tripulado en el polo sur con el HLS</a:t>
            </a:r>
            <a:endParaRPr lang="en-US" sz="1500" dirty="0"/>
          </a:p>
        </p:txBody>
      </p:sp>
      <p:sp>
        <p:nvSpPr>
          <p:cNvPr id="14" name="Shape 11"/>
          <p:cNvSpPr/>
          <p:nvPr/>
        </p:nvSpPr>
        <p:spPr>
          <a:xfrm>
            <a:off x="4846320" y="4617720"/>
            <a:ext cx="6766560" cy="914400"/>
          </a:xfrm>
          <a:prstGeom prst="roundRect">
            <a:avLst>
              <a:gd name="adj" fmla="val 8000"/>
            </a:avLst>
          </a:prstGeom>
          <a:solidFill>
            <a:srgbClr val="FDEBDD"/>
          </a:solidFill>
          <a:ln w="12700">
            <a:solidFill>
              <a:srgbClr val="E8702A"/>
            </a:solidFill>
            <a:prstDash val="solid"/>
          </a:ln>
        </p:spPr>
      </p:sp>
      <p:sp>
        <p:nvSpPr>
          <p:cNvPr id="15" name="Text 12"/>
          <p:cNvSpPr txBox="1"/>
          <p:nvPr/>
        </p:nvSpPr>
        <p:spPr>
          <a:xfrm>
            <a:off x="5074920" y="4690872"/>
            <a:ext cx="6400800" cy="365760"/>
          </a:xfrm>
          <a:prstGeom prst="rect">
            <a:avLst/>
          </a:prstGeom>
          <a:noFill/>
          <a:ln/>
        </p:spPr>
        <p:txBody>
          <a:bodyPr wrap="square" lIns="0" tIns="0" rIns="0" bIns="0" rtlCol="0" anchor="ctr"/>
          <a:lstStyle/>
          <a:p>
            <a:pPr indent="0" marL="0">
              <a:buNone/>
            </a:pPr>
            <a:r>
              <a:rPr lang="en-US" sz="1800" b="1" dirty="0">
                <a:solidFill>
                  <a:srgbClr val="E8702A"/>
                </a:solidFill>
                <a:latin typeface="Cambria" pitchFamily="34" charset="0"/>
                <a:ea typeface="Cambria" pitchFamily="34" charset="-122"/>
                <a:cs typeface="Cambria" pitchFamily="34" charset="-120"/>
              </a:rPr>
              <a:t>Artemis IV</a:t>
            </a:r>
            <a:endParaRPr lang="en-US" sz="1800" dirty="0"/>
          </a:p>
        </p:txBody>
      </p:sp>
      <p:sp>
        <p:nvSpPr>
          <p:cNvPr id="16" name="Text 13"/>
          <p:cNvSpPr txBox="1"/>
          <p:nvPr/>
        </p:nvSpPr>
        <p:spPr>
          <a:xfrm>
            <a:off x="5074920" y="5074920"/>
            <a:ext cx="6400800" cy="365760"/>
          </a:xfrm>
          <a:prstGeom prst="rect">
            <a:avLst/>
          </a:prstGeom>
          <a:noFill/>
          <a:ln/>
        </p:spPr>
        <p:txBody>
          <a:bodyPr wrap="square" lIns="0" tIns="0" rIns="0" bIns="0" rtlCol="0" anchor="ctr"/>
          <a:lstStyle/>
          <a:p>
            <a:pPr indent="0" marL="0">
              <a:buNone/>
            </a:pPr>
            <a:r>
              <a:rPr lang="en-US" sz="1500" dirty="0">
                <a:solidFill>
                  <a:srgbClr val="1B1B1F"/>
                </a:solidFill>
              </a:rPr>
              <a:t>Debut del SLS Block 1B (etapa EUS) + módulo I-Hab para Gateway</a:t>
            </a:r>
            <a:endParaRPr lang="en-US" sz="1500" dirty="0"/>
          </a:p>
        </p:txBody>
      </p:sp>
      <p:sp>
        <p:nvSpPr>
          <p:cNvPr id="17" name="Text 14"/>
          <p:cNvSpPr txBox="1"/>
          <p:nvPr/>
        </p:nvSpPr>
        <p:spPr>
          <a:xfrm>
            <a:off x="4846320" y="5760720"/>
            <a:ext cx="6766560" cy="548640"/>
          </a:xfrm>
          <a:prstGeom prst="rect">
            <a:avLst/>
          </a:prstGeom>
          <a:noFill/>
          <a:ln/>
        </p:spPr>
        <p:txBody>
          <a:bodyPr wrap="square" lIns="0" tIns="0" rIns="0" bIns="0" rtlCol="0" anchor="ctr"/>
          <a:lstStyle/>
          <a:p>
            <a:pPr indent="0" marL="0">
              <a:buNone/>
            </a:pPr>
            <a:r>
              <a:rPr lang="en-US" sz="1400" i="1" dirty="0">
                <a:solidFill>
                  <a:srgbClr val="52514E"/>
                </a:solidFill>
              </a:rPr>
              <a:t>A diferencia de Apolo, Artemis encadena varios regímenes orbitales: LEO → TLI → NRHO (Gateway) → descenso con el HLS.</a:t>
            </a:r>
            <a:endParaRPr lang="en-US" sz="140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000" b="1" dirty="0">
                <a:solidFill>
                  <a:srgbClr val="0B1D3A"/>
                </a:solidFill>
                <a:latin typeface="Cambria" pitchFamily="34" charset="0"/>
                <a:ea typeface="Cambria" pitchFamily="34" charset="-122"/>
                <a:cs typeface="Cambria" pitchFamily="34" charset="-120"/>
              </a:rPr>
              <a:t>El vehículo: SLS Block 1B</a:t>
            </a:r>
            <a:endParaRPr lang="en-US" sz="3000" dirty="0"/>
          </a:p>
        </p:txBody>
      </p:sp>
      <p:pic>
        <p:nvPicPr>
          <p:cNvPr id="3" name="Image 0" descr="/home/mayday3003/Documents/githubrepos/ArtemisIV-flight-dynamics/docs/presentation/assets/nasa_sls_exploded.jpg">    </p:cNvPr>
          <p:cNvPicPr>
            <a:picLocks noChangeAspect="1"/>
          </p:cNvPicPr>
          <p:nvPr/>
        </p:nvPicPr>
        <p:blipFill>
          <a:blip r:embed="rId1"/>
          <a:stretch>
            <a:fillRect/>
          </a:stretch>
        </p:blipFill>
        <p:spPr>
          <a:xfrm>
            <a:off x="548640" y="1195730"/>
            <a:ext cx="5120640" cy="3140659"/>
          </a:xfrm>
          <a:prstGeom prst="rect">
            <a:avLst/>
          </a:prstGeom>
        </p:spPr>
      </p:pic>
      <p:sp>
        <p:nvSpPr>
          <p:cNvPr id="4" name="Text 1"/>
          <p:cNvSpPr txBox="1"/>
          <p:nvPr/>
        </p:nvSpPr>
        <p:spPr>
          <a:xfrm>
            <a:off x="548640" y="4389120"/>
            <a:ext cx="5120640" cy="228600"/>
          </a:xfrm>
          <a:prstGeom prst="rect">
            <a:avLst/>
          </a:prstGeom>
          <a:noFill/>
          <a:ln/>
        </p:spPr>
        <p:txBody>
          <a:bodyPr wrap="square" lIns="0" tIns="0" rIns="0" bIns="0" rtlCol="0" anchor="ctr"/>
          <a:lstStyle/>
          <a:p>
            <a:pPr indent="0" marL="0">
              <a:buNone/>
            </a:pPr>
            <a:r>
              <a:rPr lang="en-US" sz="1000" i="1" dirty="0">
                <a:solidFill>
                  <a:srgbClr val="52514E"/>
                </a:solidFill>
              </a:rPr>
              <a:t>Imagen: NASA, SLS Fact Sheet (2023)</a:t>
            </a:r>
            <a:endParaRPr lang="en-US" sz="1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989320" y="1280160"/>
          <a:ext cx="5623560" cy="914400"/>
        </p:xfrm>
        <a:graphic>
          <a:graphicData uri="http://schemas.openxmlformats.org/drawingml/2006/table">
            <a:tbl>
              <a:tblPr/>
              <a:tblGrid>
                <a:gridCol w="2057400"/>
                <a:gridCol w="1417320"/>
                <a:gridCol w="1234440"/>
                <a:gridCol w="914400"/>
              </a:tblGrid>
              <a:tr h="384048">
                <a:tc>
                  <a:txBody>
                    <a:bodyPr/>
                    <a:lstStyle/>
                    <a:p>
                      <a:pPr indent="0" marL="0">
                        <a:buNone/>
                      </a:pPr>
                      <a:r>
                        <a:rPr lang="en-US" sz="1300" b="1" dirty="0">
                          <a:solidFill>
                            <a:srgbClr val="FFFFFF"/>
                          </a:solidFill>
                        </a:rPr>
                        <a:t>Componente</a:t>
                      </a:r>
                      <a:endParaRPr lang="en-US" sz="1300" dirty="0"/>
                    </a:p>
                  </a:txBody>
                  <a:tcPr marL="54864" marR="54864" marT="54864" marB="54864"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0B1D3A"/>
                    </a:solidFill>
                  </a:tcPr>
                </a:tc>
                <a:tc>
                  <a:txBody>
                    <a:bodyPr/>
                    <a:lstStyle/>
                    <a:p>
                      <a:pPr indent="0" marL="0">
                        <a:buNone/>
                      </a:pPr>
                      <a:r>
                        <a:rPr lang="en-US" sz="1300" b="1" dirty="0">
                          <a:solidFill>
                            <a:srgbClr val="FFFFFF"/>
                          </a:solidFill>
                        </a:rPr>
                        <a:t>Masa seca / prop.</a:t>
                      </a:r>
                      <a:endParaRPr lang="en-US" sz="1300" dirty="0"/>
                    </a:p>
                  </a:txBody>
                  <a:tcPr marL="54864" marR="54864" marT="54864" marB="54864"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0B1D3A"/>
                    </a:solidFill>
                  </a:tcPr>
                </a:tc>
                <a:tc>
                  <a:txBody>
                    <a:bodyPr/>
                    <a:lstStyle/>
                    <a:p>
                      <a:pPr indent="0" marL="0">
                        <a:buNone/>
                      </a:pPr>
                      <a:r>
                        <a:rPr lang="en-US" sz="1300" b="1" dirty="0">
                          <a:solidFill>
                            <a:srgbClr val="FFFFFF"/>
                          </a:solidFill>
                        </a:rPr>
                        <a:t>Empuje (vacío)</a:t>
                      </a:r>
                      <a:endParaRPr lang="en-US" sz="1300" dirty="0"/>
                    </a:p>
                  </a:txBody>
                  <a:tcPr marL="54864" marR="54864" marT="54864" marB="54864"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0B1D3A"/>
                    </a:solidFill>
                  </a:tcPr>
                </a:tc>
                <a:tc>
                  <a:txBody>
                    <a:bodyPr/>
                    <a:lstStyle/>
                    <a:p>
                      <a:pPr indent="0" marL="0">
                        <a:buNone/>
                      </a:pPr>
                      <a:r>
                        <a:rPr lang="en-US" sz="1300" b="1" dirty="0">
                          <a:solidFill>
                            <a:srgbClr val="FFFFFF"/>
                          </a:solidFill>
                        </a:rPr>
                        <a:t>Isp</a:t>
                      </a:r>
                      <a:endParaRPr lang="en-US" sz="1300" dirty="0"/>
                    </a:p>
                  </a:txBody>
                  <a:tcPr marL="54864" marR="54864" marT="54864" marB="54864"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0B1D3A"/>
                    </a:solidFill>
                  </a:tcPr>
                </a:tc>
              </a:tr>
              <a:tr h="384048">
                <a:tc>
                  <a:txBody>
                    <a:bodyPr/>
                    <a:lstStyle/>
                    <a:p>
                      <a:pPr indent="0" marL="0">
                        <a:buNone/>
                      </a:pPr>
                      <a:r>
                        <a:rPr lang="en-US" sz="1300" dirty="0">
                          <a:solidFill>
                            <a:srgbClr val="1B1B1F"/>
                          </a:solidFill>
                        </a:rPr>
                        <a:t>Core Stage (4× RS-25)</a:t>
                      </a:r>
                      <a:endParaRPr lang="en-US" sz="1300" dirty="0"/>
                    </a:p>
                  </a:txBody>
                  <a:tcPr marL="54864" marR="54864" marT="54864" marB="54864"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300" dirty="0">
                          <a:solidFill>
                            <a:srgbClr val="1B1B1F"/>
                          </a:solidFill>
                        </a:rPr>
                        <a:t>85.3 / 987.5 t</a:t>
                      </a:r>
                      <a:endParaRPr lang="en-US" sz="1300" dirty="0"/>
                    </a:p>
                  </a:txBody>
                  <a:tcPr marL="54864" marR="54864" marT="54864" marB="54864"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300" dirty="0">
                          <a:solidFill>
                            <a:srgbClr val="1B1B1F"/>
                          </a:solidFill>
                        </a:rPr>
                        <a:t>9.12 MN</a:t>
                      </a:r>
                      <a:endParaRPr lang="en-US" sz="1300" dirty="0"/>
                    </a:p>
                  </a:txBody>
                  <a:tcPr marL="54864" marR="54864" marT="54864" marB="54864"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300" dirty="0">
                          <a:solidFill>
                            <a:srgbClr val="1B1B1F"/>
                          </a:solidFill>
                        </a:rPr>
                        <a:t>452.3 s</a:t>
                      </a:r>
                      <a:endParaRPr lang="en-US" sz="1300" dirty="0"/>
                    </a:p>
                  </a:txBody>
                  <a:tcPr marL="54864" marR="54864" marT="54864" marB="54864"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B1B1F"/>
                          </a:solidFill>
                        </a:rPr>
                        <a:t>2× SRB 5 segmentos</a:t>
                      </a:r>
                      <a:endParaRPr lang="en-US" sz="1300" dirty="0"/>
                    </a:p>
                  </a:txBody>
                  <a:tcPr marL="54864" marR="54864" marT="54864" marB="54864"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EEF2F7"/>
                    </a:solidFill>
                  </a:tcPr>
                </a:tc>
                <a:tc>
                  <a:txBody>
                    <a:bodyPr/>
                    <a:lstStyle/>
                    <a:p>
                      <a:pPr indent="0" marL="0">
                        <a:buNone/>
                      </a:pPr>
                      <a:r>
                        <a:rPr lang="en-US" sz="1300" dirty="0">
                          <a:solidFill>
                            <a:srgbClr val="1B1B1F"/>
                          </a:solidFill>
                        </a:rPr>
                        <a:t>199.6 / 1 257.4 t</a:t>
                      </a:r>
                      <a:endParaRPr lang="en-US" sz="1300" dirty="0"/>
                    </a:p>
                  </a:txBody>
                  <a:tcPr marL="54864" marR="54864" marT="54864" marB="54864"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EEF2F7"/>
                    </a:solidFill>
                  </a:tcPr>
                </a:tc>
                <a:tc>
                  <a:txBody>
                    <a:bodyPr/>
                    <a:lstStyle/>
                    <a:p>
                      <a:pPr indent="0" marL="0">
                        <a:buNone/>
                      </a:pPr>
                      <a:r>
                        <a:rPr lang="en-US" sz="1300" dirty="0">
                          <a:solidFill>
                            <a:srgbClr val="1B1B1F"/>
                          </a:solidFill>
                        </a:rPr>
                        <a:t>32.0 MN (pico)</a:t>
                      </a:r>
                      <a:endParaRPr lang="en-US" sz="1300" dirty="0"/>
                    </a:p>
                  </a:txBody>
                  <a:tcPr marL="54864" marR="54864" marT="54864" marB="54864"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EEF2F7"/>
                    </a:solidFill>
                  </a:tcPr>
                </a:tc>
                <a:tc>
                  <a:txBody>
                    <a:bodyPr/>
                    <a:lstStyle/>
                    <a:p>
                      <a:pPr indent="0" marL="0">
                        <a:buNone/>
                      </a:pPr>
                      <a:r>
                        <a:rPr lang="en-US" sz="1300" dirty="0">
                          <a:solidFill>
                            <a:srgbClr val="1B1B1F"/>
                          </a:solidFill>
                        </a:rPr>
                        <a:t>268 s</a:t>
                      </a:r>
                      <a:endParaRPr lang="en-US" sz="1300" dirty="0"/>
                    </a:p>
                  </a:txBody>
                  <a:tcPr marL="54864" marR="54864" marT="54864" marB="54864"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EEF2F7"/>
                    </a:solidFill>
                  </a:tcPr>
                </a:tc>
              </a:tr>
              <a:tr h="384048">
                <a:tc>
                  <a:txBody>
                    <a:bodyPr/>
                    <a:lstStyle/>
                    <a:p>
                      <a:pPr indent="0" marL="0">
                        <a:buNone/>
                      </a:pPr>
                      <a:r>
                        <a:rPr lang="en-US" sz="1300" dirty="0">
                          <a:solidFill>
                            <a:srgbClr val="1B1B1F"/>
                          </a:solidFill>
                        </a:rPr>
                        <a:t>EUS (4× RL10C-3)</a:t>
                      </a:r>
                      <a:endParaRPr lang="en-US" sz="1300" dirty="0"/>
                    </a:p>
                  </a:txBody>
                  <a:tcPr marL="54864" marR="54864" marT="54864" marB="54864"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300" dirty="0">
                          <a:solidFill>
                            <a:srgbClr val="1B1B1F"/>
                          </a:solidFill>
                        </a:rPr>
                        <a:t>13.6 / 129.0 t</a:t>
                      </a:r>
                      <a:endParaRPr lang="en-US" sz="1300" dirty="0"/>
                    </a:p>
                  </a:txBody>
                  <a:tcPr marL="54864" marR="54864" marT="54864" marB="54864"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300" dirty="0">
                          <a:solidFill>
                            <a:srgbClr val="1B1B1F"/>
                          </a:solidFill>
                        </a:rPr>
                        <a:t>0.43 MN</a:t>
                      </a:r>
                      <a:endParaRPr lang="en-US" sz="1300" dirty="0"/>
                    </a:p>
                  </a:txBody>
                  <a:tcPr marL="54864" marR="54864" marT="54864" marB="54864"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300" dirty="0">
                          <a:solidFill>
                            <a:srgbClr val="1B1B1F"/>
                          </a:solidFill>
                        </a:rPr>
                        <a:t>448.5 s</a:t>
                      </a:r>
                      <a:endParaRPr lang="en-US" sz="1300" dirty="0"/>
                    </a:p>
                  </a:txBody>
                  <a:tcPr marL="54864" marR="54864" marT="54864" marB="54864"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B1B1F"/>
                          </a:solidFill>
                        </a:rPr>
                        <a:t>Carga útil (Orion + I-Hab)</a:t>
                      </a:r>
                      <a:endParaRPr lang="en-US" sz="1300" dirty="0"/>
                    </a:p>
                  </a:txBody>
                  <a:tcPr marL="54864" marR="54864" marT="54864" marB="54864"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EEF2F7"/>
                    </a:solidFill>
                  </a:tcPr>
                </a:tc>
                <a:tc>
                  <a:txBody>
                    <a:bodyPr/>
                    <a:lstStyle/>
                    <a:p>
                      <a:pPr indent="0" marL="0">
                        <a:buNone/>
                      </a:pPr>
                      <a:r>
                        <a:rPr lang="en-US" sz="1300" dirty="0">
                          <a:solidFill>
                            <a:srgbClr val="1B1B1F"/>
                          </a:solidFill>
                        </a:rPr>
                        <a:t>37.4 t</a:t>
                      </a:r>
                      <a:endParaRPr lang="en-US" sz="1300" dirty="0"/>
                    </a:p>
                  </a:txBody>
                  <a:tcPr marL="54864" marR="54864" marT="54864" marB="54864"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EEF2F7"/>
                    </a:solidFill>
                  </a:tcPr>
                </a:tc>
                <a:tc>
                  <a:txBody>
                    <a:bodyPr/>
                    <a:lstStyle/>
                    <a:p>
                      <a:pPr indent="0" marL="0">
                        <a:buNone/>
                      </a:pPr>
                      <a:r>
                        <a:rPr lang="en-US" sz="1300" dirty="0">
                          <a:solidFill>
                            <a:srgbClr val="1B1B1F"/>
                          </a:solidFill>
                        </a:rPr>
                        <a:t>—</a:t>
                      </a:r>
                      <a:endParaRPr lang="en-US" sz="1300" dirty="0"/>
                    </a:p>
                  </a:txBody>
                  <a:tcPr marL="54864" marR="54864" marT="54864" marB="54864"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EEF2F7"/>
                    </a:solidFill>
                  </a:tcPr>
                </a:tc>
                <a:tc>
                  <a:txBody>
                    <a:bodyPr/>
                    <a:lstStyle/>
                    <a:p>
                      <a:pPr indent="0" marL="0">
                        <a:buNone/>
                      </a:pPr>
                      <a:r>
                        <a:rPr lang="en-US" sz="1300" dirty="0">
                          <a:solidFill>
                            <a:srgbClr val="1B1B1F"/>
                          </a:solidFill>
                        </a:rPr>
                        <a:t>—</a:t>
                      </a:r>
                      <a:endParaRPr lang="en-US" sz="1300" dirty="0"/>
                    </a:p>
                  </a:txBody>
                  <a:tcPr marL="54864" marR="54864" marT="54864" marB="54864"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EEF2F7"/>
                    </a:solidFill>
                  </a:tcPr>
                </a:tc>
              </a:tr>
              <a:tr h="384048">
                <a:tc>
                  <a:txBody>
                    <a:bodyPr/>
                    <a:lstStyle/>
                    <a:p>
                      <a:pPr indent="0" marL="0">
                        <a:buNone/>
                      </a:pPr>
                      <a:r>
                        <a:rPr lang="en-US" sz="1300" b="1" dirty="0">
                          <a:solidFill>
                            <a:srgbClr val="1B1B1F"/>
                          </a:solidFill>
                        </a:rPr>
                        <a:t>Masa al despegue</a:t>
                      </a:r>
                      <a:endParaRPr lang="en-US" sz="1300" dirty="0"/>
                    </a:p>
                  </a:txBody>
                  <a:tcPr marL="54864" marR="54864" marT="54864" marB="54864"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300" b="1" dirty="0">
                          <a:solidFill>
                            <a:srgbClr val="1B1B1F"/>
                          </a:solidFill>
                        </a:rPr>
                        <a:t>2 710 t</a:t>
                      </a:r>
                      <a:endParaRPr lang="en-US" sz="1300" dirty="0"/>
                    </a:p>
                  </a:txBody>
                  <a:tcPr marL="54864" marR="54864" marT="54864" marB="54864"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300" b="1" dirty="0">
                          <a:solidFill>
                            <a:srgbClr val="1B1B1F"/>
                          </a:solidFill>
                        </a:rPr>
                        <a:t>T/W ≈ 1.41</a:t>
                      </a:r>
                      <a:endParaRPr lang="en-US" sz="1300" dirty="0"/>
                    </a:p>
                  </a:txBody>
                  <a:tcPr marL="54864" marR="54864" marT="54864" marB="54864"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endParaRPr lang="en-US" sz="1300" dirty="0"/>
                    </a:p>
                  </a:txBody>
                  <a:tcPr marL="54864" marR="54864" marT="54864" marB="54864"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bl>
          </a:graphicData>
        </a:graphic>
      </p:graphicFrame>
      <p:sp>
        <p:nvSpPr>
          <p:cNvPr id="6" name="Shape 2"/>
          <p:cNvSpPr/>
          <p:nvPr/>
        </p:nvSpPr>
        <p:spPr>
          <a:xfrm>
            <a:off x="5989320" y="3886200"/>
            <a:ext cx="5623560" cy="694944"/>
          </a:xfrm>
          <a:prstGeom prst="roundRect">
            <a:avLst>
              <a:gd name="adj" fmla="val 10526"/>
            </a:avLst>
          </a:prstGeom>
          <a:solidFill>
            <a:srgbClr val="F1F3F6"/>
          </a:solidFill>
          <a:ln w="9525">
            <a:solidFill>
              <a:srgbClr val="D5DAE1"/>
            </a:solidFill>
            <a:prstDash val="solid"/>
          </a:ln>
        </p:spPr>
      </p:sp>
      <p:sp>
        <p:nvSpPr>
          <p:cNvPr id="7" name="Text 3"/>
          <p:cNvSpPr txBox="1"/>
          <p:nvPr/>
        </p:nvSpPr>
        <p:spPr>
          <a:xfrm>
            <a:off x="6099048" y="3886200"/>
            <a:ext cx="5404104" cy="694944"/>
          </a:xfrm>
          <a:prstGeom prst="rect">
            <a:avLst/>
          </a:prstGeom>
          <a:noFill/>
          <a:ln/>
        </p:spPr>
        <p:txBody>
          <a:bodyPr wrap="square" lIns="0" tIns="0" rIns="0" bIns="0" rtlCol="0" anchor="ctr"/>
          <a:lstStyle/>
          <a:p>
            <a:pPr indent="0" marL="0">
              <a:buNone/>
            </a:pPr>
            <a:r>
              <a:rPr lang="en-US" sz="1150" dirty="0">
                <a:solidFill>
                  <a:srgbClr val="52514E"/>
                </a:solidFill>
                <a:latin typeface="Courier New" pitchFamily="34" charset="0"/>
                <a:ea typeface="Courier New" pitchFamily="34" charset="-122"/>
                <a:cs typeface="Courier New" pitchFamily="34" charset="-120"/>
              </a:rPr>
              <a:t>src/artemis_sim/constants.py</a:t>
            </a:r>
            <a:endParaRPr lang="en-US" sz="1150" dirty="0"/>
          </a:p>
          <a:p>
            <a:pPr indent="0" marL="0">
              <a:buNone/>
            </a:pPr>
            <a:r>
              <a:rPr lang="en-US" sz="1150" b="1" dirty="0">
                <a:solidFill>
                  <a:srgbClr val="0B1D3A"/>
                </a:solidFill>
                <a:latin typeface="Courier New" pitchFamily="34" charset="0"/>
                <a:ea typeface="Courier New" pitchFamily="34" charset="-122"/>
                <a:cs typeface="Courier New" pitchFamily="34" charset="-120"/>
              </a:rPr>
              <a:t>SLS_B1B_CORE_STAGE · SLS_B1B_SRB_PAIR · SLS_B1B_EUS · StageSpec</a:t>
            </a:r>
            <a:endParaRPr lang="en-US" sz="1150" dirty="0"/>
          </a:p>
        </p:txBody>
      </p:sp>
      <p:sp>
        <p:nvSpPr>
          <p:cNvPr id="8" name="Text 4"/>
          <p:cNvSpPr txBox="1"/>
          <p:nvPr/>
        </p:nvSpPr>
        <p:spPr>
          <a:xfrm>
            <a:off x="548640" y="4800600"/>
            <a:ext cx="10972800" cy="1280160"/>
          </a:xfrm>
          <a:prstGeom prst="rect">
            <a:avLst/>
          </a:prstGeom>
          <a:noFill/>
          <a:ln/>
        </p:spPr>
        <p:txBody>
          <a:bodyPr wrap="square" lIns="0" tIns="0" rIns="0" bIns="0" rtlCol="0" anchor="t"/>
          <a:lstStyle/>
          <a:p>
            <a:pPr marL="342900" indent="-342900">
              <a:spcAft>
                <a:spcPts val="800"/>
              </a:spcAft>
              <a:buSzPct val="100000"/>
              <a:buChar char="•"/>
            </a:pPr>
            <a:r>
              <a:rPr lang="en-US" sz="1500" b="1" dirty="0">
                <a:solidFill>
                  <a:srgbClr val="1B1B1F"/>
                </a:solidFill>
              </a:rPr>
              <a:t>Etapa central + 2 SRB: </a:t>
            </a:r>
            <a:pPr indent="0" marL="0">
              <a:spcAft>
                <a:spcPts val="800"/>
              </a:spcAft>
              <a:buNone/>
            </a:pPr>
            <a:r>
              <a:rPr lang="en-US" sz="1500" dirty="0">
                <a:solidFill>
                  <a:srgbClr val="1B1B1F"/>
                </a:solidFill>
              </a:rPr>
              <a:t>llevan el vehículo fuera de la atmósfera</a:t>
            </a:r>
            <a:endParaRPr lang="en-US" sz="1500" dirty="0"/>
          </a:p>
          <a:p>
            <a:pPr marL="342900" indent="-342900">
              <a:spcAft>
                <a:spcPts val="800"/>
              </a:spcAft>
              <a:buSzPct val="100000"/>
              <a:buChar char="•"/>
            </a:pPr>
            <a:r>
              <a:rPr lang="en-US" sz="1500" b="1" dirty="0">
                <a:solidFill>
                  <a:srgbClr val="1B1B1F"/>
                </a:solidFill>
              </a:rPr>
              <a:t>EUS: </a:t>
            </a:r>
            <a:pPr indent="0" marL="0">
              <a:spcAft>
                <a:spcPts val="800"/>
              </a:spcAft>
              <a:buNone/>
            </a:pPr>
            <a:r>
              <a:rPr lang="en-US" sz="1500" dirty="0">
                <a:solidFill>
                  <a:srgbClr val="1B1B1F"/>
                </a:solidFill>
              </a:rPr>
              <a:t>inserción en órbita de aparcamiento y maniobra TLI</a:t>
            </a:r>
            <a:endParaRPr lang="en-US" sz="1500" dirty="0"/>
          </a:p>
          <a:p>
            <a:pPr marL="342900" indent="-342900">
              <a:spcAft>
                <a:spcPts val="800"/>
              </a:spcAft>
              <a:buSzPct val="100000"/>
              <a:buChar char="•"/>
            </a:pPr>
            <a:r>
              <a:rPr lang="en-US" sz="1500" b="1" dirty="0">
                <a:solidFill>
                  <a:srgbClr val="1B1B1F"/>
                </a:solidFill>
              </a:rPr>
              <a:t>Datos públicos NASA / fabricantes; </a:t>
            </a:r>
            <a:pPr indent="0" marL="0">
              <a:spcAft>
                <a:spcPts val="800"/>
              </a:spcAft>
              <a:buNone/>
            </a:pPr>
            <a:r>
              <a:rPr lang="en-US" sz="1500" dirty="0">
                <a:solidFill>
                  <a:srgbClr val="1B1B1F"/>
                </a:solidFill>
              </a:rPr>
              <a:t>los de la EUS siguen pendientes de confirmación</a:t>
            </a:r>
            <a:endParaRPr lang="en-US" sz="150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000" b="1" dirty="0">
                <a:solidFill>
                  <a:srgbClr val="0B1D3A"/>
                </a:solidFill>
                <a:latin typeface="Cambria" pitchFamily="34" charset="0"/>
                <a:ea typeface="Cambria" pitchFamily="34" charset="-122"/>
                <a:cs typeface="Cambria" pitchFamily="34" charset="-120"/>
              </a:rPr>
              <a:t>Perfil de misión y alcance del proyecto</a:t>
            </a:r>
            <a:endParaRPr lang="en-US" sz="3000" dirty="0"/>
          </a:p>
        </p:txBody>
      </p:sp>
      <p:sp>
        <p:nvSpPr>
          <p:cNvPr id="3" name="Shape 1"/>
          <p:cNvSpPr/>
          <p:nvPr/>
        </p:nvSpPr>
        <p:spPr>
          <a:xfrm>
            <a:off x="548640" y="1645920"/>
            <a:ext cx="2057400" cy="1920240"/>
          </a:xfrm>
          <a:prstGeom prst="roundRect">
            <a:avLst>
              <a:gd name="adj" fmla="val 4762"/>
            </a:avLst>
          </a:prstGeom>
          <a:solidFill>
            <a:srgbClr val="0B1D3A"/>
          </a:solidFill>
          <a:ln w="15875">
            <a:solidFill>
              <a:srgbClr val="0B1D3A"/>
            </a:solidFill>
            <a:prstDash val="solid"/>
          </a:ln>
        </p:spPr>
      </p:sp>
      <p:sp>
        <p:nvSpPr>
          <p:cNvPr id="4" name="Text 2"/>
          <p:cNvSpPr txBox="1"/>
          <p:nvPr/>
        </p:nvSpPr>
        <p:spPr>
          <a:xfrm>
            <a:off x="548640" y="1755648"/>
            <a:ext cx="2057400" cy="548640"/>
          </a:xfrm>
          <a:prstGeom prst="rect">
            <a:avLst/>
          </a:prstGeom>
          <a:noFill/>
          <a:ln/>
        </p:spPr>
        <p:txBody>
          <a:bodyPr wrap="square" lIns="0" tIns="0" rIns="0" bIns="0" rtlCol="0" anchor="ctr"/>
          <a:lstStyle/>
          <a:p>
            <a:pPr algn="ctr" indent="0" marL="0">
              <a:buNone/>
            </a:pPr>
            <a:r>
              <a:rPr lang="en-US" sz="3000" b="1" dirty="0">
                <a:solidFill>
                  <a:srgbClr val="E8702A"/>
                </a:solidFill>
                <a:latin typeface="Cambria" pitchFamily="34" charset="0"/>
                <a:ea typeface="Cambria" pitchFamily="34" charset="-122"/>
                <a:cs typeface="Cambria" pitchFamily="34" charset="-120"/>
              </a:rPr>
              <a:t>1</a:t>
            </a:r>
            <a:endParaRPr lang="en-US" sz="3000" dirty="0"/>
          </a:p>
        </p:txBody>
      </p:sp>
      <p:sp>
        <p:nvSpPr>
          <p:cNvPr id="5" name="Text 3"/>
          <p:cNvSpPr txBox="1"/>
          <p:nvPr/>
        </p:nvSpPr>
        <p:spPr>
          <a:xfrm>
            <a:off x="640080" y="2377440"/>
            <a:ext cx="1874520" cy="502920"/>
          </a:xfrm>
          <a:prstGeom prst="rect">
            <a:avLst/>
          </a:prstGeom>
          <a:noFill/>
          <a:ln/>
        </p:spPr>
        <p:txBody>
          <a:bodyPr wrap="square" lIns="0" tIns="0" rIns="0" bIns="0" rtlCol="0" anchor="ctr"/>
          <a:lstStyle/>
          <a:p>
            <a:pPr algn="ctr" indent="0" marL="0">
              <a:buNone/>
            </a:pPr>
            <a:r>
              <a:rPr lang="en-US" sz="1700" b="1" dirty="0">
                <a:solidFill>
                  <a:srgbClr val="FFFFFF"/>
                </a:solidFill>
              </a:rPr>
              <a:t>Ascenso</a:t>
            </a:r>
            <a:endParaRPr lang="en-US" sz="1700" dirty="0"/>
          </a:p>
        </p:txBody>
      </p:sp>
      <p:sp>
        <p:nvSpPr>
          <p:cNvPr id="6" name="Text 4"/>
          <p:cNvSpPr txBox="1"/>
          <p:nvPr/>
        </p:nvSpPr>
        <p:spPr>
          <a:xfrm>
            <a:off x="640080" y="2880360"/>
            <a:ext cx="1874520" cy="548640"/>
          </a:xfrm>
          <a:prstGeom prst="rect">
            <a:avLst/>
          </a:prstGeom>
          <a:noFill/>
          <a:ln/>
        </p:spPr>
        <p:txBody>
          <a:bodyPr wrap="square" lIns="0" tIns="0" rIns="0" bIns="0" rtlCol="0" anchor="ctr"/>
          <a:lstStyle/>
          <a:p>
            <a:pPr algn="ctr" indent="0" marL="0">
              <a:buNone/>
            </a:pPr>
            <a:r>
              <a:rPr lang="en-US" sz="1300" dirty="0">
                <a:solidFill>
                  <a:srgbClr val="CADCFC"/>
                </a:solidFill>
              </a:rPr>
              <a:t>Despegue LC-39B → MECO</a:t>
            </a:r>
            <a:endParaRPr lang="en-US" sz="1300" dirty="0"/>
          </a:p>
        </p:txBody>
      </p:sp>
      <p:sp>
        <p:nvSpPr>
          <p:cNvPr id="7" name="Text 5"/>
          <p:cNvSpPr txBox="1"/>
          <p:nvPr/>
        </p:nvSpPr>
        <p:spPr>
          <a:xfrm>
            <a:off x="2587752" y="2331720"/>
            <a:ext cx="201168" cy="457200"/>
          </a:xfrm>
          <a:prstGeom prst="rect">
            <a:avLst/>
          </a:prstGeom>
          <a:noFill/>
          <a:ln/>
        </p:spPr>
        <p:txBody>
          <a:bodyPr wrap="square" lIns="0" tIns="0" rIns="0" bIns="0" rtlCol="0" anchor="ctr"/>
          <a:lstStyle/>
          <a:p>
            <a:pPr algn="ctr" indent="0" marL="0">
              <a:buNone/>
            </a:pPr>
            <a:r>
              <a:rPr lang="en-US" sz="2200" b="1" dirty="0">
                <a:solidFill>
                  <a:srgbClr val="E8702A"/>
                </a:solidFill>
              </a:rPr>
              <a:t>›</a:t>
            </a:r>
            <a:endParaRPr lang="en-US" sz="2200" dirty="0"/>
          </a:p>
        </p:txBody>
      </p:sp>
      <p:sp>
        <p:nvSpPr>
          <p:cNvPr id="8" name="Shape 6"/>
          <p:cNvSpPr/>
          <p:nvPr/>
        </p:nvSpPr>
        <p:spPr>
          <a:xfrm>
            <a:off x="2770632" y="1645920"/>
            <a:ext cx="2057400" cy="1920240"/>
          </a:xfrm>
          <a:prstGeom prst="roundRect">
            <a:avLst>
              <a:gd name="adj" fmla="val 4762"/>
            </a:avLst>
          </a:prstGeom>
          <a:solidFill>
            <a:srgbClr val="0B1D3A"/>
          </a:solidFill>
          <a:ln w="15875">
            <a:solidFill>
              <a:srgbClr val="0B1D3A"/>
            </a:solidFill>
            <a:prstDash val="solid"/>
          </a:ln>
        </p:spPr>
      </p:sp>
      <p:sp>
        <p:nvSpPr>
          <p:cNvPr id="9" name="Text 7"/>
          <p:cNvSpPr txBox="1"/>
          <p:nvPr/>
        </p:nvSpPr>
        <p:spPr>
          <a:xfrm>
            <a:off x="2770632" y="1755648"/>
            <a:ext cx="2057400" cy="548640"/>
          </a:xfrm>
          <a:prstGeom prst="rect">
            <a:avLst/>
          </a:prstGeom>
          <a:noFill/>
          <a:ln/>
        </p:spPr>
        <p:txBody>
          <a:bodyPr wrap="square" lIns="0" tIns="0" rIns="0" bIns="0" rtlCol="0" anchor="ctr"/>
          <a:lstStyle/>
          <a:p>
            <a:pPr algn="ctr" indent="0" marL="0">
              <a:buNone/>
            </a:pPr>
            <a:r>
              <a:rPr lang="en-US" sz="3000" b="1" dirty="0">
                <a:solidFill>
                  <a:srgbClr val="E8702A"/>
                </a:solidFill>
                <a:latin typeface="Cambria" pitchFamily="34" charset="0"/>
                <a:ea typeface="Cambria" pitchFamily="34" charset="-122"/>
                <a:cs typeface="Cambria" pitchFamily="34" charset="-120"/>
              </a:rPr>
              <a:t>2</a:t>
            </a:r>
            <a:endParaRPr lang="en-US" sz="3000" dirty="0"/>
          </a:p>
        </p:txBody>
      </p:sp>
      <p:sp>
        <p:nvSpPr>
          <p:cNvPr id="10" name="Text 8"/>
          <p:cNvSpPr txBox="1"/>
          <p:nvPr/>
        </p:nvSpPr>
        <p:spPr>
          <a:xfrm>
            <a:off x="2862072" y="2377440"/>
            <a:ext cx="1874520" cy="502920"/>
          </a:xfrm>
          <a:prstGeom prst="rect">
            <a:avLst/>
          </a:prstGeom>
          <a:noFill/>
          <a:ln/>
        </p:spPr>
        <p:txBody>
          <a:bodyPr wrap="square" lIns="0" tIns="0" rIns="0" bIns="0" rtlCol="0" anchor="ctr"/>
          <a:lstStyle/>
          <a:p>
            <a:pPr algn="ctr" indent="0" marL="0">
              <a:buNone/>
            </a:pPr>
            <a:r>
              <a:rPr lang="en-US" sz="1700" b="1" dirty="0">
                <a:solidFill>
                  <a:srgbClr val="FFFFFF"/>
                </a:solidFill>
              </a:rPr>
              <a:t>Órbita de aparcamiento</a:t>
            </a:r>
            <a:endParaRPr lang="en-US" sz="1700" dirty="0"/>
          </a:p>
        </p:txBody>
      </p:sp>
      <p:sp>
        <p:nvSpPr>
          <p:cNvPr id="11" name="Text 9"/>
          <p:cNvSpPr txBox="1"/>
          <p:nvPr/>
        </p:nvSpPr>
        <p:spPr>
          <a:xfrm>
            <a:off x="2862072" y="2880360"/>
            <a:ext cx="1874520" cy="548640"/>
          </a:xfrm>
          <a:prstGeom prst="rect">
            <a:avLst/>
          </a:prstGeom>
          <a:noFill/>
          <a:ln/>
        </p:spPr>
        <p:txBody>
          <a:bodyPr wrap="square" lIns="0" tIns="0" rIns="0" bIns="0" rtlCol="0" anchor="ctr"/>
          <a:lstStyle/>
          <a:p>
            <a:pPr algn="ctr" indent="0" marL="0">
              <a:buNone/>
            </a:pPr>
            <a:r>
              <a:rPr lang="en-US" sz="1300" dirty="0">
                <a:solidFill>
                  <a:srgbClr val="CADCFC"/>
                </a:solidFill>
              </a:rPr>
              <a:t>Inserción con la EUS</a:t>
            </a:r>
            <a:endParaRPr lang="en-US" sz="1300" dirty="0"/>
          </a:p>
        </p:txBody>
      </p:sp>
      <p:sp>
        <p:nvSpPr>
          <p:cNvPr id="12" name="Text 10"/>
          <p:cNvSpPr txBox="1"/>
          <p:nvPr/>
        </p:nvSpPr>
        <p:spPr>
          <a:xfrm>
            <a:off x="4809744" y="2331720"/>
            <a:ext cx="201168" cy="457200"/>
          </a:xfrm>
          <a:prstGeom prst="rect">
            <a:avLst/>
          </a:prstGeom>
          <a:noFill/>
          <a:ln/>
        </p:spPr>
        <p:txBody>
          <a:bodyPr wrap="square" lIns="0" tIns="0" rIns="0" bIns="0" rtlCol="0" anchor="ctr"/>
          <a:lstStyle/>
          <a:p>
            <a:pPr algn="ctr" indent="0" marL="0">
              <a:buNone/>
            </a:pPr>
            <a:r>
              <a:rPr lang="en-US" sz="2200" b="1" dirty="0">
                <a:solidFill>
                  <a:srgbClr val="E8702A"/>
                </a:solidFill>
              </a:rPr>
              <a:t>›</a:t>
            </a:r>
            <a:endParaRPr lang="en-US" sz="2200" dirty="0"/>
          </a:p>
        </p:txBody>
      </p:sp>
      <p:sp>
        <p:nvSpPr>
          <p:cNvPr id="13" name="Shape 11"/>
          <p:cNvSpPr/>
          <p:nvPr/>
        </p:nvSpPr>
        <p:spPr>
          <a:xfrm>
            <a:off x="4992624" y="1645920"/>
            <a:ext cx="2057400" cy="1920240"/>
          </a:xfrm>
          <a:prstGeom prst="roundRect">
            <a:avLst>
              <a:gd name="adj" fmla="val 4762"/>
            </a:avLst>
          </a:prstGeom>
          <a:solidFill>
            <a:srgbClr val="0B1D3A"/>
          </a:solidFill>
          <a:ln w="15875">
            <a:solidFill>
              <a:srgbClr val="0B1D3A"/>
            </a:solidFill>
            <a:prstDash val="solid"/>
          </a:ln>
        </p:spPr>
      </p:sp>
      <p:sp>
        <p:nvSpPr>
          <p:cNvPr id="14" name="Text 12"/>
          <p:cNvSpPr txBox="1"/>
          <p:nvPr/>
        </p:nvSpPr>
        <p:spPr>
          <a:xfrm>
            <a:off x="4992624" y="1755648"/>
            <a:ext cx="2057400" cy="548640"/>
          </a:xfrm>
          <a:prstGeom prst="rect">
            <a:avLst/>
          </a:prstGeom>
          <a:noFill/>
          <a:ln/>
        </p:spPr>
        <p:txBody>
          <a:bodyPr wrap="square" lIns="0" tIns="0" rIns="0" bIns="0" rtlCol="0" anchor="ctr"/>
          <a:lstStyle/>
          <a:p>
            <a:pPr algn="ctr" indent="0" marL="0">
              <a:buNone/>
            </a:pPr>
            <a:r>
              <a:rPr lang="en-US" sz="3000" b="1" dirty="0">
                <a:solidFill>
                  <a:srgbClr val="E8702A"/>
                </a:solidFill>
                <a:latin typeface="Cambria" pitchFamily="34" charset="0"/>
                <a:ea typeface="Cambria" pitchFamily="34" charset="-122"/>
                <a:cs typeface="Cambria" pitchFamily="34" charset="-120"/>
              </a:rPr>
              <a:t>3</a:t>
            </a:r>
            <a:endParaRPr lang="en-US" sz="3000" dirty="0"/>
          </a:p>
        </p:txBody>
      </p:sp>
      <p:sp>
        <p:nvSpPr>
          <p:cNvPr id="15" name="Text 13"/>
          <p:cNvSpPr txBox="1"/>
          <p:nvPr/>
        </p:nvSpPr>
        <p:spPr>
          <a:xfrm>
            <a:off x="5084064" y="2377440"/>
            <a:ext cx="1874520" cy="502920"/>
          </a:xfrm>
          <a:prstGeom prst="rect">
            <a:avLst/>
          </a:prstGeom>
          <a:noFill/>
          <a:ln/>
        </p:spPr>
        <p:txBody>
          <a:bodyPr wrap="square" lIns="0" tIns="0" rIns="0" bIns="0" rtlCol="0" anchor="ctr"/>
          <a:lstStyle/>
          <a:p>
            <a:pPr algn="ctr" indent="0" marL="0">
              <a:buNone/>
            </a:pPr>
            <a:r>
              <a:rPr lang="en-US" sz="1700" b="1" dirty="0">
                <a:solidFill>
                  <a:srgbClr val="FFFFFF"/>
                </a:solidFill>
              </a:rPr>
              <a:t>TLI</a:t>
            </a:r>
            <a:endParaRPr lang="en-US" sz="1700" dirty="0"/>
          </a:p>
        </p:txBody>
      </p:sp>
      <p:sp>
        <p:nvSpPr>
          <p:cNvPr id="16" name="Text 14"/>
          <p:cNvSpPr txBox="1"/>
          <p:nvPr/>
        </p:nvSpPr>
        <p:spPr>
          <a:xfrm>
            <a:off x="5084064" y="2880360"/>
            <a:ext cx="1874520" cy="548640"/>
          </a:xfrm>
          <a:prstGeom prst="rect">
            <a:avLst/>
          </a:prstGeom>
          <a:noFill/>
          <a:ln/>
        </p:spPr>
        <p:txBody>
          <a:bodyPr wrap="square" lIns="0" tIns="0" rIns="0" bIns="0" rtlCol="0" anchor="ctr"/>
          <a:lstStyle/>
          <a:p>
            <a:pPr algn="ctr" indent="0" marL="0">
              <a:buNone/>
            </a:pPr>
            <a:r>
              <a:rPr lang="en-US" sz="1300" dirty="0">
                <a:solidFill>
                  <a:srgbClr val="CADCFC"/>
                </a:solidFill>
              </a:rPr>
              <a:t>Impulso hacia la Luna</a:t>
            </a:r>
            <a:endParaRPr lang="en-US" sz="1300" dirty="0"/>
          </a:p>
        </p:txBody>
      </p:sp>
      <p:sp>
        <p:nvSpPr>
          <p:cNvPr id="17" name="Text 15"/>
          <p:cNvSpPr txBox="1"/>
          <p:nvPr/>
        </p:nvSpPr>
        <p:spPr>
          <a:xfrm>
            <a:off x="7031736" y="2331720"/>
            <a:ext cx="201168" cy="457200"/>
          </a:xfrm>
          <a:prstGeom prst="rect">
            <a:avLst/>
          </a:prstGeom>
          <a:noFill/>
          <a:ln/>
        </p:spPr>
        <p:txBody>
          <a:bodyPr wrap="square" lIns="0" tIns="0" rIns="0" bIns="0" rtlCol="0" anchor="ctr"/>
          <a:lstStyle/>
          <a:p>
            <a:pPr algn="ctr" indent="0" marL="0">
              <a:buNone/>
            </a:pPr>
            <a:r>
              <a:rPr lang="en-US" sz="2200" b="1" dirty="0">
                <a:solidFill>
                  <a:srgbClr val="E8702A"/>
                </a:solidFill>
              </a:rPr>
              <a:t>›</a:t>
            </a:r>
            <a:endParaRPr lang="en-US" sz="2200" dirty="0"/>
          </a:p>
        </p:txBody>
      </p:sp>
      <p:sp>
        <p:nvSpPr>
          <p:cNvPr id="18" name="Shape 16"/>
          <p:cNvSpPr/>
          <p:nvPr/>
        </p:nvSpPr>
        <p:spPr>
          <a:xfrm>
            <a:off x="7214616" y="1645920"/>
            <a:ext cx="2057400" cy="1920240"/>
          </a:xfrm>
          <a:prstGeom prst="roundRect">
            <a:avLst>
              <a:gd name="adj" fmla="val 4762"/>
            </a:avLst>
          </a:prstGeom>
          <a:solidFill>
            <a:srgbClr val="FFFFFF"/>
          </a:solidFill>
          <a:ln w="15875">
            <a:solidFill>
              <a:srgbClr val="B8BEC8"/>
            </a:solidFill>
            <a:prstDash val="dash"/>
          </a:ln>
        </p:spPr>
      </p:sp>
      <p:sp>
        <p:nvSpPr>
          <p:cNvPr id="19" name="Text 17"/>
          <p:cNvSpPr txBox="1"/>
          <p:nvPr/>
        </p:nvSpPr>
        <p:spPr>
          <a:xfrm>
            <a:off x="7214616" y="1755648"/>
            <a:ext cx="2057400" cy="548640"/>
          </a:xfrm>
          <a:prstGeom prst="rect">
            <a:avLst/>
          </a:prstGeom>
          <a:noFill/>
          <a:ln/>
        </p:spPr>
        <p:txBody>
          <a:bodyPr wrap="square" lIns="0" tIns="0" rIns="0" bIns="0" rtlCol="0" anchor="ctr"/>
          <a:lstStyle/>
          <a:p>
            <a:pPr algn="ctr" indent="0" marL="0">
              <a:buNone/>
            </a:pPr>
            <a:r>
              <a:rPr lang="en-US" sz="3000" b="1" dirty="0">
                <a:solidFill>
                  <a:srgbClr val="B8BEC8"/>
                </a:solidFill>
                <a:latin typeface="Cambria" pitchFamily="34" charset="0"/>
                <a:ea typeface="Cambria" pitchFamily="34" charset="-122"/>
                <a:cs typeface="Cambria" pitchFamily="34" charset="-120"/>
              </a:rPr>
              <a:t>4</a:t>
            </a:r>
            <a:endParaRPr lang="en-US" sz="3000" dirty="0"/>
          </a:p>
        </p:txBody>
      </p:sp>
      <p:sp>
        <p:nvSpPr>
          <p:cNvPr id="20" name="Text 18"/>
          <p:cNvSpPr txBox="1"/>
          <p:nvPr/>
        </p:nvSpPr>
        <p:spPr>
          <a:xfrm>
            <a:off x="7306056" y="2377440"/>
            <a:ext cx="1874520" cy="502920"/>
          </a:xfrm>
          <a:prstGeom prst="rect">
            <a:avLst/>
          </a:prstGeom>
          <a:noFill/>
          <a:ln/>
        </p:spPr>
        <p:txBody>
          <a:bodyPr wrap="square" lIns="0" tIns="0" rIns="0" bIns="0" rtlCol="0" anchor="ctr"/>
          <a:lstStyle/>
          <a:p>
            <a:pPr algn="ctr" indent="0" marL="0">
              <a:buNone/>
            </a:pPr>
            <a:r>
              <a:rPr lang="en-US" sz="1700" b="1" dirty="0">
                <a:solidFill>
                  <a:srgbClr val="52514E"/>
                </a:solidFill>
              </a:rPr>
              <a:t>NRHO</a:t>
            </a:r>
            <a:endParaRPr lang="en-US" sz="1700" dirty="0"/>
          </a:p>
        </p:txBody>
      </p:sp>
      <p:sp>
        <p:nvSpPr>
          <p:cNvPr id="21" name="Text 19"/>
          <p:cNvSpPr txBox="1"/>
          <p:nvPr/>
        </p:nvSpPr>
        <p:spPr>
          <a:xfrm>
            <a:off x="7306056" y="2880360"/>
            <a:ext cx="1874520" cy="548640"/>
          </a:xfrm>
          <a:prstGeom prst="rect">
            <a:avLst/>
          </a:prstGeom>
          <a:noFill/>
          <a:ln/>
        </p:spPr>
        <p:txBody>
          <a:bodyPr wrap="square" lIns="0" tIns="0" rIns="0" bIns="0" rtlCol="0" anchor="ctr"/>
          <a:lstStyle/>
          <a:p>
            <a:pPr algn="ctr" indent="0" marL="0">
              <a:buNone/>
            </a:pPr>
            <a:r>
              <a:rPr lang="en-US" sz="1300" dirty="0">
                <a:solidFill>
                  <a:srgbClr val="52514E"/>
                </a:solidFill>
              </a:rPr>
              <a:t>Acople con Gateway</a:t>
            </a:r>
            <a:endParaRPr lang="en-US" sz="1300" dirty="0"/>
          </a:p>
        </p:txBody>
      </p:sp>
      <p:sp>
        <p:nvSpPr>
          <p:cNvPr id="22" name="Text 20"/>
          <p:cNvSpPr txBox="1"/>
          <p:nvPr/>
        </p:nvSpPr>
        <p:spPr>
          <a:xfrm>
            <a:off x="9253728" y="2331720"/>
            <a:ext cx="201168" cy="457200"/>
          </a:xfrm>
          <a:prstGeom prst="rect">
            <a:avLst/>
          </a:prstGeom>
          <a:noFill/>
          <a:ln/>
        </p:spPr>
        <p:txBody>
          <a:bodyPr wrap="square" lIns="0" tIns="0" rIns="0" bIns="0" rtlCol="0" anchor="ctr"/>
          <a:lstStyle/>
          <a:p>
            <a:pPr algn="ctr" indent="0" marL="0">
              <a:buNone/>
            </a:pPr>
            <a:r>
              <a:rPr lang="en-US" sz="2200" b="1" dirty="0">
                <a:solidFill>
                  <a:srgbClr val="E8702A"/>
                </a:solidFill>
              </a:rPr>
              <a:t>›</a:t>
            </a:r>
            <a:endParaRPr lang="en-US" sz="2200" dirty="0"/>
          </a:p>
        </p:txBody>
      </p:sp>
      <p:sp>
        <p:nvSpPr>
          <p:cNvPr id="23" name="Shape 21"/>
          <p:cNvSpPr/>
          <p:nvPr/>
        </p:nvSpPr>
        <p:spPr>
          <a:xfrm>
            <a:off x="9436608" y="1645920"/>
            <a:ext cx="2057400" cy="1920240"/>
          </a:xfrm>
          <a:prstGeom prst="roundRect">
            <a:avLst>
              <a:gd name="adj" fmla="val 4762"/>
            </a:avLst>
          </a:prstGeom>
          <a:solidFill>
            <a:srgbClr val="FFFFFF"/>
          </a:solidFill>
          <a:ln w="15875">
            <a:solidFill>
              <a:srgbClr val="B8BEC8"/>
            </a:solidFill>
            <a:prstDash val="dash"/>
          </a:ln>
        </p:spPr>
      </p:sp>
      <p:sp>
        <p:nvSpPr>
          <p:cNvPr id="24" name="Text 22"/>
          <p:cNvSpPr txBox="1"/>
          <p:nvPr/>
        </p:nvSpPr>
        <p:spPr>
          <a:xfrm>
            <a:off x="9436608" y="1755648"/>
            <a:ext cx="2057400" cy="548640"/>
          </a:xfrm>
          <a:prstGeom prst="rect">
            <a:avLst/>
          </a:prstGeom>
          <a:noFill/>
          <a:ln/>
        </p:spPr>
        <p:txBody>
          <a:bodyPr wrap="square" lIns="0" tIns="0" rIns="0" bIns="0" rtlCol="0" anchor="ctr"/>
          <a:lstStyle/>
          <a:p>
            <a:pPr algn="ctr" indent="0" marL="0">
              <a:buNone/>
            </a:pPr>
            <a:r>
              <a:rPr lang="en-US" sz="3000" b="1" dirty="0">
                <a:solidFill>
                  <a:srgbClr val="B8BEC8"/>
                </a:solidFill>
                <a:latin typeface="Cambria" pitchFamily="34" charset="0"/>
                <a:ea typeface="Cambria" pitchFamily="34" charset="-122"/>
                <a:cs typeface="Cambria" pitchFamily="34" charset="-120"/>
              </a:rPr>
              <a:t>5</a:t>
            </a:r>
            <a:endParaRPr lang="en-US" sz="3000" dirty="0"/>
          </a:p>
        </p:txBody>
      </p:sp>
      <p:sp>
        <p:nvSpPr>
          <p:cNvPr id="25" name="Text 23"/>
          <p:cNvSpPr txBox="1"/>
          <p:nvPr/>
        </p:nvSpPr>
        <p:spPr>
          <a:xfrm>
            <a:off x="9528048" y="2377440"/>
            <a:ext cx="1874520" cy="502920"/>
          </a:xfrm>
          <a:prstGeom prst="rect">
            <a:avLst/>
          </a:prstGeom>
          <a:noFill/>
          <a:ln/>
        </p:spPr>
        <p:txBody>
          <a:bodyPr wrap="square" lIns="0" tIns="0" rIns="0" bIns="0" rtlCol="0" anchor="ctr"/>
          <a:lstStyle/>
          <a:p>
            <a:pPr algn="ctr" indent="0" marL="0">
              <a:buNone/>
            </a:pPr>
            <a:r>
              <a:rPr lang="en-US" sz="1700" b="1" dirty="0">
                <a:solidFill>
                  <a:srgbClr val="52514E"/>
                </a:solidFill>
              </a:rPr>
              <a:t>Descenso</a:t>
            </a:r>
            <a:endParaRPr lang="en-US" sz="1700" dirty="0"/>
          </a:p>
        </p:txBody>
      </p:sp>
      <p:sp>
        <p:nvSpPr>
          <p:cNvPr id="26" name="Text 24"/>
          <p:cNvSpPr txBox="1"/>
          <p:nvPr/>
        </p:nvSpPr>
        <p:spPr>
          <a:xfrm>
            <a:off x="9528048" y="2880360"/>
            <a:ext cx="1874520" cy="548640"/>
          </a:xfrm>
          <a:prstGeom prst="rect">
            <a:avLst/>
          </a:prstGeom>
          <a:noFill/>
          <a:ln/>
        </p:spPr>
        <p:txBody>
          <a:bodyPr wrap="square" lIns="0" tIns="0" rIns="0" bIns="0" rtlCol="0" anchor="ctr"/>
          <a:lstStyle/>
          <a:p>
            <a:pPr algn="ctr" indent="0" marL="0">
              <a:buNone/>
            </a:pPr>
            <a:r>
              <a:rPr lang="en-US" sz="1300" dirty="0">
                <a:solidFill>
                  <a:srgbClr val="52514E"/>
                </a:solidFill>
              </a:rPr>
              <a:t>HLS al polo sur lunar</a:t>
            </a:r>
            <a:endParaRPr lang="en-US" sz="1300" dirty="0"/>
          </a:p>
        </p:txBody>
      </p:sp>
      <p:sp>
        <p:nvSpPr>
          <p:cNvPr id="27" name="Shape 25"/>
          <p:cNvSpPr/>
          <p:nvPr/>
        </p:nvSpPr>
        <p:spPr>
          <a:xfrm>
            <a:off x="548640" y="3977640"/>
            <a:ext cx="6583680" cy="457200"/>
          </a:xfrm>
          <a:prstGeom prst="roundRect">
            <a:avLst>
              <a:gd name="adj" fmla="val 16000"/>
            </a:avLst>
          </a:prstGeom>
          <a:solidFill>
            <a:srgbClr val="FDEBDD"/>
          </a:solidFill>
          <a:ln w="12700">
            <a:solidFill>
              <a:srgbClr val="FDEBDD"/>
            </a:solidFill>
            <a:prstDash val="solid"/>
          </a:ln>
        </p:spPr>
      </p:sp>
      <p:sp>
        <p:nvSpPr>
          <p:cNvPr id="28" name="Text 26"/>
          <p:cNvSpPr txBox="1"/>
          <p:nvPr/>
        </p:nvSpPr>
        <p:spPr>
          <a:xfrm>
            <a:off x="731520" y="3977640"/>
            <a:ext cx="6400800" cy="457200"/>
          </a:xfrm>
          <a:prstGeom prst="rect">
            <a:avLst/>
          </a:prstGeom>
          <a:noFill/>
          <a:ln/>
        </p:spPr>
        <p:txBody>
          <a:bodyPr wrap="square" lIns="0" tIns="0" rIns="0" bIns="0" rtlCol="0" anchor="ctr"/>
          <a:lstStyle/>
          <a:p>
            <a:pPr indent="0" marL="0">
              <a:buNone/>
            </a:pPr>
            <a:r>
              <a:rPr lang="en-US" sz="1500" b="1" dirty="0">
                <a:solidFill>
                  <a:srgbClr val="E8702A"/>
                </a:solidFill>
              </a:rPr>
              <a:t>Fases 1–3: implementadas, verificadas y con resultados</a:t>
            </a:r>
            <a:endParaRPr lang="en-US" sz="1500" dirty="0"/>
          </a:p>
        </p:txBody>
      </p:sp>
      <p:sp>
        <p:nvSpPr>
          <p:cNvPr id="29" name="Shape 27"/>
          <p:cNvSpPr/>
          <p:nvPr/>
        </p:nvSpPr>
        <p:spPr>
          <a:xfrm>
            <a:off x="7406640" y="3977640"/>
            <a:ext cx="4206240" cy="457200"/>
          </a:xfrm>
          <a:prstGeom prst="roundRect">
            <a:avLst>
              <a:gd name="adj" fmla="val 16000"/>
            </a:avLst>
          </a:prstGeom>
          <a:solidFill>
            <a:srgbClr val="EEF2F7"/>
          </a:solidFill>
          <a:ln w="12700">
            <a:solidFill>
              <a:srgbClr val="EEF2F7"/>
            </a:solidFill>
            <a:prstDash val="solid"/>
          </a:ln>
        </p:spPr>
      </p:sp>
      <p:sp>
        <p:nvSpPr>
          <p:cNvPr id="30" name="Text 28"/>
          <p:cNvSpPr txBox="1"/>
          <p:nvPr/>
        </p:nvSpPr>
        <p:spPr>
          <a:xfrm>
            <a:off x="7589520" y="3977640"/>
            <a:ext cx="4023360" cy="457200"/>
          </a:xfrm>
          <a:prstGeom prst="rect">
            <a:avLst/>
          </a:prstGeom>
          <a:noFill/>
          <a:ln/>
        </p:spPr>
        <p:txBody>
          <a:bodyPr wrap="square" lIns="0" tIns="0" rIns="0" bIns="0" rtlCol="0" anchor="ctr"/>
          <a:lstStyle/>
          <a:p>
            <a:pPr indent="0" marL="0">
              <a:buNone/>
            </a:pPr>
            <a:r>
              <a:rPr lang="en-US" sz="1500" b="1" dirty="0">
                <a:solidFill>
                  <a:srgbClr val="52514E"/>
                </a:solidFill>
              </a:rPr>
              <a:t>Fases 4–5: trabajo futuro</a:t>
            </a:r>
            <a:endParaRPr lang="en-US" sz="1500" dirty="0"/>
          </a:p>
        </p:txBody>
      </p:sp>
      <p:sp>
        <p:nvSpPr>
          <p:cNvPr id="31" name="Text 29"/>
          <p:cNvSpPr txBox="1"/>
          <p:nvPr/>
        </p:nvSpPr>
        <p:spPr>
          <a:xfrm>
            <a:off x="548640" y="4800600"/>
            <a:ext cx="11064240" cy="1280160"/>
          </a:xfrm>
          <a:prstGeom prst="rect">
            <a:avLst/>
          </a:prstGeom>
          <a:noFill/>
          <a:ln/>
        </p:spPr>
        <p:txBody>
          <a:bodyPr wrap="square" lIns="0" tIns="0" rIns="0" bIns="0" rtlCol="0" anchor="t"/>
          <a:lstStyle/>
          <a:p>
            <a:pPr marL="342900" indent="-342900">
              <a:spcAft>
                <a:spcPts val="800"/>
              </a:spcAft>
              <a:buSzPct val="100000"/>
              <a:buChar char="•"/>
            </a:pPr>
            <a:r>
              <a:rPr lang="en-US" sz="1600" b="1" dirty="0">
                <a:solidFill>
                  <a:srgbClr val="1B1B1F"/>
                </a:solidFill>
              </a:rPr>
              <a:t>Problema: </a:t>
            </a:r>
            <a:pPr indent="0" marL="0">
              <a:spcAft>
                <a:spcPts val="800"/>
              </a:spcAft>
              <a:buNone/>
            </a:pPr>
            <a:r>
              <a:rPr lang="en-US" sz="1600" dirty="0">
                <a:solidFill>
                  <a:srgbClr val="1B1B1F"/>
                </a:solidFill>
              </a:rPr>
              <a:t>cada fase tiene una física distinta: disipativa en la atmósfera y casi hamiltoniana en el vacío</a:t>
            </a:r>
            <a:endParaRPr lang="en-US" sz="1600" dirty="0"/>
          </a:p>
          <a:p>
            <a:pPr marL="342900" indent="-342900">
              <a:spcAft>
                <a:spcPts val="800"/>
              </a:spcAft>
              <a:buSzPct val="100000"/>
              <a:buChar char="•"/>
            </a:pPr>
            <a:r>
              <a:rPr lang="en-US" sz="1600" b="1" dirty="0">
                <a:solidFill>
                  <a:srgbClr val="1B1B1F"/>
                </a:solidFill>
              </a:rPr>
              <a:t>Idea central: </a:t>
            </a:r>
            <a:pPr indent="0" marL="0">
              <a:spcAft>
                <a:spcPts val="800"/>
              </a:spcAft>
              <a:buNone/>
            </a:pPr>
            <a:r>
              <a:rPr lang="en-US" sz="1600" dirty="0">
                <a:solidFill>
                  <a:srgbClr val="1B1B1F"/>
                </a:solidFill>
              </a:rPr>
              <a:t>usar el integrador adecuado para cada régimen (RK45 adaptativo frente a Verlet simpléctico)</a:t>
            </a:r>
            <a:endParaRPr lang="en-US" sz="160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000" b="1" dirty="0">
                <a:solidFill>
                  <a:srgbClr val="0B1D3A"/>
                </a:solidFill>
                <a:latin typeface="Cambria" pitchFamily="34" charset="0"/>
                <a:ea typeface="Cambria" pitchFamily="34" charset="-122"/>
                <a:cs typeface="Cambria" pitchFamily="34" charset="-120"/>
              </a:rPr>
              <a:t>Arquitectura del código: paquete artemis_sim</a:t>
            </a:r>
            <a:endParaRPr lang="en-US" sz="3000" dirty="0"/>
          </a:p>
        </p:txBody>
      </p:sp>
      <p:sp>
        <p:nvSpPr>
          <p:cNvPr id="3" name="Text 1"/>
          <p:cNvSpPr txBox="1"/>
          <p:nvPr/>
        </p:nvSpPr>
        <p:spPr>
          <a:xfrm>
            <a:off x="548640" y="1188720"/>
            <a:ext cx="3474720" cy="365760"/>
          </a:xfrm>
          <a:prstGeom prst="rect">
            <a:avLst/>
          </a:prstGeom>
          <a:noFill/>
          <a:ln/>
        </p:spPr>
        <p:txBody>
          <a:bodyPr wrap="square" lIns="0" tIns="0" rIns="0" bIns="0" rtlCol="0" anchor="ctr"/>
          <a:lstStyle/>
          <a:p>
            <a:pPr indent="0" marL="0">
              <a:buNone/>
            </a:pPr>
            <a:r>
              <a:rPr lang="en-US" sz="1800" b="1" dirty="0">
                <a:solidFill>
                  <a:srgbClr val="E8702A"/>
                </a:solidFill>
                <a:latin typeface="Cambria" pitchFamily="34" charset="0"/>
                <a:ea typeface="Cambria" pitchFamily="34" charset="-122"/>
                <a:cs typeface="Cambria" pitchFamily="34" charset="-120"/>
              </a:rPr>
              <a:t>Datos</a:t>
            </a:r>
            <a:endParaRPr lang="en-US" sz="1800" dirty="0"/>
          </a:p>
        </p:txBody>
      </p:sp>
      <p:sp>
        <p:nvSpPr>
          <p:cNvPr id="4" name="Text 2"/>
          <p:cNvSpPr txBox="1"/>
          <p:nvPr/>
        </p:nvSpPr>
        <p:spPr>
          <a:xfrm>
            <a:off x="4343400" y="1188720"/>
            <a:ext cx="3474720" cy="365760"/>
          </a:xfrm>
          <a:prstGeom prst="rect">
            <a:avLst/>
          </a:prstGeom>
          <a:noFill/>
          <a:ln/>
        </p:spPr>
        <p:txBody>
          <a:bodyPr wrap="square" lIns="0" tIns="0" rIns="0" bIns="0" rtlCol="0" anchor="ctr"/>
          <a:lstStyle/>
          <a:p>
            <a:pPr indent="0" marL="0">
              <a:buNone/>
            </a:pPr>
            <a:r>
              <a:rPr lang="en-US" sz="1800" b="1" dirty="0">
                <a:solidFill>
                  <a:srgbClr val="E8702A"/>
                </a:solidFill>
                <a:latin typeface="Cambria" pitchFamily="34" charset="0"/>
                <a:ea typeface="Cambria" pitchFamily="34" charset="-122"/>
                <a:cs typeface="Cambria" pitchFamily="34" charset="-120"/>
              </a:rPr>
              <a:t>Física</a:t>
            </a:r>
            <a:endParaRPr lang="en-US" sz="1800" dirty="0"/>
          </a:p>
        </p:txBody>
      </p:sp>
      <p:sp>
        <p:nvSpPr>
          <p:cNvPr id="5" name="Text 3"/>
          <p:cNvSpPr txBox="1"/>
          <p:nvPr/>
        </p:nvSpPr>
        <p:spPr>
          <a:xfrm>
            <a:off x="8138160" y="1188720"/>
            <a:ext cx="3474720" cy="365760"/>
          </a:xfrm>
          <a:prstGeom prst="rect">
            <a:avLst/>
          </a:prstGeom>
          <a:noFill/>
          <a:ln/>
        </p:spPr>
        <p:txBody>
          <a:bodyPr wrap="square" lIns="0" tIns="0" rIns="0" bIns="0" rtlCol="0" anchor="ctr"/>
          <a:lstStyle/>
          <a:p>
            <a:pPr indent="0" marL="0">
              <a:buNone/>
            </a:pPr>
            <a:r>
              <a:rPr lang="en-US" sz="1800" b="1" dirty="0">
                <a:solidFill>
                  <a:srgbClr val="E8702A"/>
                </a:solidFill>
                <a:latin typeface="Cambria" pitchFamily="34" charset="0"/>
                <a:ea typeface="Cambria" pitchFamily="34" charset="-122"/>
                <a:cs typeface="Cambria" pitchFamily="34" charset="-120"/>
              </a:rPr>
              <a:t>Solvers</a:t>
            </a:r>
            <a:endParaRPr lang="en-US" sz="1800" dirty="0"/>
          </a:p>
        </p:txBody>
      </p:sp>
      <p:sp>
        <p:nvSpPr>
          <p:cNvPr id="6" name="Shape 4"/>
          <p:cNvSpPr/>
          <p:nvPr/>
        </p:nvSpPr>
        <p:spPr>
          <a:xfrm>
            <a:off x="548640" y="1645920"/>
            <a:ext cx="3474720" cy="868680"/>
          </a:xfrm>
          <a:prstGeom prst="roundRect">
            <a:avLst>
              <a:gd name="adj" fmla="val 8421"/>
            </a:avLst>
          </a:prstGeom>
          <a:solidFill>
            <a:srgbClr val="EEF2F7"/>
          </a:solidFill>
          <a:ln w="12700">
            <a:solidFill>
              <a:srgbClr val="EEF2F7"/>
            </a:solidFill>
            <a:prstDash val="solid"/>
          </a:ln>
        </p:spPr>
      </p:sp>
      <p:sp>
        <p:nvSpPr>
          <p:cNvPr id="7" name="Text 5"/>
          <p:cNvSpPr txBox="1"/>
          <p:nvPr/>
        </p:nvSpPr>
        <p:spPr>
          <a:xfrm>
            <a:off x="713232" y="1719072"/>
            <a:ext cx="3200400" cy="365760"/>
          </a:xfrm>
          <a:prstGeom prst="rect">
            <a:avLst/>
          </a:prstGeom>
          <a:noFill/>
          <a:ln/>
        </p:spPr>
        <p:txBody>
          <a:bodyPr wrap="square" lIns="0" tIns="0" rIns="0" bIns="0" rtlCol="0" anchor="ctr"/>
          <a:lstStyle/>
          <a:p>
            <a:pPr indent="0" marL="0">
              <a:buNone/>
            </a:pPr>
            <a:r>
              <a:rPr lang="en-US" sz="1400" b="1" dirty="0">
                <a:solidFill>
                  <a:srgbClr val="0B1D3A"/>
                </a:solidFill>
                <a:latin typeface="Courier New" pitchFamily="34" charset="0"/>
                <a:ea typeface="Courier New" pitchFamily="34" charset="-122"/>
                <a:cs typeface="Courier New" pitchFamily="34" charset="-120"/>
              </a:rPr>
              <a:t>constants.py</a:t>
            </a:r>
            <a:endParaRPr lang="en-US" sz="1400" dirty="0"/>
          </a:p>
        </p:txBody>
      </p:sp>
      <p:sp>
        <p:nvSpPr>
          <p:cNvPr id="8" name="Text 6"/>
          <p:cNvSpPr txBox="1"/>
          <p:nvPr/>
        </p:nvSpPr>
        <p:spPr>
          <a:xfrm>
            <a:off x="713232" y="2084832"/>
            <a:ext cx="3200400" cy="365760"/>
          </a:xfrm>
          <a:prstGeom prst="rect">
            <a:avLst/>
          </a:prstGeom>
          <a:noFill/>
          <a:ln/>
        </p:spPr>
        <p:txBody>
          <a:bodyPr wrap="square" lIns="0" tIns="0" rIns="0" bIns="0" rtlCol="0" anchor="ctr"/>
          <a:lstStyle/>
          <a:p>
            <a:pPr indent="0" marL="0">
              <a:buNone/>
            </a:pPr>
            <a:r>
              <a:rPr lang="en-US" sz="1300" dirty="0">
                <a:solidFill>
                  <a:srgbClr val="1B1B1F"/>
                </a:solidFill>
              </a:rPr>
              <a:t>Tierra, Luna, etapas SLS</a:t>
            </a:r>
            <a:endParaRPr lang="en-US" sz="1300" dirty="0"/>
          </a:p>
        </p:txBody>
      </p:sp>
      <p:sp>
        <p:nvSpPr>
          <p:cNvPr id="9" name="Shape 7"/>
          <p:cNvSpPr/>
          <p:nvPr/>
        </p:nvSpPr>
        <p:spPr>
          <a:xfrm>
            <a:off x="548640" y="2670048"/>
            <a:ext cx="3474720" cy="868680"/>
          </a:xfrm>
          <a:prstGeom prst="roundRect">
            <a:avLst>
              <a:gd name="adj" fmla="val 8421"/>
            </a:avLst>
          </a:prstGeom>
          <a:solidFill>
            <a:srgbClr val="EEF2F7"/>
          </a:solidFill>
          <a:ln w="12700">
            <a:solidFill>
              <a:srgbClr val="EEF2F7"/>
            </a:solidFill>
            <a:prstDash val="solid"/>
          </a:ln>
        </p:spPr>
      </p:sp>
      <p:sp>
        <p:nvSpPr>
          <p:cNvPr id="10" name="Text 8"/>
          <p:cNvSpPr txBox="1"/>
          <p:nvPr/>
        </p:nvSpPr>
        <p:spPr>
          <a:xfrm>
            <a:off x="713232" y="2743200"/>
            <a:ext cx="3200400" cy="365760"/>
          </a:xfrm>
          <a:prstGeom prst="rect">
            <a:avLst/>
          </a:prstGeom>
          <a:noFill/>
          <a:ln/>
        </p:spPr>
        <p:txBody>
          <a:bodyPr wrap="square" lIns="0" tIns="0" rIns="0" bIns="0" rtlCol="0" anchor="ctr"/>
          <a:lstStyle/>
          <a:p>
            <a:pPr indent="0" marL="0">
              <a:buNone/>
            </a:pPr>
            <a:r>
              <a:rPr lang="en-US" sz="1400" b="1" dirty="0">
                <a:solidFill>
                  <a:srgbClr val="0B1D3A"/>
                </a:solidFill>
                <a:latin typeface="Courier New" pitchFamily="34" charset="0"/>
                <a:ea typeface="Courier New" pitchFamily="34" charset="-122"/>
                <a:cs typeface="Courier New" pitchFamily="34" charset="-120"/>
              </a:rPr>
              <a:t>state.py</a:t>
            </a:r>
            <a:endParaRPr lang="en-US" sz="1400" dirty="0"/>
          </a:p>
        </p:txBody>
      </p:sp>
      <p:sp>
        <p:nvSpPr>
          <p:cNvPr id="11" name="Text 9"/>
          <p:cNvSpPr txBox="1"/>
          <p:nvPr/>
        </p:nvSpPr>
        <p:spPr>
          <a:xfrm>
            <a:off x="713232" y="3108960"/>
            <a:ext cx="3200400" cy="365760"/>
          </a:xfrm>
          <a:prstGeom prst="rect">
            <a:avLst/>
          </a:prstGeom>
          <a:noFill/>
          <a:ln/>
        </p:spPr>
        <p:txBody>
          <a:bodyPr wrap="square" lIns="0" tIns="0" rIns="0" bIns="0" rtlCol="0" anchor="ctr"/>
          <a:lstStyle/>
          <a:p>
            <a:pPr indent="0" marL="0">
              <a:buNone/>
            </a:pPr>
            <a:r>
              <a:rPr lang="en-US" sz="1300" dirty="0">
                <a:solidFill>
                  <a:srgbClr val="1B1B1F"/>
                </a:solidFill>
              </a:rPr>
              <a:t>Vector de estado [r, v, m]</a:t>
            </a:r>
            <a:endParaRPr lang="en-US" sz="1300" dirty="0"/>
          </a:p>
        </p:txBody>
      </p:sp>
      <p:sp>
        <p:nvSpPr>
          <p:cNvPr id="12" name="Shape 10"/>
          <p:cNvSpPr/>
          <p:nvPr/>
        </p:nvSpPr>
        <p:spPr>
          <a:xfrm>
            <a:off x="4343400" y="1645920"/>
            <a:ext cx="3474720" cy="868680"/>
          </a:xfrm>
          <a:prstGeom prst="roundRect">
            <a:avLst>
              <a:gd name="adj" fmla="val 8421"/>
            </a:avLst>
          </a:prstGeom>
          <a:solidFill>
            <a:srgbClr val="EEF2F7"/>
          </a:solidFill>
          <a:ln w="12700">
            <a:solidFill>
              <a:srgbClr val="EEF2F7"/>
            </a:solidFill>
            <a:prstDash val="solid"/>
          </a:ln>
        </p:spPr>
      </p:sp>
      <p:sp>
        <p:nvSpPr>
          <p:cNvPr id="13" name="Text 11"/>
          <p:cNvSpPr txBox="1"/>
          <p:nvPr/>
        </p:nvSpPr>
        <p:spPr>
          <a:xfrm>
            <a:off x="4507992" y="1719072"/>
            <a:ext cx="3200400" cy="365760"/>
          </a:xfrm>
          <a:prstGeom prst="rect">
            <a:avLst/>
          </a:prstGeom>
          <a:noFill/>
          <a:ln/>
        </p:spPr>
        <p:txBody>
          <a:bodyPr wrap="square" lIns="0" tIns="0" rIns="0" bIns="0" rtlCol="0" anchor="ctr"/>
          <a:lstStyle/>
          <a:p>
            <a:pPr indent="0" marL="0">
              <a:buNone/>
            </a:pPr>
            <a:r>
              <a:rPr lang="en-US" sz="1400" b="1" dirty="0">
                <a:solidFill>
                  <a:srgbClr val="0B1D3A"/>
                </a:solidFill>
                <a:latin typeface="Courier New" pitchFamily="34" charset="0"/>
                <a:ea typeface="Courier New" pitchFamily="34" charset="-122"/>
                <a:cs typeface="Courier New" pitchFamily="34" charset="-120"/>
              </a:rPr>
              <a:t>physics_engine.py</a:t>
            </a:r>
            <a:endParaRPr lang="en-US" sz="1400" dirty="0"/>
          </a:p>
        </p:txBody>
      </p:sp>
      <p:sp>
        <p:nvSpPr>
          <p:cNvPr id="14" name="Text 12"/>
          <p:cNvSpPr txBox="1"/>
          <p:nvPr/>
        </p:nvSpPr>
        <p:spPr>
          <a:xfrm>
            <a:off x="4507992" y="2084832"/>
            <a:ext cx="3200400" cy="365760"/>
          </a:xfrm>
          <a:prstGeom prst="rect">
            <a:avLst/>
          </a:prstGeom>
          <a:noFill/>
          <a:ln/>
        </p:spPr>
        <p:txBody>
          <a:bodyPr wrap="square" lIns="0" tIns="0" rIns="0" bIns="0" rtlCol="0" anchor="ctr"/>
          <a:lstStyle/>
          <a:p>
            <a:pPr indent="0" marL="0">
              <a:buNone/>
            </a:pPr>
            <a:r>
              <a:rPr lang="en-US" sz="1300" dirty="0">
                <a:solidFill>
                  <a:srgbClr val="1B1B1F"/>
                </a:solidFill>
              </a:rPr>
              <a:t>Gravedad, atmósfera, Mach, arrastre, empuje</a:t>
            </a:r>
            <a:endParaRPr lang="en-US" sz="1300" dirty="0"/>
          </a:p>
        </p:txBody>
      </p:sp>
      <p:sp>
        <p:nvSpPr>
          <p:cNvPr id="15" name="Shape 13"/>
          <p:cNvSpPr/>
          <p:nvPr/>
        </p:nvSpPr>
        <p:spPr>
          <a:xfrm>
            <a:off x="4343400" y="2670048"/>
            <a:ext cx="3474720" cy="868680"/>
          </a:xfrm>
          <a:prstGeom prst="roundRect">
            <a:avLst>
              <a:gd name="adj" fmla="val 8421"/>
            </a:avLst>
          </a:prstGeom>
          <a:solidFill>
            <a:srgbClr val="EEF2F7"/>
          </a:solidFill>
          <a:ln w="12700">
            <a:solidFill>
              <a:srgbClr val="EEF2F7"/>
            </a:solidFill>
            <a:prstDash val="solid"/>
          </a:ln>
        </p:spPr>
      </p:sp>
      <p:sp>
        <p:nvSpPr>
          <p:cNvPr id="16" name="Text 14"/>
          <p:cNvSpPr txBox="1"/>
          <p:nvPr/>
        </p:nvSpPr>
        <p:spPr>
          <a:xfrm>
            <a:off x="4507992" y="2743200"/>
            <a:ext cx="3200400" cy="365760"/>
          </a:xfrm>
          <a:prstGeom prst="rect">
            <a:avLst/>
          </a:prstGeom>
          <a:noFill/>
          <a:ln/>
        </p:spPr>
        <p:txBody>
          <a:bodyPr wrap="square" lIns="0" tIns="0" rIns="0" bIns="0" rtlCol="0" anchor="ctr"/>
          <a:lstStyle/>
          <a:p>
            <a:pPr indent="0" marL="0">
              <a:buNone/>
            </a:pPr>
            <a:r>
              <a:rPr lang="en-US" sz="1400" b="1" dirty="0">
                <a:solidFill>
                  <a:srgbClr val="0B1D3A"/>
                </a:solidFill>
                <a:latin typeface="Courier New" pitchFamily="34" charset="0"/>
                <a:ea typeface="Courier New" pitchFamily="34" charset="-122"/>
                <a:cs typeface="Courier New" pitchFamily="34" charset="-120"/>
              </a:rPr>
              <a:t>ephemeris.py</a:t>
            </a:r>
            <a:endParaRPr lang="en-US" sz="1400" dirty="0"/>
          </a:p>
        </p:txBody>
      </p:sp>
      <p:sp>
        <p:nvSpPr>
          <p:cNvPr id="17" name="Text 15"/>
          <p:cNvSpPr txBox="1"/>
          <p:nvPr/>
        </p:nvSpPr>
        <p:spPr>
          <a:xfrm>
            <a:off x="4507992" y="3108960"/>
            <a:ext cx="3200400" cy="365760"/>
          </a:xfrm>
          <a:prstGeom prst="rect">
            <a:avLst/>
          </a:prstGeom>
          <a:noFill/>
          <a:ln/>
        </p:spPr>
        <p:txBody>
          <a:bodyPr wrap="square" lIns="0" tIns="0" rIns="0" bIns="0" rtlCol="0" anchor="ctr"/>
          <a:lstStyle/>
          <a:p>
            <a:pPr indent="0" marL="0">
              <a:buNone/>
            </a:pPr>
            <a:r>
              <a:rPr lang="en-US" sz="1300" dirty="0">
                <a:solidFill>
                  <a:srgbClr val="1B1B1F"/>
                </a:solidFill>
              </a:rPr>
              <a:t>Órbita lunar circular (n kepleriano)</a:t>
            </a:r>
            <a:endParaRPr lang="en-US" sz="1300" dirty="0"/>
          </a:p>
        </p:txBody>
      </p:sp>
      <p:sp>
        <p:nvSpPr>
          <p:cNvPr id="18" name="Shape 16"/>
          <p:cNvSpPr/>
          <p:nvPr/>
        </p:nvSpPr>
        <p:spPr>
          <a:xfrm>
            <a:off x="8138160" y="1645920"/>
            <a:ext cx="3474720" cy="868680"/>
          </a:xfrm>
          <a:prstGeom prst="roundRect">
            <a:avLst>
              <a:gd name="adj" fmla="val 8421"/>
            </a:avLst>
          </a:prstGeom>
          <a:solidFill>
            <a:srgbClr val="0B1D3A"/>
          </a:solidFill>
          <a:ln w="12700">
            <a:solidFill>
              <a:srgbClr val="0B1D3A"/>
            </a:solidFill>
            <a:prstDash val="solid"/>
          </a:ln>
        </p:spPr>
      </p:sp>
      <p:sp>
        <p:nvSpPr>
          <p:cNvPr id="19" name="Text 17"/>
          <p:cNvSpPr txBox="1"/>
          <p:nvPr/>
        </p:nvSpPr>
        <p:spPr>
          <a:xfrm>
            <a:off x="8302752" y="1719072"/>
            <a:ext cx="3200400" cy="365760"/>
          </a:xfrm>
          <a:prstGeom prst="rect">
            <a:avLst/>
          </a:prstGeom>
          <a:noFill/>
          <a:ln/>
        </p:spPr>
        <p:txBody>
          <a:bodyPr wrap="square" lIns="0" tIns="0" rIns="0" bIns="0" rtlCol="0" anchor="ctr"/>
          <a:lstStyle/>
          <a:p>
            <a:pPr indent="0" marL="0">
              <a:buNone/>
            </a:pPr>
            <a:r>
              <a:rPr lang="en-US" sz="1400" b="1" dirty="0">
                <a:solidFill>
                  <a:srgbClr val="FFFFFF"/>
                </a:solidFill>
                <a:latin typeface="Courier New" pitchFamily="34" charset="0"/>
                <a:ea typeface="Courier New" pitchFamily="34" charset="-122"/>
                <a:cs typeface="Courier New" pitchFamily="34" charset="-120"/>
              </a:rPr>
              <a:t>ascent_solver.py</a:t>
            </a:r>
            <a:endParaRPr lang="en-US" sz="1400" dirty="0"/>
          </a:p>
        </p:txBody>
      </p:sp>
      <p:sp>
        <p:nvSpPr>
          <p:cNvPr id="20" name="Text 18"/>
          <p:cNvSpPr txBox="1"/>
          <p:nvPr/>
        </p:nvSpPr>
        <p:spPr>
          <a:xfrm>
            <a:off x="8302752" y="2084832"/>
            <a:ext cx="3200400" cy="365760"/>
          </a:xfrm>
          <a:prstGeom prst="rect">
            <a:avLst/>
          </a:prstGeom>
          <a:noFill/>
          <a:ln/>
        </p:spPr>
        <p:txBody>
          <a:bodyPr wrap="square" lIns="0" tIns="0" rIns="0" bIns="0" rtlCol="0" anchor="ctr"/>
          <a:lstStyle/>
          <a:p>
            <a:pPr indent="0" marL="0">
              <a:buNone/>
            </a:pPr>
            <a:r>
              <a:rPr lang="en-US" sz="1300" dirty="0">
                <a:solidFill>
                  <a:srgbClr val="CADCFC"/>
                </a:solidFill>
              </a:rPr>
              <a:t>Fase 1: EDO del ascenso, guiado, eventos</a:t>
            </a:r>
            <a:endParaRPr lang="en-US" sz="1300" dirty="0"/>
          </a:p>
        </p:txBody>
      </p:sp>
      <p:sp>
        <p:nvSpPr>
          <p:cNvPr id="21" name="Shape 19"/>
          <p:cNvSpPr/>
          <p:nvPr/>
        </p:nvSpPr>
        <p:spPr>
          <a:xfrm>
            <a:off x="8138160" y="2670048"/>
            <a:ext cx="3474720" cy="868680"/>
          </a:xfrm>
          <a:prstGeom prst="roundRect">
            <a:avLst>
              <a:gd name="adj" fmla="val 8421"/>
            </a:avLst>
          </a:prstGeom>
          <a:solidFill>
            <a:srgbClr val="0B1D3A"/>
          </a:solidFill>
          <a:ln w="12700">
            <a:solidFill>
              <a:srgbClr val="0B1D3A"/>
            </a:solidFill>
            <a:prstDash val="solid"/>
          </a:ln>
        </p:spPr>
      </p:sp>
      <p:sp>
        <p:nvSpPr>
          <p:cNvPr id="22" name="Text 20"/>
          <p:cNvSpPr txBox="1"/>
          <p:nvPr/>
        </p:nvSpPr>
        <p:spPr>
          <a:xfrm>
            <a:off x="8302752" y="2743200"/>
            <a:ext cx="3200400" cy="365760"/>
          </a:xfrm>
          <a:prstGeom prst="rect">
            <a:avLst/>
          </a:prstGeom>
          <a:noFill/>
          <a:ln/>
        </p:spPr>
        <p:txBody>
          <a:bodyPr wrap="square" lIns="0" tIns="0" rIns="0" bIns="0" rtlCol="0" anchor="ctr"/>
          <a:lstStyle/>
          <a:p>
            <a:pPr indent="0" marL="0">
              <a:buNone/>
            </a:pPr>
            <a:r>
              <a:rPr lang="en-US" sz="1400" b="1" dirty="0">
                <a:solidFill>
                  <a:srgbClr val="FFFFFF"/>
                </a:solidFill>
                <a:latin typeface="Courier New" pitchFamily="34" charset="0"/>
                <a:ea typeface="Courier New" pitchFamily="34" charset="-122"/>
                <a:cs typeface="Courier New" pitchFamily="34" charset="-120"/>
              </a:rPr>
              <a:t>symplectic_solver.py</a:t>
            </a:r>
            <a:endParaRPr lang="en-US" sz="1400" dirty="0"/>
          </a:p>
        </p:txBody>
      </p:sp>
      <p:sp>
        <p:nvSpPr>
          <p:cNvPr id="23" name="Text 21"/>
          <p:cNvSpPr txBox="1"/>
          <p:nvPr/>
        </p:nvSpPr>
        <p:spPr>
          <a:xfrm>
            <a:off x="8302752" y="3108960"/>
            <a:ext cx="3200400" cy="365760"/>
          </a:xfrm>
          <a:prstGeom prst="rect">
            <a:avLst/>
          </a:prstGeom>
          <a:noFill/>
          <a:ln/>
        </p:spPr>
        <p:txBody>
          <a:bodyPr wrap="square" lIns="0" tIns="0" rIns="0" bIns="0" rtlCol="0" anchor="ctr"/>
          <a:lstStyle/>
          <a:p>
            <a:pPr indent="0" marL="0">
              <a:buNone/>
            </a:pPr>
            <a:r>
              <a:rPr lang="en-US" sz="1300" dirty="0">
                <a:solidFill>
                  <a:srgbClr val="CADCFC"/>
                </a:solidFill>
              </a:rPr>
              <a:t>Fase 2: CR3BP, Verlet, RK4, Jacobi</a:t>
            </a:r>
            <a:endParaRPr lang="en-US" sz="1300" dirty="0"/>
          </a:p>
        </p:txBody>
      </p:sp>
      <p:sp>
        <p:nvSpPr>
          <p:cNvPr id="24" name="Shape 22"/>
          <p:cNvSpPr/>
          <p:nvPr/>
        </p:nvSpPr>
        <p:spPr>
          <a:xfrm>
            <a:off x="8138160" y="3694176"/>
            <a:ext cx="3474720" cy="868680"/>
          </a:xfrm>
          <a:prstGeom prst="roundRect">
            <a:avLst>
              <a:gd name="adj" fmla="val 8421"/>
            </a:avLst>
          </a:prstGeom>
          <a:solidFill>
            <a:srgbClr val="0B1D3A"/>
          </a:solidFill>
          <a:ln w="12700">
            <a:solidFill>
              <a:srgbClr val="0B1D3A"/>
            </a:solidFill>
            <a:prstDash val="solid"/>
          </a:ln>
        </p:spPr>
      </p:sp>
      <p:sp>
        <p:nvSpPr>
          <p:cNvPr id="25" name="Text 23"/>
          <p:cNvSpPr txBox="1"/>
          <p:nvPr/>
        </p:nvSpPr>
        <p:spPr>
          <a:xfrm>
            <a:off x="8302752" y="3767328"/>
            <a:ext cx="3200400" cy="365760"/>
          </a:xfrm>
          <a:prstGeom prst="rect">
            <a:avLst/>
          </a:prstGeom>
          <a:noFill/>
          <a:ln/>
        </p:spPr>
        <p:txBody>
          <a:bodyPr wrap="square" lIns="0" tIns="0" rIns="0" bIns="0" rtlCol="0" anchor="ctr"/>
          <a:lstStyle/>
          <a:p>
            <a:pPr indent="0" marL="0">
              <a:buNone/>
            </a:pPr>
            <a:r>
              <a:rPr lang="en-US" sz="1400" b="1" dirty="0">
                <a:solidFill>
                  <a:srgbClr val="FFFFFF"/>
                </a:solidFill>
                <a:latin typeface="Courier New" pitchFamily="34" charset="0"/>
                <a:ea typeface="Courier New" pitchFamily="34" charset="-122"/>
                <a:cs typeface="Courier New" pitchFamily="34" charset="-120"/>
              </a:rPr>
              <a:t>shooting_method.py</a:t>
            </a:r>
            <a:endParaRPr lang="en-US" sz="1400" dirty="0"/>
          </a:p>
        </p:txBody>
      </p:sp>
      <p:sp>
        <p:nvSpPr>
          <p:cNvPr id="26" name="Text 24"/>
          <p:cNvSpPr txBox="1"/>
          <p:nvPr/>
        </p:nvSpPr>
        <p:spPr>
          <a:xfrm>
            <a:off x="8302752" y="4133088"/>
            <a:ext cx="3200400" cy="365760"/>
          </a:xfrm>
          <a:prstGeom prst="rect">
            <a:avLst/>
          </a:prstGeom>
          <a:noFill/>
          <a:ln/>
        </p:spPr>
        <p:txBody>
          <a:bodyPr wrap="square" lIns="0" tIns="0" rIns="0" bIns="0" rtlCol="0" anchor="ctr"/>
          <a:lstStyle/>
          <a:p>
            <a:pPr indent="0" marL="0">
              <a:buNone/>
            </a:pPr>
            <a:r>
              <a:rPr lang="en-US" sz="1300" dirty="0">
                <a:solidFill>
                  <a:srgbClr val="CADCFC"/>
                </a:solidFill>
              </a:rPr>
              <a:t>Fase 3: disparo + Newton-Raphson</a:t>
            </a:r>
            <a:endParaRPr lang="en-US" sz="1300" dirty="0"/>
          </a:p>
        </p:txBody>
      </p:sp>
      <p:sp>
        <p:nvSpPr>
          <p:cNvPr id="27" name="Text 25"/>
          <p:cNvSpPr txBox="1"/>
          <p:nvPr/>
        </p:nvSpPr>
        <p:spPr>
          <a:xfrm>
            <a:off x="4005072" y="2514600"/>
            <a:ext cx="320040" cy="457200"/>
          </a:xfrm>
          <a:prstGeom prst="rect">
            <a:avLst/>
          </a:prstGeom>
          <a:noFill/>
          <a:ln/>
        </p:spPr>
        <p:txBody>
          <a:bodyPr wrap="square" lIns="0" tIns="0" rIns="0" bIns="0" rtlCol="0" anchor="ctr"/>
          <a:lstStyle/>
          <a:p>
            <a:pPr algn="ctr" indent="0" marL="0">
              <a:buNone/>
            </a:pPr>
            <a:r>
              <a:rPr lang="en-US" sz="2400" b="1" dirty="0">
                <a:solidFill>
                  <a:srgbClr val="E8702A"/>
                </a:solidFill>
              </a:rPr>
              <a:t>→</a:t>
            </a:r>
            <a:endParaRPr lang="en-US" sz="2400" dirty="0"/>
          </a:p>
        </p:txBody>
      </p:sp>
      <p:sp>
        <p:nvSpPr>
          <p:cNvPr id="28" name="Text 26"/>
          <p:cNvSpPr txBox="1"/>
          <p:nvPr/>
        </p:nvSpPr>
        <p:spPr>
          <a:xfrm>
            <a:off x="7799832" y="2514600"/>
            <a:ext cx="320040" cy="457200"/>
          </a:xfrm>
          <a:prstGeom prst="rect">
            <a:avLst/>
          </a:prstGeom>
          <a:noFill/>
          <a:ln/>
        </p:spPr>
        <p:txBody>
          <a:bodyPr wrap="square" lIns="0" tIns="0" rIns="0" bIns="0" rtlCol="0" anchor="ctr"/>
          <a:lstStyle/>
          <a:p>
            <a:pPr algn="ctr" indent="0" marL="0">
              <a:buNone/>
            </a:pPr>
            <a:r>
              <a:rPr lang="en-US" sz="2400" b="1" dirty="0">
                <a:solidFill>
                  <a:srgbClr val="E8702A"/>
                </a:solidFill>
              </a:rPr>
              <a:t>→</a:t>
            </a:r>
            <a:endParaRPr lang="en-US" sz="2400" dirty="0"/>
          </a:p>
        </p:txBody>
      </p:sp>
      <p:sp>
        <p:nvSpPr>
          <p:cNvPr id="29" name="Shape 27"/>
          <p:cNvSpPr/>
          <p:nvPr/>
        </p:nvSpPr>
        <p:spPr>
          <a:xfrm>
            <a:off x="548640" y="3977640"/>
            <a:ext cx="2743200" cy="1143000"/>
          </a:xfrm>
          <a:prstGeom prst="roundRect">
            <a:avLst>
              <a:gd name="adj" fmla="val 8000"/>
            </a:avLst>
          </a:prstGeom>
          <a:solidFill>
            <a:srgbClr val="EEF2F7"/>
          </a:solidFill>
          <a:ln w="12700">
            <a:solidFill>
              <a:srgbClr val="EEF2F7"/>
            </a:solidFill>
            <a:prstDash val="solid"/>
          </a:ln>
        </p:spPr>
      </p:sp>
      <p:sp>
        <p:nvSpPr>
          <p:cNvPr id="30" name="Text 28"/>
          <p:cNvSpPr txBox="1"/>
          <p:nvPr/>
        </p:nvSpPr>
        <p:spPr>
          <a:xfrm>
            <a:off x="548640" y="4050792"/>
            <a:ext cx="2743200" cy="640080"/>
          </a:xfrm>
          <a:prstGeom prst="rect">
            <a:avLst/>
          </a:prstGeom>
          <a:noFill/>
          <a:ln/>
        </p:spPr>
        <p:txBody>
          <a:bodyPr wrap="square" lIns="0" tIns="0" rIns="0" bIns="0" rtlCol="0" anchor="ctr"/>
          <a:lstStyle/>
          <a:p>
            <a:pPr algn="ctr" indent="0" marL="0">
              <a:buNone/>
            </a:pPr>
            <a:r>
              <a:rPr lang="en-US" sz="3000" b="1" dirty="0">
                <a:solidFill>
                  <a:srgbClr val="0B1D3A"/>
                </a:solidFill>
                <a:latin typeface="Cambria" pitchFamily="34" charset="0"/>
                <a:ea typeface="Cambria" pitchFamily="34" charset="-122"/>
                <a:cs typeface="Cambria" pitchFamily="34" charset="-120"/>
              </a:rPr>
              <a:t>63</a:t>
            </a:r>
            <a:endParaRPr lang="en-US" sz="3000" dirty="0"/>
          </a:p>
        </p:txBody>
      </p:sp>
      <p:sp>
        <p:nvSpPr>
          <p:cNvPr id="31" name="Text 29"/>
          <p:cNvSpPr txBox="1"/>
          <p:nvPr/>
        </p:nvSpPr>
        <p:spPr>
          <a:xfrm>
            <a:off x="640080" y="4672584"/>
            <a:ext cx="2560320" cy="365760"/>
          </a:xfrm>
          <a:prstGeom prst="rect">
            <a:avLst/>
          </a:prstGeom>
          <a:noFill/>
          <a:ln/>
        </p:spPr>
        <p:txBody>
          <a:bodyPr wrap="square" lIns="0" tIns="0" rIns="0" bIns="0" rtlCol="0" anchor="ctr"/>
          <a:lstStyle/>
          <a:p>
            <a:pPr algn="ctr" indent="0" marL="0">
              <a:buNone/>
            </a:pPr>
            <a:r>
              <a:rPr lang="en-US" sz="1250" dirty="0">
                <a:solidFill>
                  <a:srgbClr val="52514E"/>
                </a:solidFill>
              </a:rPr>
              <a:t>pruebas automáticas (pytest)</a:t>
            </a:r>
            <a:endParaRPr lang="en-US" sz="1250" dirty="0"/>
          </a:p>
        </p:txBody>
      </p:sp>
      <p:sp>
        <p:nvSpPr>
          <p:cNvPr id="32" name="Shape 30"/>
          <p:cNvSpPr/>
          <p:nvPr/>
        </p:nvSpPr>
        <p:spPr>
          <a:xfrm>
            <a:off x="3566160" y="3977640"/>
            <a:ext cx="4206240" cy="694944"/>
          </a:xfrm>
          <a:prstGeom prst="roundRect">
            <a:avLst>
              <a:gd name="adj" fmla="val 10526"/>
            </a:avLst>
          </a:prstGeom>
          <a:solidFill>
            <a:srgbClr val="F1F3F6"/>
          </a:solidFill>
          <a:ln w="9525">
            <a:solidFill>
              <a:srgbClr val="D5DAE1"/>
            </a:solidFill>
            <a:prstDash val="solid"/>
          </a:ln>
        </p:spPr>
      </p:sp>
      <p:sp>
        <p:nvSpPr>
          <p:cNvPr id="33" name="Text 31"/>
          <p:cNvSpPr txBox="1"/>
          <p:nvPr/>
        </p:nvSpPr>
        <p:spPr>
          <a:xfrm>
            <a:off x="3675888" y="3977640"/>
            <a:ext cx="3986784" cy="694944"/>
          </a:xfrm>
          <a:prstGeom prst="rect">
            <a:avLst/>
          </a:prstGeom>
          <a:noFill/>
          <a:ln/>
        </p:spPr>
        <p:txBody>
          <a:bodyPr wrap="square" lIns="0" tIns="0" rIns="0" bIns="0" rtlCol="0" anchor="ctr"/>
          <a:lstStyle/>
          <a:p>
            <a:pPr indent="0" marL="0">
              <a:buNone/>
            </a:pPr>
            <a:r>
              <a:rPr lang="en-US" sz="1150" dirty="0">
                <a:solidFill>
                  <a:srgbClr val="52514E"/>
                </a:solidFill>
                <a:latin typeface="Courier New" pitchFamily="34" charset="0"/>
                <a:ea typeface="Courier New" pitchFamily="34" charset="-122"/>
                <a:cs typeface="Courier New" pitchFamily="34" charset="-120"/>
              </a:rPr>
              <a:t>Reproducir todo:</a:t>
            </a:r>
            <a:endParaRPr lang="en-US" sz="1150" dirty="0"/>
          </a:p>
          <a:p>
            <a:pPr indent="0" marL="0">
              <a:buNone/>
            </a:pPr>
            <a:r>
              <a:rPr lang="en-US" sz="1150" b="1" dirty="0">
                <a:solidFill>
                  <a:srgbClr val="0B1D3A"/>
                </a:solidFill>
                <a:latin typeface="Courier New" pitchFamily="34" charset="0"/>
                <a:ea typeface="Courier New" pitchFamily="34" charset="-122"/>
                <a:cs typeface="Courier New" pitchFamily="34" charset="-120"/>
              </a:rPr>
              <a:t>pytest  ·  python scripts/generate_figures.py</a:t>
            </a:r>
            <a:endParaRPr lang="en-US" sz="1150" dirty="0"/>
          </a:p>
        </p:txBody>
      </p:sp>
      <p:sp>
        <p:nvSpPr>
          <p:cNvPr id="34" name="Text 32"/>
          <p:cNvSpPr txBox="1"/>
          <p:nvPr/>
        </p:nvSpPr>
        <p:spPr>
          <a:xfrm>
            <a:off x="3566160" y="5074920"/>
            <a:ext cx="7863840" cy="9144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B1B1F"/>
                </a:solidFill>
              </a:rPr>
              <a:t>Funciones físicas puras y en unidades SI</a:t>
            </a:r>
            <a:endParaRPr lang="en-US" sz="1500" dirty="0"/>
          </a:p>
          <a:p>
            <a:pPr marL="342900" indent="-342900">
              <a:spcAft>
                <a:spcPts val="800"/>
              </a:spcAft>
              <a:buSzPct val="100000"/>
              <a:buChar char="•"/>
            </a:pPr>
            <a:r>
              <a:rPr lang="en-US" sz="1500" dirty="0">
                <a:solidFill>
                  <a:srgbClr val="1B1B1F"/>
                </a:solidFill>
              </a:rPr>
              <a:t>Las figuras y los números del informe se generan desde el código (results.tex)</a:t>
            </a:r>
            <a:endParaRPr lang="en-US" sz="150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1463040"/>
            <a:ext cx="2743200" cy="1188720"/>
          </a:xfrm>
          <a:prstGeom prst="rect">
            <a:avLst/>
          </a:prstGeom>
          <a:noFill/>
          <a:ln/>
        </p:spPr>
        <p:txBody>
          <a:bodyPr wrap="square" lIns="0" tIns="0" rIns="0" bIns="0" rtlCol="0" anchor="ctr"/>
          <a:lstStyle/>
          <a:p>
            <a:pPr indent="0" marL="0">
              <a:buNone/>
            </a:pPr>
            <a:r>
              <a:rPr lang="en-US" sz="8000" b="1" dirty="0">
                <a:solidFill>
                  <a:srgbClr val="E8702A"/>
                </a:solidFill>
                <a:latin typeface="Cambria" pitchFamily="34" charset="0"/>
                <a:ea typeface="Cambria" pitchFamily="34" charset="-122"/>
                <a:cs typeface="Cambria" pitchFamily="34" charset="-120"/>
              </a:rPr>
              <a:t>01</a:t>
            </a:r>
            <a:endParaRPr lang="en-US" sz="8000" dirty="0"/>
          </a:p>
        </p:txBody>
      </p:sp>
      <p:sp>
        <p:nvSpPr>
          <p:cNvPr id="3" name="Text 0"/>
          <p:cNvSpPr/>
          <p:nvPr>
            <p:ph idx="100" type="title" hasCustomPrompt="1"/>
          </p:nvPr>
        </p:nvSpPr>
        <p:spPr>
          <a:xfrm>
            <a:off x="548640" y="2743200"/>
            <a:ext cx="7498080" cy="109728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Fase 1 · Ascenso atmosférico</a:t>
            </a:r>
            <a:endParaRPr lang="en-US" sz="4000" dirty="0"/>
          </a:p>
        </p:txBody>
      </p:sp>
      <p:sp>
        <p:nvSpPr>
          <p:cNvPr id="4" name="Text 0"/>
          <p:cNvSpPr/>
          <p:nvPr>
            <p:ph idx="101" type="body" hasCustomPrompt="1"/>
          </p:nvPr>
        </p:nvSpPr>
        <p:spPr>
          <a:xfrm>
            <a:off x="548640" y="3840480"/>
            <a:ext cx="7498080" cy="1097280"/>
          </a:xfrm>
          <a:prstGeom prst="rect">
            <a:avLst/>
          </a:prstGeom>
          <a:noFill/>
          <a:ln/>
        </p:spPr>
        <p:txBody>
          <a:bodyPr wrap="square" lIns="0" tIns="0" rIns="0" bIns="0" rtlCol="0" anchor="t"/>
          <a:lstStyle/>
          <a:p>
            <a:pPr algn="l" indent="0" marL="0">
              <a:buNone/>
            </a:pPr>
            <a:r>
              <a:rPr lang="en-US" sz="1800" dirty="0">
                <a:solidFill>
                  <a:srgbClr val="CADCFC"/>
                </a:solidFill>
                <a:latin typeface="Calibri" pitchFamily="34" charset="0"/>
                <a:ea typeface="Calibri" pitchFamily="34" charset="-122"/>
                <a:cs typeface="Calibri" pitchFamily="34" charset="-120"/>
              </a:rPr>
              <a:t>Del LC-39B al apagado de la etapa central (MECO)</a:t>
            </a:r>
            <a:endParaRPr lang="en-US" sz="1800" dirty="0"/>
          </a:p>
        </p:txBody>
      </p:sp>
      <p:pic>
        <p:nvPicPr>
          <p:cNvPr id="5" name="Image 0" descr="/home/mayday3003/Documents/githubrepos/ArtemisIV-flight-dynamics/docs/presentation/assets/nasa_sls_block1b.jpg">    </p:cNvPr>
          <p:cNvPicPr>
            <a:picLocks noChangeAspect="1"/>
          </p:cNvPicPr>
          <p:nvPr/>
        </p:nvPicPr>
        <p:blipFill>
          <a:blip r:embed="rId1"/>
          <a:stretch>
            <a:fillRect/>
          </a:stretch>
        </p:blipFill>
        <p:spPr>
          <a:xfrm>
            <a:off x="8595360" y="1371150"/>
            <a:ext cx="3017520" cy="4115699"/>
          </a:xfrm>
          <a:prstGeom prst="rect">
            <a:avLst/>
          </a:prstGeom>
        </p:spPr>
      </p:pic>
      <p:sp>
        <p:nvSpPr>
          <p:cNvPr id="25" name="Slide Number Placeholder 0"/>
          <p:cNvSpPr>
            <a:spLocks noGrp="1"/>
          </p:cNvSpPr>
          <p:nvPr>
            <p:ph type="sldNum" sz="quarter" idx="4294967295"/>
          </p:nvPr>
        </p:nvSpPr>
        <p:spPr>
          <a:xfrm>
            <a:off x="1127729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000" b="1" dirty="0">
                <a:solidFill>
                  <a:srgbClr val="0B1D3A"/>
                </a:solidFill>
                <a:latin typeface="Cambria" pitchFamily="34" charset="0"/>
                <a:ea typeface="Cambria" pitchFamily="34" charset="-122"/>
                <a:cs typeface="Cambria" pitchFamily="34" charset="-120"/>
              </a:rPr>
              <a:t>Ecuaciones de movimiento en el marco inercial ECI</a:t>
            </a:r>
            <a:endParaRPr lang="en-US" sz="3000" dirty="0"/>
          </a:p>
        </p:txBody>
      </p:sp>
      <p:sp>
        <p:nvSpPr>
          <p:cNvPr id="3" name="Text 1"/>
          <p:cNvSpPr txBox="1"/>
          <p:nvPr/>
        </p:nvSpPr>
        <p:spPr>
          <a:xfrm>
            <a:off x="548640" y="1234440"/>
            <a:ext cx="5943600" cy="365760"/>
          </a:xfrm>
          <a:prstGeom prst="rect">
            <a:avLst/>
          </a:prstGeom>
          <a:noFill/>
          <a:ln/>
        </p:spPr>
        <p:txBody>
          <a:bodyPr wrap="square" lIns="0" tIns="0" rIns="0" bIns="0" rtlCol="0" anchor="ctr"/>
          <a:lstStyle/>
          <a:p>
            <a:pPr indent="0" marL="0">
              <a:buNone/>
            </a:pPr>
            <a:r>
              <a:rPr lang="en-US" sz="1700" b="1" dirty="0">
                <a:solidFill>
                  <a:srgbClr val="0B1D3A"/>
                </a:solidFill>
              </a:rPr>
              <a:t>Estado: Y = [r, v, m] ∈ ℝ⁷</a:t>
            </a:r>
            <a:endParaRPr lang="en-US" sz="1700" dirty="0"/>
          </a:p>
        </p:txBody>
      </p:sp>
      <p:pic>
        <p:nvPicPr>
          <p:cNvPr id="4" name="Image 0" descr="/home/mayday3003/Documents/githubrepos/ArtemisIV-flight-dynamics/docs/presentation/assets/eq_asc_r.png">    </p:cNvPr>
          <p:cNvPicPr>
            <a:picLocks noChangeAspect="1"/>
          </p:cNvPicPr>
          <p:nvPr/>
        </p:nvPicPr>
        <p:blipFill>
          <a:blip r:embed="rId1"/>
          <a:stretch>
            <a:fillRect/>
          </a:stretch>
        </p:blipFill>
        <p:spPr>
          <a:xfrm>
            <a:off x="731520" y="1783080"/>
            <a:ext cx="718220" cy="377813"/>
          </a:xfrm>
          <a:prstGeom prst="rect">
            <a:avLst/>
          </a:prstGeom>
        </p:spPr>
      </p:pic>
      <p:pic>
        <p:nvPicPr>
          <p:cNvPr id="5" name="Image 1" descr="/home/mayday3003/Documents/githubrepos/ArtemisIV-flight-dynamics/docs/presentation/assets/eq_asc_v.png">    </p:cNvPr>
          <p:cNvPicPr>
            <a:picLocks noChangeAspect="1"/>
          </p:cNvPicPr>
          <p:nvPr/>
        </p:nvPicPr>
        <p:blipFill>
          <a:blip r:embed="rId2"/>
          <a:stretch>
            <a:fillRect/>
          </a:stretch>
        </p:blipFill>
        <p:spPr>
          <a:xfrm>
            <a:off x="731520" y="2389493"/>
            <a:ext cx="3433988" cy="849145"/>
          </a:xfrm>
          <a:prstGeom prst="rect">
            <a:avLst/>
          </a:prstGeom>
        </p:spPr>
      </p:pic>
      <p:pic>
        <p:nvPicPr>
          <p:cNvPr id="6" name="Image 2" descr="/home/mayday3003/Documents/githubrepos/ArtemisIV-flight-dynamics/docs/presentation/assets/eq_asc_m.png">    </p:cNvPr>
          <p:cNvPicPr>
            <a:picLocks noChangeAspect="1"/>
          </p:cNvPicPr>
          <p:nvPr/>
        </p:nvPicPr>
        <p:blipFill>
          <a:blip r:embed="rId3"/>
          <a:stretch>
            <a:fillRect/>
          </a:stretch>
        </p:blipFill>
        <p:spPr>
          <a:xfrm>
            <a:off x="731520" y="3467239"/>
            <a:ext cx="2394065" cy="845404"/>
          </a:xfrm>
          <a:prstGeom prst="rect">
            <a:avLst/>
          </a:prstGeom>
        </p:spPr>
      </p:pic>
      <p:sp>
        <p:nvSpPr>
          <p:cNvPr id="7" name="Shape 2"/>
          <p:cNvSpPr/>
          <p:nvPr/>
        </p:nvSpPr>
        <p:spPr>
          <a:xfrm>
            <a:off x="6766560" y="1234440"/>
            <a:ext cx="4846320" cy="2377440"/>
          </a:xfrm>
          <a:prstGeom prst="roundRect">
            <a:avLst>
              <a:gd name="adj" fmla="val 3846"/>
            </a:avLst>
          </a:prstGeom>
          <a:solidFill>
            <a:srgbClr val="EEF2F7"/>
          </a:solidFill>
          <a:ln w="12700">
            <a:solidFill>
              <a:srgbClr val="EEF2F7"/>
            </a:solidFill>
            <a:prstDash val="solid"/>
          </a:ln>
        </p:spPr>
      </p:sp>
      <p:sp>
        <p:nvSpPr>
          <p:cNvPr id="8" name="Text 3"/>
          <p:cNvSpPr txBox="1"/>
          <p:nvPr/>
        </p:nvSpPr>
        <p:spPr>
          <a:xfrm>
            <a:off x="6995160" y="1371600"/>
            <a:ext cx="4480560" cy="365760"/>
          </a:xfrm>
          <a:prstGeom prst="rect">
            <a:avLst/>
          </a:prstGeom>
          <a:noFill/>
          <a:ln/>
        </p:spPr>
        <p:txBody>
          <a:bodyPr wrap="square" lIns="0" tIns="0" rIns="0" bIns="0" rtlCol="0" anchor="ctr"/>
          <a:lstStyle/>
          <a:p>
            <a:pPr indent="0" marL="0">
              <a:buNone/>
            </a:pPr>
            <a:r>
              <a:rPr lang="en-US" sz="1800" b="1" dirty="0">
                <a:solidFill>
                  <a:srgbClr val="E8702A"/>
                </a:solidFill>
                <a:latin typeface="Cambria" pitchFamily="34" charset="0"/>
                <a:ea typeface="Cambria" pitchFamily="34" charset="-122"/>
                <a:cs typeface="Cambria" pitchFamily="34" charset="-120"/>
              </a:rPr>
              <a:t>¿Por qué no hay Coriolis?</a:t>
            </a:r>
            <a:endParaRPr lang="en-US" sz="1800" dirty="0"/>
          </a:p>
        </p:txBody>
      </p:sp>
      <p:sp>
        <p:nvSpPr>
          <p:cNvPr id="9" name="Text 4"/>
          <p:cNvSpPr txBox="1"/>
          <p:nvPr/>
        </p:nvSpPr>
        <p:spPr>
          <a:xfrm>
            <a:off x="6995160" y="1783080"/>
            <a:ext cx="4480560" cy="685800"/>
          </a:xfrm>
          <a:prstGeom prst="rect">
            <a:avLst/>
          </a:prstGeom>
          <a:noFill/>
          <a:ln/>
        </p:spPr>
        <p:txBody>
          <a:bodyPr wrap="square" lIns="0" tIns="0" rIns="0" bIns="0" rtlCol="0" anchor="ctr"/>
          <a:lstStyle/>
          <a:p>
            <a:pPr indent="0" marL="0">
              <a:buNone/>
            </a:pPr>
            <a:r>
              <a:rPr lang="en-US" sz="1400" dirty="0">
                <a:solidFill>
                  <a:srgbClr val="1B1B1F"/>
                </a:solidFill>
              </a:rPr>
              <a:t>En un marco inercial las fuerzas ficticias no existen. La rotación terrestre entra solo por:</a:t>
            </a:r>
            <a:endParaRPr lang="en-US" sz="1400" dirty="0"/>
          </a:p>
        </p:txBody>
      </p:sp>
      <p:pic>
        <p:nvPicPr>
          <p:cNvPr id="10" name="Image 3" descr="/home/mayday3003/Documents/githubrepos/ArtemisIV-flight-dynamics/docs/presentation/assets/eq_vrel.png">    </p:cNvPr>
          <p:cNvPicPr>
            <a:picLocks noChangeAspect="1"/>
          </p:cNvPicPr>
          <p:nvPr/>
        </p:nvPicPr>
        <p:blipFill>
          <a:blip r:embed="rId4"/>
          <a:stretch>
            <a:fillRect/>
          </a:stretch>
        </p:blipFill>
        <p:spPr>
          <a:xfrm>
            <a:off x="7178040" y="2560320"/>
            <a:ext cx="2142876" cy="358923"/>
          </a:xfrm>
          <a:prstGeom prst="rect">
            <a:avLst/>
          </a:prstGeom>
        </p:spPr>
      </p:pic>
      <p:sp>
        <p:nvSpPr>
          <p:cNvPr id="11" name="Text 5"/>
          <p:cNvSpPr txBox="1"/>
          <p:nvPr/>
        </p:nvSpPr>
        <p:spPr>
          <a:xfrm>
            <a:off x="6995160" y="3108960"/>
            <a:ext cx="4480560" cy="411480"/>
          </a:xfrm>
          <a:prstGeom prst="rect">
            <a:avLst/>
          </a:prstGeom>
          <a:noFill/>
          <a:ln/>
        </p:spPr>
        <p:txBody>
          <a:bodyPr wrap="square" lIns="0" tIns="0" rIns="0" bIns="0" rtlCol="0" anchor="ctr"/>
          <a:lstStyle/>
          <a:p>
            <a:pPr indent="0" marL="0">
              <a:buNone/>
            </a:pPr>
            <a:r>
              <a:rPr lang="en-US" sz="1400" dirty="0">
                <a:solidFill>
                  <a:srgbClr val="1B1B1F"/>
                </a:solidFill>
              </a:rPr>
              <a:t>y por la velocidad inicial ω×r₀ ≈ 408 m/s hacia el este.</a:t>
            </a:r>
            <a:endParaRPr lang="en-US" sz="1400" dirty="0"/>
          </a:p>
        </p:txBody>
      </p:sp>
      <p:sp>
        <p:nvSpPr>
          <p:cNvPr id="12" name="Text 6"/>
          <p:cNvSpPr txBox="1"/>
          <p:nvPr/>
        </p:nvSpPr>
        <p:spPr>
          <a:xfrm>
            <a:off x="6766560" y="3886200"/>
            <a:ext cx="4846320" cy="10972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B1B1F"/>
                </a:solidFill>
              </a:rPr>
              <a:t>Tres fuerzas: empuje T·û, arrastre D y gravedad newtoniana</a:t>
            </a:r>
            <a:endParaRPr lang="en-US" sz="1400" dirty="0"/>
          </a:p>
          <a:p>
            <a:pPr marL="342900" indent="-342900">
              <a:spcAft>
                <a:spcPts val="800"/>
              </a:spcAft>
              <a:buSzPct val="100000"/>
              <a:buChar char="•"/>
            </a:pPr>
            <a:r>
              <a:rPr lang="en-US" sz="1400" dirty="0">
                <a:solidFill>
                  <a:srgbClr val="1B1B1F"/>
                </a:solidFill>
              </a:rPr>
              <a:t>Lanzar hacia el este aprovecha esos 408 m/s de la rotación terrestre</a:t>
            </a:r>
            <a:endParaRPr lang="en-US" sz="1400" dirty="0"/>
          </a:p>
        </p:txBody>
      </p:sp>
      <p:sp>
        <p:nvSpPr>
          <p:cNvPr id="13" name="Shape 7"/>
          <p:cNvSpPr/>
          <p:nvPr/>
        </p:nvSpPr>
        <p:spPr>
          <a:xfrm>
            <a:off x="548640" y="5257800"/>
            <a:ext cx="11064240" cy="941832"/>
          </a:xfrm>
          <a:prstGeom prst="roundRect">
            <a:avLst>
              <a:gd name="adj" fmla="val 7767"/>
            </a:avLst>
          </a:prstGeom>
          <a:solidFill>
            <a:srgbClr val="F1F3F6"/>
          </a:solidFill>
          <a:ln w="9525">
            <a:solidFill>
              <a:srgbClr val="D5DAE1"/>
            </a:solidFill>
            <a:prstDash val="solid"/>
          </a:ln>
        </p:spPr>
      </p:sp>
      <p:sp>
        <p:nvSpPr>
          <p:cNvPr id="14" name="Text 8"/>
          <p:cNvSpPr txBox="1"/>
          <p:nvPr/>
        </p:nvSpPr>
        <p:spPr>
          <a:xfrm>
            <a:off x="658368" y="5257800"/>
            <a:ext cx="10844784" cy="941832"/>
          </a:xfrm>
          <a:prstGeom prst="rect">
            <a:avLst/>
          </a:prstGeom>
          <a:noFill/>
          <a:ln/>
        </p:spPr>
        <p:txBody>
          <a:bodyPr wrap="square" lIns="0" tIns="0" rIns="0" bIns="0" rtlCol="0" anchor="ctr"/>
          <a:lstStyle/>
          <a:p>
            <a:pPr indent="0" marL="0">
              <a:buNone/>
            </a:pPr>
            <a:r>
              <a:rPr lang="en-US" sz="1150" dirty="0">
                <a:solidFill>
                  <a:srgbClr val="52514E"/>
                </a:solidFill>
                <a:latin typeface="Courier New" pitchFamily="34" charset="0"/>
                <a:ea typeface="Courier New" pitchFamily="34" charset="-122"/>
                <a:cs typeface="Courier New" pitchFamily="34" charset="-120"/>
              </a:rPr>
              <a:t>src/artemis_sim/ascent_solver.py</a:t>
            </a:r>
            <a:endParaRPr lang="en-US" sz="1150" dirty="0"/>
          </a:p>
          <a:p>
            <a:pPr indent="0" marL="0">
              <a:buNone/>
            </a:pPr>
            <a:r>
              <a:rPr lang="en-US" sz="1150" b="1" dirty="0">
                <a:solidFill>
                  <a:srgbClr val="0B1D3A"/>
                </a:solidFill>
                <a:latin typeface="Courier New" pitchFamily="34" charset="0"/>
                <a:ea typeface="Courier New" pitchFamily="34" charset="-122"/>
                <a:cs typeface="Courier New" pitchFamily="34" charset="-120"/>
              </a:rPr>
              <a:t>make_ascent_derivatives(config)  →  f(t, Y)</a:t>
            </a:r>
            <a:endParaRPr lang="en-US" sz="1150" dirty="0"/>
          </a:p>
          <a:p>
            <a:pPr indent="0" marL="0">
              <a:buNone/>
            </a:pPr>
            <a:r>
              <a:rPr lang="en-US" sz="1150" b="1" dirty="0">
                <a:solidFill>
                  <a:srgbClr val="0B1D3A"/>
                </a:solidFill>
                <a:latin typeface="Courier New" pitchFamily="34" charset="0"/>
                <a:ea typeface="Courier New" pitchFamily="34" charset="-122"/>
                <a:cs typeface="Courier New" pitchFamily="34" charset="-120"/>
              </a:rPr>
              <a:t>physics_engine.py → compute_relative_velocity(), compute_gravity()</a:t>
            </a:r>
            <a:endParaRPr lang="en-US" sz="115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000" b="1" dirty="0">
                <a:solidFill>
                  <a:srgbClr val="0B1D3A"/>
                </a:solidFill>
                <a:latin typeface="Cambria" pitchFamily="34" charset="0"/>
                <a:ea typeface="Cambria" pitchFamily="34" charset="-122"/>
                <a:cs typeface="Cambria" pitchFamily="34" charset="-120"/>
              </a:rPr>
              <a:t>Empuje y conservación de masa de los SRB</a:t>
            </a:r>
            <a:endParaRPr lang="en-US" sz="3000" dirty="0"/>
          </a:p>
        </p:txBody>
      </p:sp>
      <p:sp>
        <p:nvSpPr>
          <p:cNvPr id="3" name="Text 1"/>
          <p:cNvSpPr txBox="1"/>
          <p:nvPr/>
        </p:nvSpPr>
        <p:spPr>
          <a:xfrm>
            <a:off x="548640" y="1234440"/>
            <a:ext cx="5486400" cy="365760"/>
          </a:xfrm>
          <a:prstGeom prst="rect">
            <a:avLst/>
          </a:prstGeom>
          <a:noFill/>
          <a:ln/>
        </p:spPr>
        <p:txBody>
          <a:bodyPr wrap="square" lIns="0" tIns="0" rIns="0" bIns="0" rtlCol="0" anchor="ctr"/>
          <a:lstStyle/>
          <a:p>
            <a:pPr indent="0" marL="0">
              <a:buNone/>
            </a:pPr>
            <a:r>
              <a:rPr lang="en-US" sz="1800" b="1" dirty="0">
                <a:solidFill>
                  <a:srgbClr val="0B1D3A"/>
                </a:solidFill>
                <a:latin typeface="Cambria" pitchFamily="34" charset="0"/>
                <a:ea typeface="Cambria" pitchFamily="34" charset="-122"/>
                <a:cs typeface="Cambria" pitchFamily="34" charset="-120"/>
              </a:rPr>
              <a:t>Empuje de tobera</a:t>
            </a:r>
            <a:endParaRPr lang="en-US" sz="1800" dirty="0"/>
          </a:p>
        </p:txBody>
      </p:sp>
      <p:pic>
        <p:nvPicPr>
          <p:cNvPr id="4" name="Image 0" descr="/home/mayday3003/Documents/githubrepos/ArtemisIV-flight-dynamics/docs/presentation/assets/eq_thrust.png">    </p:cNvPr>
          <p:cNvPicPr>
            <a:picLocks noChangeAspect="1"/>
          </p:cNvPicPr>
          <p:nvPr/>
        </p:nvPicPr>
        <p:blipFill>
          <a:blip r:embed="rId1"/>
          <a:stretch>
            <a:fillRect/>
          </a:stretch>
        </p:blipFill>
        <p:spPr>
          <a:xfrm>
            <a:off x="731520" y="1691640"/>
            <a:ext cx="2513769" cy="381554"/>
          </a:xfrm>
          <a:prstGeom prst="rect">
            <a:avLst/>
          </a:prstGeom>
        </p:spPr>
      </p:pic>
      <p:sp>
        <p:nvSpPr>
          <p:cNvPr id="5" name="Text 2"/>
          <p:cNvSpPr txBox="1"/>
          <p:nvPr/>
        </p:nvSpPr>
        <p:spPr>
          <a:xfrm>
            <a:off x="548640" y="2240280"/>
            <a:ext cx="5486400" cy="685800"/>
          </a:xfrm>
          <a:prstGeom prst="rect">
            <a:avLst/>
          </a:prstGeom>
          <a:noFill/>
          <a:ln/>
        </p:spPr>
        <p:txBody>
          <a:bodyPr wrap="square" lIns="0" tIns="0" rIns="0" bIns="0" rtlCol="0" anchor="ctr"/>
          <a:lstStyle/>
          <a:p>
            <a:pPr indent="0" marL="0">
              <a:buNone/>
            </a:pPr>
            <a:r>
              <a:rPr lang="en-US" sz="1400" dirty="0">
                <a:solidFill>
                  <a:srgbClr val="1B1B1F"/>
                </a:solidFill>
              </a:rPr>
              <a:t>El gasto másico lo fija la cámara de combustión (no depende de h); el empuje crece al bajar la presión ambiente.</a:t>
            </a:r>
            <a:endParaRPr lang="en-US" sz="1400" dirty="0"/>
          </a:p>
        </p:txBody>
      </p:sp>
      <p:sp>
        <p:nvSpPr>
          <p:cNvPr id="6" name="Text 3"/>
          <p:cNvSpPr txBox="1"/>
          <p:nvPr/>
        </p:nvSpPr>
        <p:spPr>
          <a:xfrm>
            <a:off x="548640" y="2971800"/>
            <a:ext cx="5486400" cy="365760"/>
          </a:xfrm>
          <a:prstGeom prst="rect">
            <a:avLst/>
          </a:prstGeom>
          <a:noFill/>
          <a:ln/>
        </p:spPr>
        <p:txBody>
          <a:bodyPr wrap="square" lIns="0" tIns="0" rIns="0" bIns="0" rtlCol="0" anchor="ctr"/>
          <a:lstStyle/>
          <a:p>
            <a:pPr indent="0" marL="0">
              <a:buNone/>
            </a:pPr>
            <a:r>
              <a:rPr lang="en-US" sz="1800" b="1" dirty="0">
                <a:solidFill>
                  <a:srgbClr val="0B1D3A"/>
                </a:solidFill>
                <a:latin typeface="Cambria" pitchFamily="34" charset="0"/>
                <a:ea typeface="Cambria" pitchFamily="34" charset="-122"/>
                <a:cs typeface="Cambria" pitchFamily="34" charset="-120"/>
              </a:rPr>
              <a:t>Perfil regresivo de los SRB</a:t>
            </a:r>
            <a:endParaRPr lang="en-US" sz="1800" dirty="0"/>
          </a:p>
        </p:txBody>
      </p:sp>
      <p:pic>
        <p:nvPicPr>
          <p:cNvPr id="7" name="Image 1" descr="/home/mayday3003/Documents/githubrepos/ArtemisIV-flight-dynamics/docs/presentation/assets/eq_srb.png">    </p:cNvPr>
          <p:cNvPicPr>
            <a:picLocks noChangeAspect="1"/>
          </p:cNvPicPr>
          <p:nvPr/>
        </p:nvPicPr>
        <p:blipFill>
          <a:blip r:embed="rId2"/>
          <a:stretch>
            <a:fillRect/>
          </a:stretch>
        </p:blipFill>
        <p:spPr>
          <a:xfrm>
            <a:off x="731520" y="3401568"/>
            <a:ext cx="2700805" cy="392776"/>
          </a:xfrm>
          <a:prstGeom prst="rect">
            <a:avLst/>
          </a:prstGeom>
        </p:spPr>
      </p:pic>
      <p:pic>
        <p:nvPicPr>
          <p:cNvPr id="8" name="Image 2" descr="/home/mayday3003/Documents/githubrepos/ArtemisIV-flight-dynamics/docs/presentation/assets/eq_k.png">    </p:cNvPr>
          <p:cNvPicPr>
            <a:picLocks noChangeAspect="1"/>
          </p:cNvPicPr>
          <p:nvPr/>
        </p:nvPicPr>
        <p:blipFill>
          <a:blip r:embed="rId3"/>
          <a:stretch>
            <a:fillRect/>
          </a:stretch>
        </p:blipFill>
        <p:spPr>
          <a:xfrm>
            <a:off x="731520" y="3886200"/>
            <a:ext cx="3125565" cy="1106507"/>
          </a:xfrm>
          <a:prstGeom prst="rect">
            <a:avLst/>
          </a:prstGeom>
        </p:spPr>
      </p:pic>
      <p:sp>
        <p:nvSpPr>
          <p:cNvPr id="9" name="Shape 4"/>
          <p:cNvSpPr/>
          <p:nvPr/>
        </p:nvSpPr>
        <p:spPr>
          <a:xfrm>
            <a:off x="6583680" y="1234440"/>
            <a:ext cx="5029200" cy="3383280"/>
          </a:xfrm>
          <a:prstGeom prst="roundRect">
            <a:avLst>
              <a:gd name="adj" fmla="val 2703"/>
            </a:avLst>
          </a:prstGeom>
          <a:solidFill>
            <a:srgbClr val="FDEBDD"/>
          </a:solidFill>
          <a:ln w="12700">
            <a:solidFill>
              <a:srgbClr val="FDEBDD"/>
            </a:solidFill>
            <a:prstDash val="solid"/>
          </a:ln>
        </p:spPr>
      </p:sp>
      <p:sp>
        <p:nvSpPr>
          <p:cNvPr id="10" name="Text 5"/>
          <p:cNvSpPr txBox="1"/>
          <p:nvPr/>
        </p:nvSpPr>
        <p:spPr>
          <a:xfrm>
            <a:off x="6812280" y="1371600"/>
            <a:ext cx="4663440" cy="365760"/>
          </a:xfrm>
          <a:prstGeom prst="rect">
            <a:avLst/>
          </a:prstGeom>
          <a:noFill/>
          <a:ln/>
        </p:spPr>
        <p:txBody>
          <a:bodyPr wrap="square" lIns="0" tIns="0" rIns="0" bIns="0" rtlCol="0" anchor="ctr"/>
          <a:lstStyle/>
          <a:p>
            <a:pPr indent="0" marL="0">
              <a:buNone/>
            </a:pPr>
            <a:r>
              <a:rPr lang="en-US" sz="1700" b="1" dirty="0">
                <a:solidFill>
                  <a:srgbClr val="E8702A"/>
                </a:solidFill>
                <a:latin typeface="Cambria" pitchFamily="34" charset="0"/>
                <a:ea typeface="Cambria" pitchFamily="34" charset="-122"/>
                <a:cs typeface="Cambria" pitchFamily="34" charset="-120"/>
              </a:rPr>
              <a:t>Conservación de la masa</a:t>
            </a:r>
            <a:endParaRPr lang="en-US" sz="1700" dirty="0"/>
          </a:p>
        </p:txBody>
      </p:sp>
      <p:sp>
        <p:nvSpPr>
          <p:cNvPr id="11" name="Text 6"/>
          <p:cNvSpPr txBox="1"/>
          <p:nvPr/>
        </p:nvSpPr>
        <p:spPr>
          <a:xfrm>
            <a:off x="6812280" y="1828800"/>
            <a:ext cx="4663440" cy="2743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B1B1F"/>
                </a:solidFill>
              </a:rPr>
              <a:t>El grano de PBAN se talla para un empuje regresivo: máximo al despegue y menor cerca de Max-Q</a:t>
            </a:r>
            <a:endParaRPr lang="en-US" sz="1400" dirty="0"/>
          </a:p>
          <a:p>
            <a:pPr marL="342900" indent="-342900">
              <a:spcAft>
                <a:spcPts val="800"/>
              </a:spcAft>
              <a:buSzPct val="100000"/>
              <a:buChar char="•"/>
            </a:pPr>
            <a:r>
              <a:rPr lang="en-US" sz="1400" dirty="0">
                <a:solidFill>
                  <a:srgbClr val="1B1B1F"/>
                </a:solidFill>
              </a:rPr>
              <a:t>El gasto másico sigue al empuje: ṁ(t) = T(t) / (Isp·g₀)</a:t>
            </a:r>
            <a:endParaRPr lang="en-US" sz="1400" dirty="0"/>
          </a:p>
          <a:p>
            <a:pPr marL="342900" indent="-342900">
              <a:spcAft>
                <a:spcPts val="800"/>
              </a:spcAft>
              <a:buSzPct val="100000"/>
              <a:buChar char="•"/>
            </a:pPr>
            <a:r>
              <a:rPr lang="en-US" sz="1400" dirty="0">
                <a:solidFill>
                  <a:srgbClr val="1B1B1F"/>
                </a:solidFill>
              </a:rPr>
              <a:t>En 126 s los SRB queman exactamente sus 1 257 t de propelente</a:t>
            </a:r>
            <a:endParaRPr lang="en-US" sz="1400" dirty="0"/>
          </a:p>
          <a:p>
            <a:pPr marL="342900" indent="-342900">
              <a:spcAft>
                <a:spcPts val="800"/>
              </a:spcAft>
              <a:buSzPct val="100000"/>
              <a:buChar char="•"/>
            </a:pPr>
            <a:r>
              <a:rPr lang="en-US" sz="1400" b="1" dirty="0">
                <a:solidFill>
                  <a:srgbClr val="1B1B1F"/>
                </a:solidFill>
              </a:rPr>
              <a:t>Condición: </a:t>
            </a:r>
            <a:pPr indent="0" marL="0">
              <a:spcAft>
                <a:spcPts val="800"/>
              </a:spcAft>
              <a:buNone/>
            </a:pPr>
            <a:r>
              <a:rPr lang="en-US" sz="1400" dirty="0">
                <a:solidFill>
                  <a:srgbClr val="1B1B1F"/>
                </a:solidFill>
              </a:rPr>
              <a:t>∫ṁ dt = m_p fija el factor de escala k</a:t>
            </a:r>
            <a:endParaRPr lang="en-US" sz="1400" dirty="0"/>
          </a:p>
        </p:txBody>
      </p:sp>
      <p:sp>
        <p:nvSpPr>
          <p:cNvPr id="12" name="Shape 7"/>
          <p:cNvSpPr/>
          <p:nvPr/>
        </p:nvSpPr>
        <p:spPr>
          <a:xfrm>
            <a:off x="6583680" y="4800600"/>
            <a:ext cx="5029200" cy="1143000"/>
          </a:xfrm>
          <a:prstGeom prst="roundRect">
            <a:avLst>
              <a:gd name="adj" fmla="val 8000"/>
            </a:avLst>
          </a:prstGeom>
          <a:solidFill>
            <a:srgbClr val="EEF2F7"/>
          </a:solidFill>
          <a:ln w="12700">
            <a:solidFill>
              <a:srgbClr val="EEF2F7"/>
            </a:solidFill>
            <a:prstDash val="solid"/>
          </a:ln>
        </p:spPr>
      </p:sp>
      <p:sp>
        <p:nvSpPr>
          <p:cNvPr id="13" name="Text 8"/>
          <p:cNvSpPr txBox="1"/>
          <p:nvPr/>
        </p:nvSpPr>
        <p:spPr>
          <a:xfrm>
            <a:off x="6583680" y="4873752"/>
            <a:ext cx="5029200" cy="640080"/>
          </a:xfrm>
          <a:prstGeom prst="rect">
            <a:avLst/>
          </a:prstGeom>
          <a:noFill/>
          <a:ln/>
        </p:spPr>
        <p:txBody>
          <a:bodyPr wrap="square" lIns="0" tIns="0" rIns="0" bIns="0" rtlCol="0" anchor="ctr"/>
          <a:lstStyle/>
          <a:p>
            <a:pPr algn="ctr" indent="0" marL="0">
              <a:buNone/>
            </a:pPr>
            <a:r>
              <a:rPr lang="en-US" sz="3000" b="1" dirty="0">
                <a:solidFill>
                  <a:srgbClr val="E8702A"/>
                </a:solidFill>
                <a:latin typeface="Cambria" pitchFamily="34" charset="0"/>
                <a:ea typeface="Cambria" pitchFamily="34" charset="-122"/>
                <a:cs typeface="Cambria" pitchFamily="34" charset="-120"/>
              </a:rPr>
              <a:t>1.0033</a:t>
            </a:r>
            <a:endParaRPr lang="en-US" sz="3000" dirty="0"/>
          </a:p>
        </p:txBody>
      </p:sp>
      <p:sp>
        <p:nvSpPr>
          <p:cNvPr id="14" name="Text 9"/>
          <p:cNvSpPr txBox="1"/>
          <p:nvPr/>
        </p:nvSpPr>
        <p:spPr>
          <a:xfrm>
            <a:off x="6675120" y="5495544"/>
            <a:ext cx="4846320" cy="365760"/>
          </a:xfrm>
          <a:prstGeom prst="rect">
            <a:avLst/>
          </a:prstGeom>
          <a:noFill/>
          <a:ln/>
        </p:spPr>
        <p:txBody>
          <a:bodyPr wrap="square" lIns="0" tIns="0" rIns="0" bIns="0" rtlCol="0" anchor="ctr"/>
          <a:lstStyle/>
          <a:p>
            <a:pPr algn="ctr" indent="0" marL="0">
              <a:buNone/>
            </a:pPr>
            <a:r>
              <a:rPr lang="en-US" sz="1250" dirty="0">
                <a:solidFill>
                  <a:srgbClr val="52514E"/>
                </a:solidFill>
              </a:rPr>
              <a:t>factor k ≈ 1: los datos públicos son coherentes</a:t>
            </a:r>
            <a:endParaRPr lang="en-US" sz="1250" dirty="0"/>
          </a:p>
        </p:txBody>
      </p:sp>
      <p:sp>
        <p:nvSpPr>
          <p:cNvPr id="15" name="Shape 10"/>
          <p:cNvSpPr/>
          <p:nvPr/>
        </p:nvSpPr>
        <p:spPr>
          <a:xfrm>
            <a:off x="548640" y="5120640"/>
            <a:ext cx="5806440" cy="941832"/>
          </a:xfrm>
          <a:prstGeom prst="roundRect">
            <a:avLst>
              <a:gd name="adj" fmla="val 7767"/>
            </a:avLst>
          </a:prstGeom>
          <a:solidFill>
            <a:srgbClr val="F1F3F6"/>
          </a:solidFill>
          <a:ln w="9525">
            <a:solidFill>
              <a:srgbClr val="D5DAE1"/>
            </a:solidFill>
            <a:prstDash val="solid"/>
          </a:ln>
        </p:spPr>
      </p:sp>
      <p:sp>
        <p:nvSpPr>
          <p:cNvPr id="16" name="Text 11"/>
          <p:cNvSpPr txBox="1"/>
          <p:nvPr/>
        </p:nvSpPr>
        <p:spPr>
          <a:xfrm>
            <a:off x="658368" y="5120640"/>
            <a:ext cx="5586984" cy="941832"/>
          </a:xfrm>
          <a:prstGeom prst="rect">
            <a:avLst/>
          </a:prstGeom>
          <a:noFill/>
          <a:ln/>
        </p:spPr>
        <p:txBody>
          <a:bodyPr wrap="square" lIns="0" tIns="0" rIns="0" bIns="0" rtlCol="0" anchor="ctr"/>
          <a:lstStyle/>
          <a:p>
            <a:pPr indent="0" marL="0">
              <a:buNone/>
            </a:pPr>
            <a:r>
              <a:rPr lang="en-US" sz="1150" dirty="0">
                <a:solidFill>
                  <a:srgbClr val="52514E"/>
                </a:solidFill>
                <a:latin typeface="Courier New" pitchFamily="34" charset="0"/>
                <a:ea typeface="Courier New" pitchFamily="34" charset="-122"/>
                <a:cs typeface="Courier New" pitchFamily="34" charset="-120"/>
              </a:rPr>
              <a:t>src/artemis_sim/ascent_solver.py</a:t>
            </a:r>
            <a:endParaRPr lang="en-US" sz="1150" dirty="0"/>
          </a:p>
          <a:p>
            <a:pPr indent="0" marL="0">
              <a:buNone/>
            </a:pPr>
            <a:r>
              <a:rPr lang="en-US" sz="1150" b="1" dirty="0">
                <a:solidFill>
                  <a:srgbClr val="0B1D3A"/>
                </a:solidFill>
                <a:latin typeface="Courier New" pitchFamily="34" charset="0"/>
                <a:ea typeface="Courier New" pitchFamily="34" charset="-122"/>
                <a:cs typeface="Courier New" pitchFamily="34" charset="-120"/>
              </a:rPr>
              <a:t>SRB_THRUST_PROFILE · srb_thrust_fraction(t, tb) · srb_thrust_scale(spec, tb)</a:t>
            </a:r>
            <a:endParaRPr lang="en-US" sz="1150" dirty="0"/>
          </a:p>
          <a:p>
            <a:pPr indent="0" marL="0">
              <a:buNone/>
            </a:pPr>
            <a:r>
              <a:rPr lang="en-US" sz="1150" b="1" dirty="0">
                <a:solidFill>
                  <a:srgbClr val="0B1D3A"/>
                </a:solidFill>
                <a:latin typeface="Courier New" pitchFamily="34" charset="0"/>
                <a:ea typeface="Courier New" pitchFamily="34" charset="-122"/>
                <a:cs typeface="Courier New" pitchFamily="34" charset="-120"/>
              </a:rPr>
              <a:t>physics_engine.py → compute_thrust(), compute_mass_flow()</a:t>
            </a:r>
            <a:endParaRPr lang="en-US" sz="115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000" b="1" dirty="0">
                <a:solidFill>
                  <a:srgbClr val="0B1D3A"/>
                </a:solidFill>
                <a:latin typeface="Cambria" pitchFamily="34" charset="0"/>
                <a:ea typeface="Cambria" pitchFamily="34" charset="-122"/>
                <a:cs typeface="Cambria" pitchFamily="34" charset="-120"/>
              </a:rPr>
              <a:t>Atmósfera, número de Mach y arrastre</a:t>
            </a:r>
            <a:endParaRPr lang="en-US" sz="3000" dirty="0"/>
          </a:p>
        </p:txBody>
      </p:sp>
      <p:sp>
        <p:nvSpPr>
          <p:cNvPr id="3" name="Text 1"/>
          <p:cNvSpPr txBox="1"/>
          <p:nvPr/>
        </p:nvSpPr>
        <p:spPr>
          <a:xfrm>
            <a:off x="548640" y="1234440"/>
            <a:ext cx="6035040" cy="347472"/>
          </a:xfrm>
          <a:prstGeom prst="rect">
            <a:avLst/>
          </a:prstGeom>
          <a:noFill/>
          <a:ln/>
        </p:spPr>
        <p:txBody>
          <a:bodyPr wrap="square" lIns="0" tIns="0" rIns="0" bIns="0" rtlCol="0" anchor="ctr"/>
          <a:lstStyle/>
          <a:p>
            <a:pPr indent="0" marL="0">
              <a:buNone/>
            </a:pPr>
            <a:r>
              <a:rPr lang="en-US" sz="1500" b="1" dirty="0">
                <a:solidFill>
                  <a:srgbClr val="0B1D3A"/>
                </a:solidFill>
              </a:rPr>
              <a:t>Densidad exponencial</a:t>
            </a:r>
            <a:endParaRPr lang="en-US" sz="1500" dirty="0"/>
          </a:p>
        </p:txBody>
      </p:sp>
      <p:pic>
        <p:nvPicPr>
          <p:cNvPr id="4" name="Image 0" descr="/home/mayday3003/Documents/githubrepos/ArtemisIV-flight-dynamics/docs/presentation/assets/eq_rho.png">    </p:cNvPr>
          <p:cNvPicPr>
            <a:picLocks noChangeAspect="1"/>
          </p:cNvPicPr>
          <p:nvPr/>
        </p:nvPicPr>
        <p:blipFill>
          <a:blip r:embed="rId1"/>
          <a:stretch>
            <a:fillRect/>
          </a:stretch>
        </p:blipFill>
        <p:spPr>
          <a:xfrm>
            <a:off x="731520" y="1645920"/>
            <a:ext cx="1717742" cy="350132"/>
          </a:xfrm>
          <a:prstGeom prst="rect">
            <a:avLst/>
          </a:prstGeom>
        </p:spPr>
      </p:pic>
      <p:sp>
        <p:nvSpPr>
          <p:cNvPr id="5" name="Text 2"/>
          <p:cNvSpPr txBox="1"/>
          <p:nvPr/>
        </p:nvSpPr>
        <p:spPr>
          <a:xfrm>
            <a:off x="548640" y="2197220"/>
            <a:ext cx="6035040" cy="347472"/>
          </a:xfrm>
          <a:prstGeom prst="rect">
            <a:avLst/>
          </a:prstGeom>
          <a:noFill/>
          <a:ln/>
        </p:spPr>
        <p:txBody>
          <a:bodyPr wrap="square" lIns="0" tIns="0" rIns="0" bIns="0" rtlCol="0" anchor="ctr"/>
          <a:lstStyle/>
          <a:p>
            <a:pPr indent="0" marL="0">
              <a:buNone/>
            </a:pPr>
            <a:r>
              <a:rPr lang="en-US" sz="1500" b="1" dirty="0">
                <a:solidFill>
                  <a:srgbClr val="0B1D3A"/>
                </a:solidFill>
              </a:rPr>
              <a:t>Temperatura US Standard Atmosphere 1976 → sonido y Mach</a:t>
            </a:r>
            <a:endParaRPr lang="en-US" sz="1500" dirty="0"/>
          </a:p>
        </p:txBody>
      </p:sp>
      <p:pic>
        <p:nvPicPr>
          <p:cNvPr id="6" name="Image 1" descr="/home/mayday3003/Documents/githubrepos/ArtemisIV-flight-dynamics/docs/presentation/assets/eq_sound.png">    </p:cNvPr>
          <p:cNvPicPr>
            <a:picLocks noChangeAspect="1"/>
          </p:cNvPicPr>
          <p:nvPr/>
        </p:nvPicPr>
        <p:blipFill>
          <a:blip r:embed="rId2"/>
          <a:stretch>
            <a:fillRect/>
          </a:stretch>
        </p:blipFill>
        <p:spPr>
          <a:xfrm>
            <a:off x="731520" y="2608700"/>
            <a:ext cx="3187100" cy="583553"/>
          </a:xfrm>
          <a:prstGeom prst="rect">
            <a:avLst/>
          </a:prstGeom>
        </p:spPr>
      </p:pic>
      <p:sp>
        <p:nvSpPr>
          <p:cNvPr id="7" name="Text 3"/>
          <p:cNvSpPr txBox="1"/>
          <p:nvPr/>
        </p:nvSpPr>
        <p:spPr>
          <a:xfrm>
            <a:off x="548640" y="3393422"/>
            <a:ext cx="6035040" cy="347472"/>
          </a:xfrm>
          <a:prstGeom prst="rect">
            <a:avLst/>
          </a:prstGeom>
          <a:noFill/>
          <a:ln/>
        </p:spPr>
        <p:txBody>
          <a:bodyPr wrap="square" lIns="0" tIns="0" rIns="0" bIns="0" rtlCol="0" anchor="ctr"/>
          <a:lstStyle/>
          <a:p>
            <a:pPr indent="0" marL="0">
              <a:buNone/>
            </a:pPr>
            <a:r>
              <a:rPr lang="en-US" sz="1500" b="1" dirty="0">
                <a:solidFill>
                  <a:srgbClr val="0B1D3A"/>
                </a:solidFill>
              </a:rPr>
              <a:t>Arrastre, opuesto a la velocidad relativa</a:t>
            </a:r>
            <a:endParaRPr lang="en-US" sz="1500" dirty="0"/>
          </a:p>
        </p:txBody>
      </p:sp>
      <p:pic>
        <p:nvPicPr>
          <p:cNvPr id="8" name="Image 2" descr="/home/mayday3003/Documents/githubrepos/ArtemisIV-flight-dynamics/docs/presentation/assets/eq_drag.png">    </p:cNvPr>
          <p:cNvPicPr>
            <a:picLocks noChangeAspect="1"/>
          </p:cNvPicPr>
          <p:nvPr/>
        </p:nvPicPr>
        <p:blipFill>
          <a:blip r:embed="rId3"/>
          <a:stretch>
            <a:fillRect/>
          </a:stretch>
        </p:blipFill>
        <p:spPr>
          <a:xfrm>
            <a:off x="731520" y="3804902"/>
            <a:ext cx="3570150" cy="335169"/>
          </a:xfrm>
          <a:prstGeom prst="rect">
            <a:avLst/>
          </a:prstGeom>
        </p:spPr>
      </p:pic>
      <p:sp>
        <p:nvSpPr>
          <p:cNvPr id="9" name="Shape 4"/>
          <p:cNvSpPr/>
          <p:nvPr/>
        </p:nvSpPr>
        <p:spPr>
          <a:xfrm>
            <a:off x="6949440" y="1234440"/>
            <a:ext cx="4663440" cy="3520440"/>
          </a:xfrm>
          <a:prstGeom prst="roundRect">
            <a:avLst>
              <a:gd name="adj" fmla="val 2597"/>
            </a:avLst>
          </a:prstGeom>
          <a:solidFill>
            <a:srgbClr val="EEF2F7"/>
          </a:solidFill>
          <a:ln w="12700">
            <a:solidFill>
              <a:srgbClr val="EEF2F7"/>
            </a:solidFill>
            <a:prstDash val="solid"/>
          </a:ln>
        </p:spPr>
      </p:sp>
      <p:sp>
        <p:nvSpPr>
          <p:cNvPr id="10" name="Text 5"/>
          <p:cNvSpPr txBox="1"/>
          <p:nvPr/>
        </p:nvSpPr>
        <p:spPr>
          <a:xfrm>
            <a:off x="7178040" y="1371600"/>
            <a:ext cx="4206240" cy="365760"/>
          </a:xfrm>
          <a:prstGeom prst="rect">
            <a:avLst/>
          </a:prstGeom>
          <a:noFill/>
          <a:ln/>
        </p:spPr>
        <p:txBody>
          <a:bodyPr wrap="square" lIns="0" tIns="0" rIns="0" bIns="0" rtlCol="0" anchor="ctr"/>
          <a:lstStyle/>
          <a:p>
            <a:pPr indent="0" marL="0">
              <a:buNone/>
            </a:pPr>
            <a:r>
              <a:rPr lang="en-US" sz="1700" b="1" dirty="0">
                <a:solidFill>
                  <a:srgbClr val="0B1D3A"/>
                </a:solidFill>
                <a:latin typeface="Cambria" pitchFamily="34" charset="0"/>
                <a:ea typeface="Cambria" pitchFamily="34" charset="-122"/>
                <a:cs typeface="Cambria" pitchFamily="34" charset="-120"/>
              </a:rPr>
              <a:t>Cd(M): tabla interpolada</a:t>
            </a:r>
            <a:endParaRPr lang="en-US" sz="17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7178040" y="1874520"/>
          <a:ext cx="4206240" cy="914400"/>
        </p:xfrm>
        <a:graphic>
          <a:graphicData uri="http://schemas.openxmlformats.org/drawingml/2006/table">
            <a:tbl>
              <a:tblPr/>
              <a:tblGrid>
                <a:gridCol w="841248"/>
                <a:gridCol w="841248"/>
                <a:gridCol w="841248"/>
                <a:gridCol w="841248"/>
                <a:gridCol w="841248"/>
              </a:tblGrid>
              <a:tr h="384048">
                <a:tc>
                  <a:txBody>
                    <a:bodyPr/>
                    <a:lstStyle/>
                    <a:p>
                      <a:pPr algn="ctr" indent="0" marL="0">
                        <a:buNone/>
                      </a:pPr>
                      <a:r>
                        <a:rPr lang="en-US" sz="1400" b="1" dirty="0">
                          <a:solidFill>
                            <a:srgbClr val="FFFFFF"/>
                          </a:solidFill>
                        </a:rPr>
                        <a:t>Mach</a:t>
                      </a:r>
                      <a:endParaRPr lang="en-US" sz="1400" dirty="0"/>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0B1D3A"/>
                    </a:solidFill>
                  </a:tcPr>
                </a:tc>
                <a:tc>
                  <a:txBody>
                    <a:bodyPr/>
                    <a:lstStyle/>
                    <a:p>
                      <a:pPr algn="ctr" indent="0" marL="0">
                        <a:buNone/>
                      </a:pPr>
                      <a:r>
                        <a:rPr lang="en-US" sz="1400" b="1" dirty="0">
                          <a:solidFill>
                            <a:srgbClr val="FFFFFF"/>
                          </a:solidFill>
                        </a:rPr>
                        <a:t>0.6</a:t>
                      </a:r>
                      <a:endParaRPr lang="en-US" sz="1400" dirty="0"/>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0B1D3A"/>
                    </a:solidFill>
                  </a:tcPr>
                </a:tc>
                <a:tc>
                  <a:txBody>
                    <a:bodyPr/>
                    <a:lstStyle/>
                    <a:p>
                      <a:pPr algn="ctr" indent="0" marL="0">
                        <a:buNone/>
                      </a:pPr>
                      <a:r>
                        <a:rPr lang="en-US" sz="1400" b="1" dirty="0">
                          <a:solidFill>
                            <a:srgbClr val="FFFFFF"/>
                          </a:solidFill>
                        </a:rPr>
                        <a:t>1.05</a:t>
                      </a:r>
                      <a:endParaRPr lang="en-US" sz="1400" dirty="0"/>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0B1D3A"/>
                    </a:solidFill>
                  </a:tcPr>
                </a:tc>
                <a:tc>
                  <a:txBody>
                    <a:bodyPr/>
                    <a:lstStyle/>
                    <a:p>
                      <a:pPr algn="ctr" indent="0" marL="0">
                        <a:buNone/>
                      </a:pPr>
                      <a:r>
                        <a:rPr lang="en-US" sz="1400" b="1" dirty="0">
                          <a:solidFill>
                            <a:srgbClr val="FFFFFF"/>
                          </a:solidFill>
                        </a:rPr>
                        <a:t>2.0</a:t>
                      </a:r>
                      <a:endParaRPr lang="en-US" sz="1400" dirty="0"/>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0B1D3A"/>
                    </a:solidFill>
                  </a:tcPr>
                </a:tc>
                <a:tc>
                  <a:txBody>
                    <a:bodyPr/>
                    <a:lstStyle/>
                    <a:p>
                      <a:pPr algn="ctr" indent="0" marL="0">
                        <a:buNone/>
                      </a:pPr>
                      <a:r>
                        <a:rPr lang="en-US" sz="1400" b="1" dirty="0">
                          <a:solidFill>
                            <a:srgbClr val="FFFFFF"/>
                          </a:solidFill>
                        </a:rPr>
                        <a:t>5.0</a:t>
                      </a:r>
                      <a:endParaRPr lang="en-US" sz="1400" dirty="0"/>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0B1D3A"/>
                    </a:solidFill>
                  </a:tcPr>
                </a:tc>
              </a:tr>
              <a:tr h="384048">
                <a:tc>
                  <a:txBody>
                    <a:bodyPr/>
                    <a:lstStyle/>
                    <a:p>
                      <a:pPr algn="ctr" indent="0" marL="0">
                        <a:buNone/>
                      </a:pPr>
                      <a:r>
                        <a:rPr lang="en-US" sz="1400" b="1" dirty="0">
                          <a:solidFill>
                            <a:srgbClr val="1B1B1F"/>
                          </a:solidFill>
                        </a:rPr>
                        <a:t>Cd</a:t>
                      </a:r>
                      <a:endParaRPr lang="en-US" sz="1400" dirty="0"/>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1B1F"/>
                          </a:solidFill>
                        </a:rPr>
                        <a:t>0.30</a:t>
                      </a:r>
                      <a:endParaRPr lang="en-US" sz="1400" dirty="0"/>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1B1F"/>
                          </a:solidFill>
                        </a:rPr>
                        <a:t>0.55</a:t>
                      </a:r>
                      <a:endParaRPr lang="en-US" sz="1400" dirty="0"/>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1B1F"/>
                          </a:solidFill>
                        </a:rPr>
                        <a:t>0.40</a:t>
                      </a:r>
                      <a:endParaRPr lang="en-US" sz="1400" dirty="0"/>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1B1F"/>
                          </a:solidFill>
                        </a:rPr>
                        <a:t>0.26</a:t>
                      </a:r>
                      <a:endParaRPr lang="en-US" sz="1400" dirty="0"/>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bl>
          </a:graphicData>
        </a:graphic>
      </p:graphicFrame>
      <p:sp>
        <p:nvSpPr>
          <p:cNvPr id="12" name="Text 6"/>
          <p:cNvSpPr txBox="1"/>
          <p:nvPr/>
        </p:nvSpPr>
        <p:spPr>
          <a:xfrm>
            <a:off x="7178040" y="2880360"/>
            <a:ext cx="4206240" cy="18288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B1B1F"/>
                </a:solidFill>
              </a:rPr>
              <a:t>Pico transónico por arrastre de onda (M ≈ 1)</a:t>
            </a:r>
            <a:endParaRPr lang="en-US" sz="1400" dirty="0"/>
          </a:p>
          <a:p>
            <a:pPr marL="342900" indent="-342900">
              <a:spcAft>
                <a:spcPts val="800"/>
              </a:spcAft>
              <a:buSzPct val="100000"/>
              <a:buChar char="•"/>
            </a:pPr>
            <a:r>
              <a:rPr lang="en-US" sz="1400" dirty="0">
                <a:solidFill>
                  <a:srgbClr val="1B1B1F"/>
                </a:solidFill>
              </a:rPr>
              <a:t>A_ref = 55.4 m² (diámetro de 8.4 m)</a:t>
            </a:r>
            <a:endParaRPr lang="en-US" sz="1400" dirty="0"/>
          </a:p>
          <a:p>
            <a:pPr marL="342900" indent="-342900">
              <a:spcAft>
                <a:spcPts val="800"/>
              </a:spcAft>
              <a:buSzPct val="100000"/>
              <a:buChar char="•"/>
            </a:pPr>
            <a:r>
              <a:rPr lang="en-US" sz="1400" dirty="0">
                <a:solidFill>
                  <a:srgbClr val="1B1B1F"/>
                </a:solidFill>
              </a:rPr>
              <a:t>El arrastre se anula por encima de 100 km</a:t>
            </a:r>
            <a:endParaRPr lang="en-US" sz="1400" dirty="0"/>
          </a:p>
        </p:txBody>
      </p:sp>
      <p:sp>
        <p:nvSpPr>
          <p:cNvPr id="13" name="Shape 7"/>
          <p:cNvSpPr/>
          <p:nvPr/>
        </p:nvSpPr>
        <p:spPr>
          <a:xfrm>
            <a:off x="548640" y="5074920"/>
            <a:ext cx="11064240" cy="941832"/>
          </a:xfrm>
          <a:prstGeom prst="roundRect">
            <a:avLst>
              <a:gd name="adj" fmla="val 7767"/>
            </a:avLst>
          </a:prstGeom>
          <a:solidFill>
            <a:srgbClr val="F1F3F6"/>
          </a:solidFill>
          <a:ln w="9525">
            <a:solidFill>
              <a:srgbClr val="D5DAE1"/>
            </a:solidFill>
            <a:prstDash val="solid"/>
          </a:ln>
        </p:spPr>
      </p:sp>
      <p:sp>
        <p:nvSpPr>
          <p:cNvPr id="14" name="Text 8"/>
          <p:cNvSpPr txBox="1"/>
          <p:nvPr/>
        </p:nvSpPr>
        <p:spPr>
          <a:xfrm>
            <a:off x="658368" y="5074920"/>
            <a:ext cx="10844784" cy="941832"/>
          </a:xfrm>
          <a:prstGeom prst="rect">
            <a:avLst/>
          </a:prstGeom>
          <a:noFill/>
          <a:ln/>
        </p:spPr>
        <p:txBody>
          <a:bodyPr wrap="square" lIns="0" tIns="0" rIns="0" bIns="0" rtlCol="0" anchor="ctr"/>
          <a:lstStyle/>
          <a:p>
            <a:pPr indent="0" marL="0">
              <a:buNone/>
            </a:pPr>
            <a:r>
              <a:rPr lang="en-US" sz="1150" dirty="0">
                <a:solidFill>
                  <a:srgbClr val="52514E"/>
                </a:solidFill>
                <a:latin typeface="Courier New" pitchFamily="34" charset="0"/>
                <a:ea typeface="Courier New" pitchFamily="34" charset="-122"/>
                <a:cs typeface="Courier New" pitchFamily="34" charset="-120"/>
              </a:rPr>
              <a:t>src/artemis_sim/physics_engine.py</a:t>
            </a:r>
            <a:endParaRPr lang="en-US" sz="1150" dirty="0"/>
          </a:p>
          <a:p>
            <a:pPr indent="0" marL="0">
              <a:buNone/>
            </a:pPr>
            <a:r>
              <a:rPr lang="en-US" sz="1150" b="1" dirty="0">
                <a:solidFill>
                  <a:srgbClr val="0B1D3A"/>
                </a:solidFill>
                <a:latin typeface="Courier New" pitchFamily="34" charset="0"/>
                <a:ea typeface="Courier New" pitchFamily="34" charset="-122"/>
                <a:cs typeface="Courier New" pitchFamily="34" charset="-120"/>
              </a:rPr>
              <a:t>compute_atmospheric_temperature() · compute_speed_of_sound() · compute_mach_number()</a:t>
            </a:r>
            <a:endParaRPr lang="en-US" sz="1150" dirty="0"/>
          </a:p>
          <a:p>
            <a:pPr indent="0" marL="0">
              <a:buNone/>
            </a:pPr>
            <a:r>
              <a:rPr lang="en-US" sz="1150" b="1" dirty="0">
                <a:solidFill>
                  <a:srgbClr val="0B1D3A"/>
                </a:solidFill>
                <a:latin typeface="Courier New" pitchFamily="34" charset="0"/>
                <a:ea typeface="Courier New" pitchFamily="34" charset="-122"/>
                <a:cs typeface="Courier New" pitchFamily="34" charset="-120"/>
              </a:rPr>
              <a:t>compute_drag_coefficient(mach) · compute_aerodynamic_drag() · compute_dynamic_pressure()</a:t>
            </a:r>
            <a:endParaRPr lang="en-US" sz="115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000" b="1" dirty="0">
                <a:solidFill>
                  <a:srgbClr val="0B1D3A"/>
                </a:solidFill>
                <a:latin typeface="Cambria" pitchFamily="34" charset="0"/>
                <a:ea typeface="Cambria" pitchFamily="34" charset="-122"/>
                <a:cs typeface="Cambria" pitchFamily="34" charset="-120"/>
              </a:rPr>
              <a:t>Guiado e integración RK45 con eventos</a:t>
            </a:r>
            <a:endParaRPr lang="en-US" sz="3000" dirty="0"/>
          </a:p>
        </p:txBody>
      </p:sp>
      <p:sp>
        <p:nvSpPr>
          <p:cNvPr id="3" name="Shape 1"/>
          <p:cNvSpPr/>
          <p:nvPr/>
        </p:nvSpPr>
        <p:spPr>
          <a:xfrm>
            <a:off x="548640" y="1234440"/>
            <a:ext cx="3566160" cy="1234440"/>
          </a:xfrm>
          <a:prstGeom prst="roundRect">
            <a:avLst>
              <a:gd name="adj" fmla="val 7407"/>
            </a:avLst>
          </a:prstGeom>
          <a:solidFill>
            <a:srgbClr val="EEF2F7"/>
          </a:solidFill>
          <a:ln w="12700">
            <a:solidFill>
              <a:srgbClr val="EEF2F7"/>
            </a:solidFill>
            <a:prstDash val="solid"/>
          </a:ln>
        </p:spPr>
      </p:sp>
      <p:sp>
        <p:nvSpPr>
          <p:cNvPr id="4" name="Text 2"/>
          <p:cNvSpPr txBox="1"/>
          <p:nvPr/>
        </p:nvSpPr>
        <p:spPr>
          <a:xfrm>
            <a:off x="731520" y="1298448"/>
            <a:ext cx="3200400" cy="365760"/>
          </a:xfrm>
          <a:prstGeom prst="rect">
            <a:avLst/>
          </a:prstGeom>
          <a:noFill/>
          <a:ln/>
        </p:spPr>
        <p:txBody>
          <a:bodyPr wrap="square" lIns="0" tIns="0" rIns="0" bIns="0" rtlCol="0" anchor="ctr"/>
          <a:lstStyle/>
          <a:p>
            <a:pPr indent="0" marL="0">
              <a:buNone/>
            </a:pPr>
            <a:r>
              <a:rPr lang="en-US" sz="1400" b="1" dirty="0">
                <a:solidFill>
                  <a:srgbClr val="E8702A"/>
                </a:solidFill>
              </a:rPr>
              <a:t>0–10 s</a:t>
            </a:r>
            <a:endParaRPr lang="en-US" sz="1400" dirty="0"/>
          </a:p>
        </p:txBody>
      </p:sp>
      <p:sp>
        <p:nvSpPr>
          <p:cNvPr id="5" name="Text 3"/>
          <p:cNvSpPr txBox="1"/>
          <p:nvPr/>
        </p:nvSpPr>
        <p:spPr>
          <a:xfrm>
            <a:off x="731520" y="1645920"/>
            <a:ext cx="3200400" cy="365760"/>
          </a:xfrm>
          <a:prstGeom prst="rect">
            <a:avLst/>
          </a:prstGeom>
          <a:noFill/>
          <a:ln/>
        </p:spPr>
        <p:txBody>
          <a:bodyPr wrap="square" lIns="0" tIns="0" rIns="0" bIns="0" rtlCol="0" anchor="ctr"/>
          <a:lstStyle/>
          <a:p>
            <a:pPr indent="0" marL="0">
              <a:buNone/>
            </a:pPr>
            <a:r>
              <a:rPr lang="en-US" sz="1600" b="1" dirty="0">
                <a:solidFill>
                  <a:srgbClr val="0B1D3A"/>
                </a:solidFill>
              </a:rPr>
              <a:t>Ascenso vertical</a:t>
            </a:r>
            <a:endParaRPr lang="en-US" sz="1600" dirty="0"/>
          </a:p>
        </p:txBody>
      </p:sp>
      <p:sp>
        <p:nvSpPr>
          <p:cNvPr id="6" name="Text 4"/>
          <p:cNvSpPr txBox="1"/>
          <p:nvPr/>
        </p:nvSpPr>
        <p:spPr>
          <a:xfrm>
            <a:off x="731520" y="2011680"/>
            <a:ext cx="3200400" cy="365760"/>
          </a:xfrm>
          <a:prstGeom prst="rect">
            <a:avLst/>
          </a:prstGeom>
          <a:noFill/>
          <a:ln/>
        </p:spPr>
        <p:txBody>
          <a:bodyPr wrap="square" lIns="0" tIns="0" rIns="0" bIns="0" rtlCol="0" anchor="ctr"/>
          <a:lstStyle/>
          <a:p>
            <a:pPr indent="0" marL="0">
              <a:buNone/>
            </a:pPr>
            <a:r>
              <a:rPr lang="en-US" sz="1300" dirty="0">
                <a:solidFill>
                  <a:srgbClr val="52514E"/>
                </a:solidFill>
              </a:rPr>
              <a:t>despeje de la torre</a:t>
            </a:r>
            <a:endParaRPr lang="en-US" sz="1300" dirty="0"/>
          </a:p>
        </p:txBody>
      </p:sp>
      <p:sp>
        <p:nvSpPr>
          <p:cNvPr id="7" name="Shape 5"/>
          <p:cNvSpPr/>
          <p:nvPr/>
        </p:nvSpPr>
        <p:spPr>
          <a:xfrm>
            <a:off x="4297680" y="1234440"/>
            <a:ext cx="3566160" cy="1234440"/>
          </a:xfrm>
          <a:prstGeom prst="roundRect">
            <a:avLst>
              <a:gd name="adj" fmla="val 7407"/>
            </a:avLst>
          </a:prstGeom>
          <a:solidFill>
            <a:srgbClr val="EEF2F7"/>
          </a:solidFill>
          <a:ln w="12700">
            <a:solidFill>
              <a:srgbClr val="EEF2F7"/>
            </a:solidFill>
            <a:prstDash val="solid"/>
          </a:ln>
        </p:spPr>
      </p:sp>
      <p:sp>
        <p:nvSpPr>
          <p:cNvPr id="8" name="Text 6"/>
          <p:cNvSpPr txBox="1"/>
          <p:nvPr/>
        </p:nvSpPr>
        <p:spPr>
          <a:xfrm>
            <a:off x="4480560" y="1298448"/>
            <a:ext cx="3200400" cy="365760"/>
          </a:xfrm>
          <a:prstGeom prst="rect">
            <a:avLst/>
          </a:prstGeom>
          <a:noFill/>
          <a:ln/>
        </p:spPr>
        <p:txBody>
          <a:bodyPr wrap="square" lIns="0" tIns="0" rIns="0" bIns="0" rtlCol="0" anchor="ctr"/>
          <a:lstStyle/>
          <a:p>
            <a:pPr indent="0" marL="0">
              <a:buNone/>
            </a:pPr>
            <a:r>
              <a:rPr lang="en-US" sz="1400" b="1" dirty="0">
                <a:solidFill>
                  <a:srgbClr val="E8702A"/>
                </a:solidFill>
              </a:rPr>
              <a:t>10–126 s</a:t>
            </a:r>
            <a:endParaRPr lang="en-US" sz="1400" dirty="0"/>
          </a:p>
        </p:txBody>
      </p:sp>
      <p:sp>
        <p:nvSpPr>
          <p:cNvPr id="9" name="Text 7"/>
          <p:cNvSpPr txBox="1"/>
          <p:nvPr/>
        </p:nvSpPr>
        <p:spPr>
          <a:xfrm>
            <a:off x="4480560" y="1645920"/>
            <a:ext cx="3200400" cy="365760"/>
          </a:xfrm>
          <a:prstGeom prst="rect">
            <a:avLst/>
          </a:prstGeom>
          <a:noFill/>
          <a:ln/>
        </p:spPr>
        <p:txBody>
          <a:bodyPr wrap="square" lIns="0" tIns="0" rIns="0" bIns="0" rtlCol="0" anchor="ctr"/>
          <a:lstStyle/>
          <a:p>
            <a:pPr indent="0" marL="0">
              <a:buNone/>
            </a:pPr>
            <a:r>
              <a:rPr lang="en-US" sz="1600" b="1" dirty="0">
                <a:solidFill>
                  <a:srgbClr val="0B1D3A"/>
                </a:solidFill>
              </a:rPr>
              <a:t>Pitch kick + giro por gravedad</a:t>
            </a:r>
            <a:endParaRPr lang="en-US" sz="1600" dirty="0"/>
          </a:p>
        </p:txBody>
      </p:sp>
      <p:sp>
        <p:nvSpPr>
          <p:cNvPr id="10" name="Text 8"/>
          <p:cNvSpPr txBox="1"/>
          <p:nvPr/>
        </p:nvSpPr>
        <p:spPr>
          <a:xfrm>
            <a:off x="4480560" y="2011680"/>
            <a:ext cx="3200400" cy="365760"/>
          </a:xfrm>
          <a:prstGeom prst="rect">
            <a:avLst/>
          </a:prstGeom>
          <a:noFill/>
          <a:ln/>
        </p:spPr>
        <p:txBody>
          <a:bodyPr wrap="square" lIns="0" tIns="0" rIns="0" bIns="0" rtlCol="0" anchor="ctr"/>
          <a:lstStyle/>
          <a:p>
            <a:pPr indent="0" marL="0">
              <a:buNone/>
            </a:pPr>
            <a:r>
              <a:rPr lang="en-US" sz="1300" dirty="0">
                <a:solidFill>
                  <a:srgbClr val="52514E"/>
                </a:solidFill>
              </a:rPr>
              <a:t>û ∥ v_rel, ángulo de ataque nulo</a:t>
            </a:r>
            <a:endParaRPr lang="en-US" sz="1300" dirty="0"/>
          </a:p>
        </p:txBody>
      </p:sp>
      <p:sp>
        <p:nvSpPr>
          <p:cNvPr id="11" name="Shape 9"/>
          <p:cNvSpPr/>
          <p:nvPr/>
        </p:nvSpPr>
        <p:spPr>
          <a:xfrm>
            <a:off x="8046720" y="1234440"/>
            <a:ext cx="3566160" cy="1234440"/>
          </a:xfrm>
          <a:prstGeom prst="roundRect">
            <a:avLst>
              <a:gd name="adj" fmla="val 7407"/>
            </a:avLst>
          </a:prstGeom>
          <a:solidFill>
            <a:srgbClr val="0B1D3A"/>
          </a:solidFill>
          <a:ln w="12700">
            <a:solidFill>
              <a:srgbClr val="0B1D3A"/>
            </a:solidFill>
            <a:prstDash val="solid"/>
          </a:ln>
        </p:spPr>
      </p:sp>
      <p:sp>
        <p:nvSpPr>
          <p:cNvPr id="12" name="Text 10"/>
          <p:cNvSpPr txBox="1"/>
          <p:nvPr/>
        </p:nvSpPr>
        <p:spPr>
          <a:xfrm>
            <a:off x="8229600" y="1298448"/>
            <a:ext cx="3200400" cy="365760"/>
          </a:xfrm>
          <a:prstGeom prst="rect">
            <a:avLst/>
          </a:prstGeom>
          <a:noFill/>
          <a:ln/>
        </p:spPr>
        <p:txBody>
          <a:bodyPr wrap="square" lIns="0" tIns="0" rIns="0" bIns="0" rtlCol="0" anchor="ctr"/>
          <a:lstStyle/>
          <a:p>
            <a:pPr indent="0" marL="0">
              <a:buNone/>
            </a:pPr>
            <a:r>
              <a:rPr lang="en-US" sz="1400" b="1" dirty="0">
                <a:solidFill>
                  <a:srgbClr val="E8702A"/>
                </a:solidFill>
              </a:rPr>
              <a:t>126–480 s</a:t>
            </a:r>
            <a:endParaRPr lang="en-US" sz="1400" dirty="0"/>
          </a:p>
        </p:txBody>
      </p:sp>
      <p:sp>
        <p:nvSpPr>
          <p:cNvPr id="13" name="Text 11"/>
          <p:cNvSpPr txBox="1"/>
          <p:nvPr/>
        </p:nvSpPr>
        <p:spPr>
          <a:xfrm>
            <a:off x="8229600" y="1645920"/>
            <a:ext cx="3200400" cy="365760"/>
          </a:xfrm>
          <a:prstGeom prst="rect">
            <a:avLst/>
          </a:prstGeom>
          <a:noFill/>
          <a:ln/>
        </p:spPr>
        <p:txBody>
          <a:bodyPr wrap="square" lIns="0" tIns="0" rIns="0" bIns="0" rtlCol="0" anchor="ctr"/>
          <a:lstStyle/>
          <a:p>
            <a:pPr indent="0" marL="0">
              <a:buNone/>
            </a:pPr>
            <a:r>
              <a:rPr lang="en-US" sz="1600" b="1" dirty="0">
                <a:solidFill>
                  <a:srgbClr val="FFFFFF"/>
                </a:solidFill>
              </a:rPr>
              <a:t>Ley de tangente lineal</a:t>
            </a:r>
            <a:endParaRPr lang="en-US" sz="1600" dirty="0"/>
          </a:p>
        </p:txBody>
      </p:sp>
      <p:sp>
        <p:nvSpPr>
          <p:cNvPr id="14" name="Text 12"/>
          <p:cNvSpPr txBox="1"/>
          <p:nvPr/>
        </p:nvSpPr>
        <p:spPr>
          <a:xfrm>
            <a:off x="8229600" y="2011680"/>
            <a:ext cx="3200400" cy="365760"/>
          </a:xfrm>
          <a:prstGeom prst="rect">
            <a:avLst/>
          </a:prstGeom>
          <a:noFill/>
          <a:ln/>
        </p:spPr>
        <p:txBody>
          <a:bodyPr wrap="square" lIns="0" tIns="0" rIns="0" bIns="0" rtlCol="0" anchor="ctr"/>
          <a:lstStyle/>
          <a:p>
            <a:pPr indent="0" marL="0">
              <a:buNone/>
            </a:pPr>
            <a:r>
              <a:rPr lang="en-US" sz="1300" dirty="0">
                <a:solidFill>
                  <a:srgbClr val="CADCFC"/>
                </a:solidFill>
              </a:rPr>
              <a:t>óptima en el vacío (guiado PEG)</a:t>
            </a:r>
            <a:endParaRPr lang="en-US" sz="1300" dirty="0"/>
          </a:p>
        </p:txBody>
      </p:sp>
      <p:pic>
        <p:nvPicPr>
          <p:cNvPr id="15" name="Image 0" descr="/home/mayday3003/Documents/githubrepos/ArtemisIV-flight-dynamics/docs/presentation/assets/eq_lintan.png">    </p:cNvPr>
          <p:cNvPicPr>
            <a:picLocks noChangeAspect="1"/>
          </p:cNvPicPr>
          <p:nvPr/>
        </p:nvPicPr>
        <p:blipFill>
          <a:blip r:embed="rId1"/>
          <a:stretch>
            <a:fillRect/>
          </a:stretch>
        </p:blipFill>
        <p:spPr>
          <a:xfrm>
            <a:off x="731520" y="2743200"/>
            <a:ext cx="5870697" cy="746275"/>
          </a:xfrm>
          <a:prstGeom prst="rect">
            <a:avLst/>
          </a:prstGeom>
        </p:spPr>
      </p:pic>
      <p:sp>
        <p:nvSpPr>
          <p:cNvPr id="16" name="Text 13"/>
          <p:cNvSpPr txBox="1"/>
          <p:nvPr/>
        </p:nvSpPr>
        <p:spPr>
          <a:xfrm>
            <a:off x="548640" y="3703320"/>
            <a:ext cx="6766560" cy="640080"/>
          </a:xfrm>
          <a:prstGeom prst="rect">
            <a:avLst/>
          </a:prstGeom>
          <a:noFill/>
          <a:ln/>
        </p:spPr>
        <p:txBody>
          <a:bodyPr wrap="square" lIns="0" tIns="0" rIns="0" bIns="0" rtlCol="0" anchor="ctr"/>
          <a:lstStyle/>
          <a:p>
            <a:pPr indent="0" marL="0">
              <a:buNone/>
            </a:pPr>
            <a:r>
              <a:rPr lang="en-US" sz="1400" dirty="0">
                <a:solidFill>
                  <a:srgbClr val="1B1B1F"/>
                </a:solidFill>
              </a:rPr>
              <a:t>θ₀ = 0.4915 rad y θf = 0.1548 rad se hallaron con fsolve para que el MECO quede a h = 160 km y γ = 0.</a:t>
            </a:r>
            <a:endParaRPr lang="en-US" sz="1400" dirty="0"/>
          </a:p>
        </p:txBody>
      </p:sp>
      <p:sp>
        <p:nvSpPr>
          <p:cNvPr id="17" name="Shape 14"/>
          <p:cNvSpPr/>
          <p:nvPr/>
        </p:nvSpPr>
        <p:spPr>
          <a:xfrm>
            <a:off x="7589520" y="2743200"/>
            <a:ext cx="4023360" cy="2057400"/>
          </a:xfrm>
          <a:prstGeom prst="roundRect">
            <a:avLst>
              <a:gd name="adj" fmla="val 4444"/>
            </a:avLst>
          </a:prstGeom>
          <a:solidFill>
            <a:srgbClr val="FDEBDD"/>
          </a:solidFill>
          <a:ln w="12700">
            <a:solidFill>
              <a:srgbClr val="FDEBDD"/>
            </a:solidFill>
            <a:prstDash val="solid"/>
          </a:ln>
        </p:spPr>
      </p:sp>
      <p:sp>
        <p:nvSpPr>
          <p:cNvPr id="18" name="Text 15"/>
          <p:cNvSpPr txBox="1"/>
          <p:nvPr/>
        </p:nvSpPr>
        <p:spPr>
          <a:xfrm>
            <a:off x="7772400" y="2834640"/>
            <a:ext cx="3657600" cy="365760"/>
          </a:xfrm>
          <a:prstGeom prst="rect">
            <a:avLst/>
          </a:prstGeom>
          <a:noFill/>
          <a:ln/>
        </p:spPr>
        <p:txBody>
          <a:bodyPr wrap="square" lIns="0" tIns="0" rIns="0" bIns="0" rtlCol="0" anchor="ctr"/>
          <a:lstStyle/>
          <a:p>
            <a:pPr indent="0" marL="0">
              <a:buNone/>
            </a:pPr>
            <a:r>
              <a:rPr lang="en-US" sz="1700" b="1" dirty="0">
                <a:solidFill>
                  <a:srgbClr val="E8702A"/>
                </a:solidFill>
                <a:latin typeface="Cambria" pitchFamily="34" charset="0"/>
                <a:ea typeface="Cambria" pitchFamily="34" charset="-122"/>
                <a:cs typeface="Cambria" pitchFamily="34" charset="-120"/>
              </a:rPr>
              <a:t>Dormand–Prince RK45</a:t>
            </a:r>
            <a:endParaRPr lang="en-US" sz="1700" dirty="0"/>
          </a:p>
        </p:txBody>
      </p:sp>
      <p:sp>
        <p:nvSpPr>
          <p:cNvPr id="19" name="Text 16"/>
          <p:cNvSpPr txBox="1"/>
          <p:nvPr/>
        </p:nvSpPr>
        <p:spPr>
          <a:xfrm>
            <a:off x="7772400" y="3246120"/>
            <a:ext cx="3657600" cy="155448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rgbClr val="1B1B1F"/>
                </a:solidFill>
              </a:rPr>
              <a:t>Paso adaptativo con error local 4(5)</a:t>
            </a:r>
            <a:endParaRPr lang="en-US" sz="1350" dirty="0"/>
          </a:p>
          <a:p>
            <a:pPr marL="342900" indent="-342900">
              <a:spcAft>
                <a:spcPts val="800"/>
              </a:spcAft>
              <a:buSzPct val="100000"/>
              <a:buChar char="•"/>
            </a:pPr>
            <a:r>
              <a:rPr lang="en-US" sz="1350" dirty="0">
                <a:solidFill>
                  <a:srgbClr val="1B1B1F"/>
                </a:solidFill>
              </a:rPr>
              <a:t>Evento: fin de los SRB, que se descartan (salto de masa)</a:t>
            </a:r>
            <a:endParaRPr lang="en-US" sz="1350" dirty="0"/>
          </a:p>
          <a:p>
            <a:pPr marL="342900" indent="-342900">
              <a:spcAft>
                <a:spcPts val="800"/>
              </a:spcAft>
              <a:buSzPct val="100000"/>
              <a:buChar char="•"/>
            </a:pPr>
            <a:r>
              <a:rPr lang="en-US" sz="1350" dirty="0">
                <a:solidFill>
                  <a:srgbClr val="1B1B1F"/>
                </a:solidFill>
              </a:rPr>
              <a:t>Evento: MECO (masa de corte)</a:t>
            </a:r>
            <a:endParaRPr lang="en-US" sz="1350" dirty="0"/>
          </a:p>
          <a:p>
            <a:pPr marL="342900" indent="-342900">
              <a:spcAft>
                <a:spcPts val="800"/>
              </a:spcAft>
              <a:buSzPct val="100000"/>
              <a:buChar char="•"/>
            </a:pPr>
            <a:r>
              <a:rPr lang="en-US" sz="1350" dirty="0">
                <a:solidFill>
                  <a:srgbClr val="1B1B1F"/>
                </a:solidFill>
              </a:rPr>
              <a:t>Explícito: el ascenso no es rígido</a:t>
            </a:r>
            <a:endParaRPr lang="en-US" sz="1350" dirty="0"/>
          </a:p>
        </p:txBody>
      </p:sp>
      <p:sp>
        <p:nvSpPr>
          <p:cNvPr id="20" name="Shape 17"/>
          <p:cNvSpPr/>
          <p:nvPr/>
        </p:nvSpPr>
        <p:spPr>
          <a:xfrm>
            <a:off x="548640" y="5074920"/>
            <a:ext cx="11064240" cy="941832"/>
          </a:xfrm>
          <a:prstGeom prst="roundRect">
            <a:avLst>
              <a:gd name="adj" fmla="val 7767"/>
            </a:avLst>
          </a:prstGeom>
          <a:solidFill>
            <a:srgbClr val="F1F3F6"/>
          </a:solidFill>
          <a:ln w="9525">
            <a:solidFill>
              <a:srgbClr val="D5DAE1"/>
            </a:solidFill>
            <a:prstDash val="solid"/>
          </a:ln>
        </p:spPr>
      </p:sp>
      <p:sp>
        <p:nvSpPr>
          <p:cNvPr id="21" name="Text 18"/>
          <p:cNvSpPr txBox="1"/>
          <p:nvPr/>
        </p:nvSpPr>
        <p:spPr>
          <a:xfrm>
            <a:off x="658368" y="5074920"/>
            <a:ext cx="10844784" cy="941832"/>
          </a:xfrm>
          <a:prstGeom prst="rect">
            <a:avLst/>
          </a:prstGeom>
          <a:noFill/>
          <a:ln/>
        </p:spPr>
        <p:txBody>
          <a:bodyPr wrap="square" lIns="0" tIns="0" rIns="0" bIns="0" rtlCol="0" anchor="ctr"/>
          <a:lstStyle/>
          <a:p>
            <a:pPr indent="0" marL="0">
              <a:buNone/>
            </a:pPr>
            <a:r>
              <a:rPr lang="en-US" sz="1150" dirty="0">
                <a:solidFill>
                  <a:srgbClr val="52514E"/>
                </a:solidFill>
                <a:latin typeface="Courier New" pitchFamily="34" charset="0"/>
                <a:ea typeface="Courier New" pitchFamily="34" charset="-122"/>
                <a:cs typeface="Courier New" pitchFamily="34" charset="-120"/>
              </a:rPr>
              <a:t>src/artemis_sim/ascent_solver.py</a:t>
            </a:r>
            <a:endParaRPr lang="en-US" sz="1150" dirty="0"/>
          </a:p>
          <a:p>
            <a:pPr indent="0" marL="0">
              <a:buNone/>
            </a:pPr>
            <a:r>
              <a:rPr lang="en-US" sz="1150" b="1" dirty="0">
                <a:solidFill>
                  <a:srgbClr val="0B1D3A"/>
                </a:solidFill>
                <a:latin typeface="Courier New" pitchFamily="34" charset="0"/>
                <a:ea typeface="Courier New" pitchFamily="34" charset="-122"/>
                <a:cs typeface="Courier New" pitchFamily="34" charset="-120"/>
              </a:rPr>
              <a:t>linear_tangent_direction() · make_srb_burnout_event() · make_core_burnout_event()</a:t>
            </a:r>
            <a:endParaRPr lang="en-US" sz="1150" dirty="0"/>
          </a:p>
          <a:p>
            <a:pPr indent="0" marL="0">
              <a:buNone/>
            </a:pPr>
            <a:r>
              <a:rPr lang="en-US" sz="1150" b="1" dirty="0">
                <a:solidFill>
                  <a:srgbClr val="0B1D3A"/>
                </a:solidFill>
                <a:latin typeface="Courier New" pitchFamily="34" charset="0"/>
                <a:ea typeface="Courier New" pitchFamily="34" charset="-122"/>
                <a:cs typeface="Courier New" pitchFamily="34" charset="-120"/>
              </a:rPr>
              <a:t>jettison_boosters() · simulate_full_ascent()  →  AscentResult</a:t>
            </a:r>
            <a:endParaRPr lang="en-US" sz="115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000" b="1" dirty="0">
                <a:solidFill>
                  <a:srgbClr val="0B1D3A"/>
                </a:solidFill>
                <a:latin typeface="Cambria" pitchFamily="34" charset="0"/>
                <a:ea typeface="Cambria" pitchFamily="34" charset="-122"/>
                <a:cs typeface="Cambria" pitchFamily="34" charset="-120"/>
              </a:rPr>
              <a:t>Resultados del ascenso</a:t>
            </a:r>
            <a:endParaRPr lang="en-US" sz="3000" dirty="0"/>
          </a:p>
        </p:txBody>
      </p:sp>
      <p:pic>
        <p:nvPicPr>
          <p:cNvPr id="3" name="Image 0" descr="/home/mayday3003/Documents/githubrepos/ArtemisIV-flight-dynamics/docs/figures/fig01_ascenso_perfil.png">    </p:cNvPr>
          <p:cNvPicPr>
            <a:picLocks noChangeAspect="1"/>
          </p:cNvPicPr>
          <p:nvPr/>
        </p:nvPicPr>
        <p:blipFill>
          <a:blip r:embed="rId1"/>
          <a:stretch>
            <a:fillRect/>
          </a:stretch>
        </p:blipFill>
        <p:spPr>
          <a:xfrm>
            <a:off x="1032762" y="1143000"/>
            <a:ext cx="4883917" cy="5166360"/>
          </a:xfrm>
          <a:prstGeom prst="rect">
            <a:avLst/>
          </a:prstGeom>
        </p:spPr>
      </p:pic>
      <p:sp>
        <p:nvSpPr>
          <p:cNvPr id="4" name="Shape 1"/>
          <p:cNvSpPr/>
          <p:nvPr/>
        </p:nvSpPr>
        <p:spPr>
          <a:xfrm>
            <a:off x="6766560" y="1234440"/>
            <a:ext cx="2331720" cy="1143000"/>
          </a:xfrm>
          <a:prstGeom prst="roundRect">
            <a:avLst>
              <a:gd name="adj" fmla="val 8000"/>
            </a:avLst>
          </a:prstGeom>
          <a:solidFill>
            <a:srgbClr val="EEF2F7"/>
          </a:solidFill>
          <a:ln w="12700">
            <a:solidFill>
              <a:srgbClr val="EEF2F7"/>
            </a:solidFill>
            <a:prstDash val="solid"/>
          </a:ln>
        </p:spPr>
      </p:sp>
      <p:sp>
        <p:nvSpPr>
          <p:cNvPr id="5" name="Text 2"/>
          <p:cNvSpPr txBox="1"/>
          <p:nvPr/>
        </p:nvSpPr>
        <p:spPr>
          <a:xfrm>
            <a:off x="6766560" y="1307592"/>
            <a:ext cx="2331720" cy="640080"/>
          </a:xfrm>
          <a:prstGeom prst="rect">
            <a:avLst/>
          </a:prstGeom>
          <a:noFill/>
          <a:ln/>
        </p:spPr>
        <p:txBody>
          <a:bodyPr wrap="square" lIns="0" tIns="0" rIns="0" bIns="0" rtlCol="0" anchor="ctr"/>
          <a:lstStyle/>
          <a:p>
            <a:pPr algn="ctr" indent="0" marL="0">
              <a:buNone/>
            </a:pPr>
            <a:r>
              <a:rPr lang="en-US" sz="3000" b="1" dirty="0">
                <a:solidFill>
                  <a:srgbClr val="E8702A"/>
                </a:solidFill>
                <a:latin typeface="Cambria" pitchFamily="34" charset="0"/>
                <a:ea typeface="Cambria" pitchFamily="34" charset="-122"/>
                <a:cs typeface="Cambria" pitchFamily="34" charset="-120"/>
              </a:rPr>
              <a:t>27.5 kPa</a:t>
            </a:r>
            <a:endParaRPr lang="en-US" sz="3000" dirty="0"/>
          </a:p>
        </p:txBody>
      </p:sp>
      <p:sp>
        <p:nvSpPr>
          <p:cNvPr id="6" name="Text 3"/>
          <p:cNvSpPr txBox="1"/>
          <p:nvPr/>
        </p:nvSpPr>
        <p:spPr>
          <a:xfrm>
            <a:off x="6858000" y="1929384"/>
            <a:ext cx="2148840" cy="365760"/>
          </a:xfrm>
          <a:prstGeom prst="rect">
            <a:avLst/>
          </a:prstGeom>
          <a:noFill/>
          <a:ln/>
        </p:spPr>
        <p:txBody>
          <a:bodyPr wrap="square" lIns="0" tIns="0" rIns="0" bIns="0" rtlCol="0" anchor="ctr"/>
          <a:lstStyle/>
          <a:p>
            <a:pPr algn="ctr" indent="0" marL="0">
              <a:buNone/>
            </a:pPr>
            <a:r>
              <a:rPr lang="en-US" sz="1250" dirty="0">
                <a:solidFill>
                  <a:srgbClr val="52514E"/>
                </a:solidFill>
              </a:rPr>
              <a:t>Max-Q a t = 65 s (Mach 1.43)</a:t>
            </a:r>
            <a:endParaRPr lang="en-US" sz="1250" dirty="0"/>
          </a:p>
        </p:txBody>
      </p:sp>
      <p:sp>
        <p:nvSpPr>
          <p:cNvPr id="7" name="Shape 4"/>
          <p:cNvSpPr/>
          <p:nvPr/>
        </p:nvSpPr>
        <p:spPr>
          <a:xfrm>
            <a:off x="9281160" y="1234440"/>
            <a:ext cx="2331720" cy="1143000"/>
          </a:xfrm>
          <a:prstGeom prst="roundRect">
            <a:avLst>
              <a:gd name="adj" fmla="val 8000"/>
            </a:avLst>
          </a:prstGeom>
          <a:solidFill>
            <a:srgbClr val="EEF2F7"/>
          </a:solidFill>
          <a:ln w="12700">
            <a:solidFill>
              <a:srgbClr val="EEF2F7"/>
            </a:solidFill>
            <a:prstDash val="solid"/>
          </a:ln>
        </p:spPr>
      </p:sp>
      <p:sp>
        <p:nvSpPr>
          <p:cNvPr id="8" name="Text 5"/>
          <p:cNvSpPr txBox="1"/>
          <p:nvPr/>
        </p:nvSpPr>
        <p:spPr>
          <a:xfrm>
            <a:off x="9281160" y="1307592"/>
            <a:ext cx="2331720" cy="640080"/>
          </a:xfrm>
          <a:prstGeom prst="rect">
            <a:avLst/>
          </a:prstGeom>
          <a:noFill/>
          <a:ln/>
        </p:spPr>
        <p:txBody>
          <a:bodyPr wrap="square" lIns="0" tIns="0" rIns="0" bIns="0" rtlCol="0" anchor="ctr"/>
          <a:lstStyle/>
          <a:p>
            <a:pPr algn="ctr" indent="0" marL="0">
              <a:buNone/>
            </a:pPr>
            <a:r>
              <a:rPr lang="en-US" sz="3000" b="1" dirty="0">
                <a:solidFill>
                  <a:srgbClr val="E8702A"/>
                </a:solidFill>
                <a:latin typeface="Cambria" pitchFamily="34" charset="0"/>
                <a:ea typeface="Cambria" pitchFamily="34" charset="-122"/>
                <a:cs typeface="Cambria" pitchFamily="34" charset="-120"/>
              </a:rPr>
              <a:t>160 km</a:t>
            </a:r>
            <a:endParaRPr lang="en-US" sz="3000" dirty="0"/>
          </a:p>
        </p:txBody>
      </p:sp>
      <p:sp>
        <p:nvSpPr>
          <p:cNvPr id="9" name="Text 6"/>
          <p:cNvSpPr txBox="1"/>
          <p:nvPr/>
        </p:nvSpPr>
        <p:spPr>
          <a:xfrm>
            <a:off x="9372600" y="1929384"/>
            <a:ext cx="2148840" cy="365760"/>
          </a:xfrm>
          <a:prstGeom prst="rect">
            <a:avLst/>
          </a:prstGeom>
          <a:noFill/>
          <a:ln/>
        </p:spPr>
        <p:txBody>
          <a:bodyPr wrap="square" lIns="0" tIns="0" rIns="0" bIns="0" rtlCol="0" anchor="ctr"/>
          <a:lstStyle/>
          <a:p>
            <a:pPr algn="ctr" indent="0" marL="0">
              <a:buNone/>
            </a:pPr>
            <a:r>
              <a:rPr lang="en-US" sz="1250" dirty="0">
                <a:solidFill>
                  <a:srgbClr val="52514E"/>
                </a:solidFill>
              </a:rPr>
              <a:t>altitud en MECO (t = 481 s)</a:t>
            </a:r>
            <a:endParaRPr lang="en-US" sz="1250" dirty="0"/>
          </a:p>
        </p:txBody>
      </p:sp>
      <p:sp>
        <p:nvSpPr>
          <p:cNvPr id="10" name="Shape 7"/>
          <p:cNvSpPr/>
          <p:nvPr/>
        </p:nvSpPr>
        <p:spPr>
          <a:xfrm>
            <a:off x="6766560" y="2560320"/>
            <a:ext cx="2331720" cy="1143000"/>
          </a:xfrm>
          <a:prstGeom prst="roundRect">
            <a:avLst>
              <a:gd name="adj" fmla="val 8000"/>
            </a:avLst>
          </a:prstGeom>
          <a:solidFill>
            <a:srgbClr val="EEF2F7"/>
          </a:solidFill>
          <a:ln w="12700">
            <a:solidFill>
              <a:srgbClr val="EEF2F7"/>
            </a:solidFill>
            <a:prstDash val="solid"/>
          </a:ln>
        </p:spPr>
      </p:sp>
      <p:sp>
        <p:nvSpPr>
          <p:cNvPr id="11" name="Text 8"/>
          <p:cNvSpPr txBox="1"/>
          <p:nvPr/>
        </p:nvSpPr>
        <p:spPr>
          <a:xfrm>
            <a:off x="6766560" y="2633472"/>
            <a:ext cx="2331720" cy="640080"/>
          </a:xfrm>
          <a:prstGeom prst="rect">
            <a:avLst/>
          </a:prstGeom>
          <a:noFill/>
          <a:ln/>
        </p:spPr>
        <p:txBody>
          <a:bodyPr wrap="square" lIns="0" tIns="0" rIns="0" bIns="0" rtlCol="0" anchor="ctr"/>
          <a:lstStyle/>
          <a:p>
            <a:pPr algn="ctr" indent="0" marL="0">
              <a:buNone/>
            </a:pPr>
            <a:r>
              <a:rPr lang="en-US" sz="3000" b="1" dirty="0">
                <a:solidFill>
                  <a:srgbClr val="E8702A"/>
                </a:solidFill>
                <a:latin typeface="Cambria" pitchFamily="34" charset="0"/>
                <a:ea typeface="Cambria" pitchFamily="34" charset="-122"/>
                <a:cs typeface="Cambria" pitchFamily="34" charset="-120"/>
              </a:rPr>
              <a:t>6.60 km/s</a:t>
            </a:r>
            <a:endParaRPr lang="en-US" sz="3000" dirty="0"/>
          </a:p>
        </p:txBody>
      </p:sp>
      <p:sp>
        <p:nvSpPr>
          <p:cNvPr id="12" name="Text 9"/>
          <p:cNvSpPr txBox="1"/>
          <p:nvPr/>
        </p:nvSpPr>
        <p:spPr>
          <a:xfrm>
            <a:off x="6858000" y="3255264"/>
            <a:ext cx="2148840" cy="365760"/>
          </a:xfrm>
          <a:prstGeom prst="rect">
            <a:avLst/>
          </a:prstGeom>
          <a:noFill/>
          <a:ln/>
        </p:spPr>
        <p:txBody>
          <a:bodyPr wrap="square" lIns="0" tIns="0" rIns="0" bIns="0" rtlCol="0" anchor="ctr"/>
          <a:lstStyle/>
          <a:p>
            <a:pPr algn="ctr" indent="0" marL="0">
              <a:buNone/>
            </a:pPr>
            <a:r>
              <a:rPr lang="en-US" sz="1250" dirty="0">
                <a:solidFill>
                  <a:srgbClr val="52514E"/>
                </a:solidFill>
              </a:rPr>
              <a:t>velocidad inercial en MECO</a:t>
            </a:r>
            <a:endParaRPr lang="en-US" sz="1250" dirty="0"/>
          </a:p>
        </p:txBody>
      </p:sp>
      <p:sp>
        <p:nvSpPr>
          <p:cNvPr id="13" name="Shape 10"/>
          <p:cNvSpPr/>
          <p:nvPr/>
        </p:nvSpPr>
        <p:spPr>
          <a:xfrm>
            <a:off x="9281160" y="2560320"/>
            <a:ext cx="2331720" cy="1143000"/>
          </a:xfrm>
          <a:prstGeom prst="roundRect">
            <a:avLst>
              <a:gd name="adj" fmla="val 8000"/>
            </a:avLst>
          </a:prstGeom>
          <a:solidFill>
            <a:srgbClr val="EEF2F7"/>
          </a:solidFill>
          <a:ln w="12700">
            <a:solidFill>
              <a:srgbClr val="EEF2F7"/>
            </a:solidFill>
            <a:prstDash val="solid"/>
          </a:ln>
        </p:spPr>
      </p:sp>
      <p:sp>
        <p:nvSpPr>
          <p:cNvPr id="14" name="Text 11"/>
          <p:cNvSpPr txBox="1"/>
          <p:nvPr/>
        </p:nvSpPr>
        <p:spPr>
          <a:xfrm>
            <a:off x="9281160" y="2633472"/>
            <a:ext cx="2331720" cy="640080"/>
          </a:xfrm>
          <a:prstGeom prst="rect">
            <a:avLst/>
          </a:prstGeom>
          <a:noFill/>
          <a:ln/>
        </p:spPr>
        <p:txBody>
          <a:bodyPr wrap="square" lIns="0" tIns="0" rIns="0" bIns="0" rtlCol="0" anchor="ctr"/>
          <a:lstStyle/>
          <a:p>
            <a:pPr algn="ctr" indent="0" marL="0">
              <a:buNone/>
            </a:pPr>
            <a:r>
              <a:rPr lang="en-US" sz="3000" b="1" dirty="0">
                <a:solidFill>
                  <a:srgbClr val="E8702A"/>
                </a:solidFill>
                <a:latin typeface="Cambria" pitchFamily="34" charset="0"/>
                <a:ea typeface="Cambria" pitchFamily="34" charset="-122"/>
                <a:cs typeface="Cambria" pitchFamily="34" charset="-120"/>
              </a:rPr>
              <a:t>3.5 g₀</a:t>
            </a:r>
            <a:endParaRPr lang="en-US" sz="3000" dirty="0"/>
          </a:p>
        </p:txBody>
      </p:sp>
      <p:sp>
        <p:nvSpPr>
          <p:cNvPr id="15" name="Text 12"/>
          <p:cNvSpPr txBox="1"/>
          <p:nvPr/>
        </p:nvSpPr>
        <p:spPr>
          <a:xfrm>
            <a:off x="9372600" y="3255264"/>
            <a:ext cx="2148840" cy="365760"/>
          </a:xfrm>
          <a:prstGeom prst="rect">
            <a:avLst/>
          </a:prstGeom>
          <a:noFill/>
          <a:ln/>
        </p:spPr>
        <p:txBody>
          <a:bodyPr wrap="square" lIns="0" tIns="0" rIns="0" bIns="0" rtlCol="0" anchor="ctr"/>
          <a:lstStyle/>
          <a:p>
            <a:pPr algn="ctr" indent="0" marL="0">
              <a:buNone/>
            </a:pPr>
            <a:r>
              <a:rPr lang="en-US" sz="1250" dirty="0">
                <a:solidFill>
                  <a:srgbClr val="52514E"/>
                </a:solidFill>
              </a:rPr>
              <a:t>aceleración máxima</a:t>
            </a:r>
            <a:endParaRPr lang="en-US" sz="1250" dirty="0"/>
          </a:p>
        </p:txBody>
      </p:sp>
      <p:sp>
        <p:nvSpPr>
          <p:cNvPr id="16" name="Text 13"/>
          <p:cNvSpPr txBox="1"/>
          <p:nvPr/>
        </p:nvSpPr>
        <p:spPr>
          <a:xfrm>
            <a:off x="6766560" y="3977640"/>
            <a:ext cx="4846320" cy="18288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B1B1F"/>
                </a:solidFill>
              </a:rPr>
              <a:t>Separación de los SRB a 126 s, h = 56.9 km</a:t>
            </a:r>
            <a:endParaRPr lang="en-US" sz="1400" dirty="0"/>
          </a:p>
          <a:p>
            <a:pPr marL="342900" indent="-342900">
              <a:spcAft>
                <a:spcPts val="800"/>
              </a:spcAft>
              <a:buSzPct val="100000"/>
              <a:buChar char="•"/>
            </a:pPr>
            <a:r>
              <a:rPr lang="en-US" sz="1400" dirty="0">
                <a:solidFill>
                  <a:srgbClr val="1B1B1F"/>
                </a:solidFill>
              </a:rPr>
              <a:t>Max-Q del orden publicado para el SLS (unos 30 kPa)</a:t>
            </a:r>
            <a:endParaRPr lang="en-US" sz="1400" dirty="0"/>
          </a:p>
          <a:p>
            <a:pPr marL="342900" indent="-342900">
              <a:spcAft>
                <a:spcPts val="800"/>
              </a:spcAft>
              <a:buSzPct val="100000"/>
              <a:buChar char="•"/>
            </a:pPr>
            <a:r>
              <a:rPr lang="en-US" sz="1400" dirty="0">
                <a:solidFill>
                  <a:srgbClr val="1B1B1F"/>
                </a:solidFill>
              </a:rPr>
              <a:t>Salto de masa en la separación y aceleración creciente como T/m(t)</a:t>
            </a:r>
            <a:endParaRPr lang="en-US" sz="140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000" b="1" dirty="0">
                <a:solidFill>
                  <a:srgbClr val="0B1D3A"/>
                </a:solidFill>
                <a:latin typeface="Cambria" pitchFamily="34" charset="0"/>
                <a:ea typeface="Cambria" pitchFamily="34" charset="-122"/>
                <a:cs typeface="Cambria" pitchFamily="34" charset="-120"/>
              </a:rPr>
              <a:t>Trayectoria de ascenso y presupuesto de Δv de la EUS</a:t>
            </a:r>
            <a:endParaRPr lang="en-US" sz="3000" dirty="0"/>
          </a:p>
        </p:txBody>
      </p:sp>
      <p:pic>
        <p:nvPicPr>
          <p:cNvPr id="3" name="Image 0" descr="/home/mayday3003/Documents/githubrepos/ArtemisIV-flight-dynamics/docs/figures/fig02_ascenso_trayectoria.png">    </p:cNvPr>
          <p:cNvPicPr>
            <a:picLocks noChangeAspect="1"/>
          </p:cNvPicPr>
          <p:nvPr/>
        </p:nvPicPr>
        <p:blipFill>
          <a:blip r:embed="rId1"/>
          <a:stretch>
            <a:fillRect/>
          </a:stretch>
        </p:blipFill>
        <p:spPr>
          <a:xfrm>
            <a:off x="2871161" y="1143000"/>
            <a:ext cx="6419197" cy="2331720"/>
          </a:xfrm>
          <a:prstGeom prst="rect">
            <a:avLst/>
          </a:prstGeom>
        </p:spPr>
      </p:pic>
      <p:pic>
        <p:nvPicPr>
          <p:cNvPr id="4" name="Image 1" descr="/home/mayday3003/Documents/githubrepos/ArtemisIV-flight-dynamics/docs/presentation/assets/eq_tsiol.png">    </p:cNvPr>
          <p:cNvPicPr>
            <a:picLocks noChangeAspect="1"/>
          </p:cNvPicPr>
          <p:nvPr/>
        </p:nvPicPr>
        <p:blipFill>
          <a:blip r:embed="rId2"/>
          <a:stretch>
            <a:fillRect/>
          </a:stretch>
        </p:blipFill>
        <p:spPr>
          <a:xfrm>
            <a:off x="731520" y="3794760"/>
            <a:ext cx="2251918" cy="706997"/>
          </a:xfrm>
          <a:prstGeom prst="rect">
            <a:avLst/>
          </a:prstGeom>
        </p:spPr>
      </p:pic>
      <p:sp>
        <p:nvSpPr>
          <p:cNvPr id="5" name="Text 1"/>
          <p:cNvSpPr txBox="1"/>
          <p:nvPr/>
        </p:nvSpPr>
        <p:spPr>
          <a:xfrm>
            <a:off x="548640" y="4526280"/>
            <a:ext cx="4114800" cy="320040"/>
          </a:xfrm>
          <a:prstGeom prst="rect">
            <a:avLst/>
          </a:prstGeom>
          <a:noFill/>
          <a:ln/>
        </p:spPr>
        <p:txBody>
          <a:bodyPr wrap="square" lIns="0" tIns="0" rIns="0" bIns="0" rtlCol="0" anchor="ctr"/>
          <a:lstStyle/>
          <a:p>
            <a:pPr indent="0" marL="0">
              <a:buNone/>
            </a:pPr>
            <a:r>
              <a:rPr lang="en-US" sz="1300" dirty="0">
                <a:solidFill>
                  <a:srgbClr val="52514E"/>
                </a:solidFill>
              </a:rPr>
              <a:t>Ecuación de Tsiolkovsky</a:t>
            </a:r>
            <a:endParaRPr lang="en-US" sz="13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937760" y="3703320"/>
          <a:ext cx="4023360" cy="914400"/>
        </p:xfrm>
        <a:graphic>
          <a:graphicData uri="http://schemas.openxmlformats.org/drawingml/2006/table">
            <a:tbl>
              <a:tblPr/>
              <a:tblGrid>
                <a:gridCol w="2743200"/>
                <a:gridCol w="1280160"/>
              </a:tblGrid>
              <a:tr h="365760">
                <a:tc>
                  <a:txBody>
                    <a:bodyPr/>
                    <a:lstStyle/>
                    <a:p>
                      <a:pPr algn="l" indent="0" marL="0">
                        <a:buNone/>
                      </a:pPr>
                      <a:r>
                        <a:rPr lang="en-US" sz="1400" b="1" dirty="0">
                          <a:solidFill>
                            <a:srgbClr val="FFFFFF"/>
                          </a:solidFill>
                        </a:rPr>
                        <a:t>Maniobra</a:t>
                      </a:r>
                      <a:endParaRPr lang="en-US" sz="1400" dirty="0"/>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0B1D3A"/>
                    </a:solidFill>
                  </a:tcPr>
                </a:tc>
                <a:tc>
                  <a:txBody>
                    <a:bodyPr/>
                    <a:lstStyle/>
                    <a:p>
                      <a:pPr algn="r" indent="0" marL="0">
                        <a:buNone/>
                      </a:pPr>
                      <a:r>
                        <a:rPr lang="en-US" sz="1400" b="1" dirty="0">
                          <a:solidFill>
                            <a:srgbClr val="FFFFFF"/>
                          </a:solidFill>
                        </a:rPr>
                        <a:t>Δv (km/s)</a:t>
                      </a:r>
                      <a:endParaRPr lang="en-US" sz="1400" dirty="0"/>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0B1D3A"/>
                    </a:solidFill>
                  </a:tcPr>
                </a:tc>
              </a:tr>
              <a:tr h="365760">
                <a:tc>
                  <a:txBody>
                    <a:bodyPr/>
                    <a:lstStyle/>
                    <a:p>
                      <a:pPr algn="l" indent="0" marL="0">
                        <a:buNone/>
                      </a:pPr>
                      <a:r>
                        <a:rPr lang="en-US" sz="1400" dirty="0">
                          <a:solidFill>
                            <a:srgbClr val="1B1B1F"/>
                          </a:solidFill>
                        </a:rPr>
                        <a:t>Inserción en órbita (160 km)</a:t>
                      </a:r>
                      <a:endParaRPr lang="en-US" sz="1400" dirty="0"/>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1B1F"/>
                          </a:solidFill>
                        </a:rPr>
                        <a:t>1.21</a:t>
                      </a:r>
                      <a:endParaRPr lang="en-US" sz="1400" dirty="0"/>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365760">
                <a:tc>
                  <a:txBody>
                    <a:bodyPr/>
                    <a:lstStyle/>
                    <a:p>
                      <a:pPr algn="l" indent="0" marL="0">
                        <a:buNone/>
                      </a:pPr>
                      <a:r>
                        <a:rPr lang="en-US" sz="1400" dirty="0">
                          <a:solidFill>
                            <a:srgbClr val="1B1B1F"/>
                          </a:solidFill>
                        </a:rPr>
                        <a:t>Inyección translunar (TLI)</a:t>
                      </a:r>
                      <a:endParaRPr lang="en-US" sz="1400" dirty="0"/>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EEF2F7"/>
                    </a:solidFill>
                  </a:tcPr>
                </a:tc>
                <a:tc>
                  <a:txBody>
                    <a:bodyPr/>
                    <a:lstStyle/>
                    <a:p>
                      <a:pPr algn="r" indent="0" marL="0">
                        <a:buNone/>
                      </a:pPr>
                      <a:r>
                        <a:rPr lang="en-US" sz="1400" dirty="0">
                          <a:solidFill>
                            <a:srgbClr val="1B1B1F"/>
                          </a:solidFill>
                        </a:rPr>
                        <a:t>3.15</a:t>
                      </a:r>
                      <a:endParaRPr lang="en-US" sz="1400" dirty="0"/>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EEF2F7"/>
                    </a:solidFill>
                  </a:tcPr>
                </a:tc>
              </a:tr>
              <a:tr h="365760">
                <a:tc>
                  <a:txBody>
                    <a:bodyPr/>
                    <a:lstStyle/>
                    <a:p>
                      <a:pPr algn="l" indent="0" marL="0">
                        <a:buNone/>
                      </a:pPr>
                      <a:r>
                        <a:rPr lang="en-US" sz="1400" b="1" dirty="0">
                          <a:solidFill>
                            <a:srgbClr val="1B1B1F"/>
                          </a:solidFill>
                        </a:rPr>
                        <a:t>Total requerido</a:t>
                      </a:r>
                      <a:endParaRPr lang="en-US" sz="1400" dirty="0"/>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1B1B1F"/>
                          </a:solidFill>
                        </a:rPr>
                        <a:t>4.36</a:t>
                      </a:r>
                      <a:endParaRPr lang="en-US" sz="1400" dirty="0"/>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365760">
                <a:tc>
                  <a:txBody>
                    <a:bodyPr/>
                    <a:lstStyle/>
                    <a:p>
                      <a:pPr algn="l" indent="0" marL="0">
                        <a:buNone/>
                      </a:pPr>
                      <a:r>
                        <a:rPr lang="en-US" sz="1400" b="1" dirty="0">
                          <a:solidFill>
                            <a:srgbClr val="E8702A"/>
                          </a:solidFill>
                        </a:rPr>
                        <a:t>Disponible en la EUS</a:t>
                      </a:r>
                      <a:endParaRPr lang="en-US" sz="1400" dirty="0"/>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EEF2F7"/>
                    </a:solidFill>
                  </a:tcPr>
                </a:tc>
                <a:tc>
                  <a:txBody>
                    <a:bodyPr/>
                    <a:lstStyle/>
                    <a:p>
                      <a:pPr algn="r" indent="0" marL="0">
                        <a:buNone/>
                      </a:pPr>
                      <a:r>
                        <a:rPr lang="en-US" sz="1400" b="1" dirty="0">
                          <a:solidFill>
                            <a:srgbClr val="E8702A"/>
                          </a:solidFill>
                        </a:rPr>
                        <a:t>5.55</a:t>
                      </a:r>
                      <a:endParaRPr lang="en-US" sz="1400" dirty="0"/>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EEF2F7"/>
                    </a:solidFill>
                  </a:tcPr>
                </a:tc>
              </a:tr>
            </a:tbl>
          </a:graphicData>
        </a:graphic>
      </p:graphicFrame>
      <p:sp>
        <p:nvSpPr>
          <p:cNvPr id="7" name="Shape 2"/>
          <p:cNvSpPr/>
          <p:nvPr/>
        </p:nvSpPr>
        <p:spPr>
          <a:xfrm>
            <a:off x="9281160" y="3703320"/>
            <a:ext cx="2331720" cy="1143000"/>
          </a:xfrm>
          <a:prstGeom prst="roundRect">
            <a:avLst>
              <a:gd name="adj" fmla="val 8000"/>
            </a:avLst>
          </a:prstGeom>
          <a:solidFill>
            <a:srgbClr val="EEF2F7"/>
          </a:solidFill>
          <a:ln w="12700">
            <a:solidFill>
              <a:srgbClr val="EEF2F7"/>
            </a:solidFill>
            <a:prstDash val="solid"/>
          </a:ln>
        </p:spPr>
      </p:sp>
      <p:sp>
        <p:nvSpPr>
          <p:cNvPr id="8" name="Text 3"/>
          <p:cNvSpPr txBox="1"/>
          <p:nvPr/>
        </p:nvSpPr>
        <p:spPr>
          <a:xfrm>
            <a:off x="9281160" y="3776472"/>
            <a:ext cx="2331720" cy="640080"/>
          </a:xfrm>
          <a:prstGeom prst="rect">
            <a:avLst/>
          </a:prstGeom>
          <a:noFill/>
          <a:ln/>
        </p:spPr>
        <p:txBody>
          <a:bodyPr wrap="square" lIns="0" tIns="0" rIns="0" bIns="0" rtlCol="0" anchor="ctr"/>
          <a:lstStyle/>
          <a:p>
            <a:pPr algn="ctr" indent="0" marL="0">
              <a:buNone/>
            </a:pPr>
            <a:r>
              <a:rPr lang="en-US" sz="3000" b="1" dirty="0">
                <a:solidFill>
                  <a:srgbClr val="2A78D6"/>
                </a:solidFill>
                <a:latin typeface="Cambria" pitchFamily="34" charset="0"/>
                <a:ea typeface="Cambria" pitchFamily="34" charset="-122"/>
                <a:cs typeface="Cambria" pitchFamily="34" charset="-120"/>
              </a:rPr>
              <a:t>15.8 t</a:t>
            </a:r>
            <a:endParaRPr lang="en-US" sz="3000" dirty="0"/>
          </a:p>
        </p:txBody>
      </p:sp>
      <p:sp>
        <p:nvSpPr>
          <p:cNvPr id="9" name="Text 4"/>
          <p:cNvSpPr txBox="1"/>
          <p:nvPr/>
        </p:nvSpPr>
        <p:spPr>
          <a:xfrm>
            <a:off x="9372600" y="4398264"/>
            <a:ext cx="2148840" cy="365760"/>
          </a:xfrm>
          <a:prstGeom prst="rect">
            <a:avLst/>
          </a:prstGeom>
          <a:noFill/>
          <a:ln/>
        </p:spPr>
        <p:txBody>
          <a:bodyPr wrap="square" lIns="0" tIns="0" rIns="0" bIns="0" rtlCol="0" anchor="ctr"/>
          <a:lstStyle/>
          <a:p>
            <a:pPr algn="ctr" indent="0" marL="0">
              <a:buNone/>
            </a:pPr>
            <a:r>
              <a:rPr lang="en-US" sz="1250" dirty="0">
                <a:solidFill>
                  <a:srgbClr val="52514E"/>
                </a:solidFill>
              </a:rPr>
              <a:t>propelente sobrante en la EUS</a:t>
            </a:r>
            <a:endParaRPr lang="en-US" sz="1250" dirty="0"/>
          </a:p>
        </p:txBody>
      </p:sp>
      <p:sp>
        <p:nvSpPr>
          <p:cNvPr id="10" name="Text 5"/>
          <p:cNvSpPr txBox="1"/>
          <p:nvPr/>
        </p:nvSpPr>
        <p:spPr>
          <a:xfrm>
            <a:off x="9281160" y="4983480"/>
            <a:ext cx="2331720" cy="1188720"/>
          </a:xfrm>
          <a:prstGeom prst="rect">
            <a:avLst/>
          </a:prstGeom>
          <a:noFill/>
          <a:ln/>
        </p:spPr>
        <p:txBody>
          <a:bodyPr wrap="square" lIns="0" tIns="0" rIns="0" bIns="0" rtlCol="0" anchor="ctr"/>
          <a:lstStyle/>
          <a:p>
            <a:pPr indent="0" marL="0">
              <a:buNone/>
            </a:pPr>
            <a:r>
              <a:rPr lang="en-US" sz="1250" dirty="0">
                <a:solidFill>
                  <a:srgbClr val="52514E"/>
                </a:solidFill>
              </a:rPr>
              <a:t>En el MECO, v &lt; v_circ: la etapa central deja el vehículo en una trayectoria suborbital y la EUS completa la inserción.</a:t>
            </a:r>
            <a:endParaRPr lang="en-US" sz="125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1463040"/>
            <a:ext cx="2743200" cy="1188720"/>
          </a:xfrm>
          <a:prstGeom prst="rect">
            <a:avLst/>
          </a:prstGeom>
          <a:noFill/>
          <a:ln/>
        </p:spPr>
        <p:txBody>
          <a:bodyPr wrap="square" lIns="0" tIns="0" rIns="0" bIns="0" rtlCol="0" anchor="ctr"/>
          <a:lstStyle/>
          <a:p>
            <a:pPr indent="0" marL="0">
              <a:buNone/>
            </a:pPr>
            <a:r>
              <a:rPr lang="en-US" sz="8000" b="1" dirty="0">
                <a:solidFill>
                  <a:srgbClr val="E8702A"/>
                </a:solidFill>
                <a:latin typeface="Cambria" pitchFamily="34" charset="0"/>
                <a:ea typeface="Cambria" pitchFamily="34" charset="-122"/>
                <a:cs typeface="Cambria" pitchFamily="34" charset="-120"/>
              </a:rPr>
              <a:t>02</a:t>
            </a:r>
            <a:endParaRPr lang="en-US" sz="8000" dirty="0"/>
          </a:p>
        </p:txBody>
      </p:sp>
      <p:sp>
        <p:nvSpPr>
          <p:cNvPr id="3" name="Text 0"/>
          <p:cNvSpPr/>
          <p:nvPr>
            <p:ph idx="100" type="title" hasCustomPrompt="1"/>
          </p:nvPr>
        </p:nvSpPr>
        <p:spPr>
          <a:xfrm>
            <a:off x="548640" y="2743200"/>
            <a:ext cx="7498080" cy="109728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Fase 2 · Tránsito cislunar</a:t>
            </a:r>
            <a:endParaRPr lang="en-US" sz="4000" dirty="0"/>
          </a:p>
        </p:txBody>
      </p:sp>
      <p:sp>
        <p:nvSpPr>
          <p:cNvPr id="4" name="Text 0"/>
          <p:cNvSpPr/>
          <p:nvPr>
            <p:ph idx="101" type="body" hasCustomPrompt="1"/>
          </p:nvPr>
        </p:nvSpPr>
        <p:spPr>
          <a:xfrm>
            <a:off x="548640" y="3840480"/>
            <a:ext cx="7498080" cy="1097280"/>
          </a:xfrm>
          <a:prstGeom prst="rect">
            <a:avLst/>
          </a:prstGeom>
          <a:noFill/>
          <a:ln/>
        </p:spPr>
        <p:txBody>
          <a:bodyPr wrap="square" lIns="0" tIns="0" rIns="0" bIns="0" rtlCol="0" anchor="t"/>
          <a:lstStyle/>
          <a:p>
            <a:pPr algn="l" indent="0" marL="0">
              <a:buNone/>
            </a:pPr>
            <a:r>
              <a:rPr lang="en-US" sz="1800" dirty="0">
                <a:solidFill>
                  <a:srgbClr val="CADCFC"/>
                </a:solidFill>
                <a:latin typeface="Calibri" pitchFamily="34" charset="0"/>
                <a:ea typeface="Calibri" pitchFamily="34" charset="-122"/>
                <a:cs typeface="Calibri" pitchFamily="34" charset="-120"/>
              </a:rPr>
              <a:t>Problema restringido de tres cuerpos e integración simpléctica</a:t>
            </a:r>
            <a:endParaRPr lang="en-US" sz="1800" dirty="0"/>
          </a:p>
        </p:txBody>
      </p:sp>
      <p:pic>
        <p:nvPicPr>
          <p:cNvPr id="5" name="Image 0" descr="/home/mayday3003/Documents/githubrepos/ArtemisIV-flight-dynamics/docs/presentation/assets/nasa_artemis_moon.jpg">    </p:cNvPr>
          <p:cNvPicPr>
            <a:picLocks noChangeAspect="1"/>
          </p:cNvPicPr>
          <p:nvPr/>
        </p:nvPicPr>
        <p:blipFill>
          <a:blip r:embed="rId1"/>
          <a:stretch>
            <a:fillRect/>
          </a:stretch>
        </p:blipFill>
        <p:spPr>
          <a:xfrm>
            <a:off x="8229600" y="1241534"/>
            <a:ext cx="3383280" cy="4374931"/>
          </a:xfrm>
          <a:prstGeom prst="rect">
            <a:avLst/>
          </a:prstGeom>
        </p:spPr>
      </p:pic>
      <p:sp>
        <p:nvSpPr>
          <p:cNvPr id="6" name="Text 3"/>
          <p:cNvSpPr txBox="1"/>
          <p:nvPr/>
        </p:nvSpPr>
        <p:spPr>
          <a:xfrm>
            <a:off x="8229600" y="6355080"/>
            <a:ext cx="3383280" cy="228600"/>
          </a:xfrm>
          <a:prstGeom prst="rect">
            <a:avLst/>
          </a:prstGeom>
          <a:noFill/>
          <a:ln/>
        </p:spPr>
        <p:txBody>
          <a:bodyPr wrap="square" lIns="0" tIns="0" rIns="0" bIns="0" rtlCol="0" anchor="ctr"/>
          <a:lstStyle/>
          <a:p>
            <a:pPr indent="0" marL="0">
              <a:buNone/>
            </a:pPr>
            <a:r>
              <a:rPr lang="en-US" sz="1000" i="1" dirty="0">
                <a:solidFill>
                  <a:srgbClr val="CADCFC"/>
                </a:solidFill>
              </a:rPr>
              <a:t>Imagen: NASA, Artemis Plan (2020)</a:t>
            </a:r>
            <a:endParaRPr lang="en-US" sz="1000" dirty="0"/>
          </a:p>
        </p:txBody>
      </p:sp>
      <p:sp>
        <p:nvSpPr>
          <p:cNvPr id="25" name="Slide Number Placeholder 0"/>
          <p:cNvSpPr>
            <a:spLocks noGrp="1"/>
          </p:cNvSpPr>
          <p:nvPr>
            <p:ph type="sldNum" sz="quarter" idx="4294967295"/>
          </p:nvPr>
        </p:nvSpPr>
        <p:spPr>
          <a:xfrm>
            <a:off x="1127729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000" b="1" dirty="0">
                <a:solidFill>
                  <a:srgbClr val="0B1D3A"/>
                </a:solidFill>
                <a:latin typeface="Cambria" pitchFamily="34" charset="0"/>
                <a:ea typeface="Cambria" pitchFamily="34" charset="-122"/>
                <a:cs typeface="Cambria" pitchFamily="34" charset="-120"/>
              </a:rPr>
              <a:t>Modelo de 3 cuerpos: término indirecto y n kepleriano</a:t>
            </a:r>
            <a:endParaRPr lang="en-US" sz="3000" dirty="0"/>
          </a:p>
        </p:txBody>
      </p:sp>
      <p:sp>
        <p:nvSpPr>
          <p:cNvPr id="3" name="Text 1"/>
          <p:cNvSpPr txBox="1"/>
          <p:nvPr/>
        </p:nvSpPr>
        <p:spPr>
          <a:xfrm>
            <a:off x="548640" y="1234440"/>
            <a:ext cx="10972800" cy="365760"/>
          </a:xfrm>
          <a:prstGeom prst="rect">
            <a:avLst/>
          </a:prstGeom>
          <a:noFill/>
          <a:ln/>
        </p:spPr>
        <p:txBody>
          <a:bodyPr wrap="square" lIns="0" tIns="0" rIns="0" bIns="0" rtlCol="0" anchor="ctr"/>
          <a:lstStyle/>
          <a:p>
            <a:pPr indent="0" marL="0">
              <a:buNone/>
            </a:pPr>
            <a:r>
              <a:rPr lang="en-US" sz="1600" b="1" dirty="0">
                <a:solidFill>
                  <a:srgbClr val="0B1D3A"/>
                </a:solidFill>
              </a:rPr>
              <a:t>Aceleración geocéntrica (Tierra + Luna como masas puntuales)</a:t>
            </a:r>
            <a:endParaRPr lang="en-US" sz="1600" dirty="0"/>
          </a:p>
        </p:txBody>
      </p:sp>
      <p:pic>
        <p:nvPicPr>
          <p:cNvPr id="4" name="Image 0" descr="/home/mayday3003/Documents/githubrepos/ArtemisIV-flight-dynamics/docs/presentation/assets/eq_cr3bp.png">    </p:cNvPr>
          <p:cNvPicPr>
            <a:picLocks noChangeAspect="1"/>
          </p:cNvPicPr>
          <p:nvPr/>
        </p:nvPicPr>
        <p:blipFill>
          <a:blip r:embed="rId1"/>
          <a:stretch>
            <a:fillRect/>
          </a:stretch>
        </p:blipFill>
        <p:spPr>
          <a:xfrm>
            <a:off x="731520" y="1737360"/>
            <a:ext cx="5068685" cy="748145"/>
          </a:xfrm>
          <a:prstGeom prst="rect">
            <a:avLst/>
          </a:prstGeom>
        </p:spPr>
      </p:pic>
      <p:sp>
        <p:nvSpPr>
          <p:cNvPr id="5" name="Shape 2"/>
          <p:cNvSpPr/>
          <p:nvPr/>
        </p:nvSpPr>
        <p:spPr>
          <a:xfrm>
            <a:off x="548640" y="2971800"/>
            <a:ext cx="5394960" cy="1920240"/>
          </a:xfrm>
          <a:prstGeom prst="roundRect">
            <a:avLst>
              <a:gd name="adj" fmla="val 4762"/>
            </a:avLst>
          </a:prstGeom>
          <a:solidFill>
            <a:srgbClr val="EEF2F7"/>
          </a:solidFill>
          <a:ln w="12700">
            <a:solidFill>
              <a:srgbClr val="EEF2F7"/>
            </a:solidFill>
            <a:prstDash val="solid"/>
          </a:ln>
        </p:spPr>
      </p:sp>
      <p:sp>
        <p:nvSpPr>
          <p:cNvPr id="6" name="Text 3"/>
          <p:cNvSpPr txBox="1"/>
          <p:nvPr/>
        </p:nvSpPr>
        <p:spPr>
          <a:xfrm>
            <a:off x="777240" y="3090672"/>
            <a:ext cx="4937760" cy="365760"/>
          </a:xfrm>
          <a:prstGeom prst="rect">
            <a:avLst/>
          </a:prstGeom>
          <a:noFill/>
          <a:ln/>
        </p:spPr>
        <p:txBody>
          <a:bodyPr wrap="square" lIns="0" tIns="0" rIns="0" bIns="0" rtlCol="0" anchor="ctr"/>
          <a:lstStyle/>
          <a:p>
            <a:pPr indent="0" marL="0">
              <a:buNone/>
            </a:pPr>
            <a:r>
              <a:rPr lang="en-US" sz="1700" b="1" dirty="0">
                <a:solidFill>
                  <a:srgbClr val="E8702A"/>
                </a:solidFill>
                <a:latin typeface="Cambria" pitchFamily="34" charset="0"/>
                <a:ea typeface="Cambria" pitchFamily="34" charset="-122"/>
                <a:cs typeface="Cambria" pitchFamily="34" charset="-120"/>
              </a:rPr>
              <a:t>Término indirecto</a:t>
            </a:r>
            <a:endParaRPr lang="en-US" sz="1700" dirty="0"/>
          </a:p>
        </p:txBody>
      </p:sp>
      <p:sp>
        <p:nvSpPr>
          <p:cNvPr id="7" name="Text 4"/>
          <p:cNvSpPr txBox="1"/>
          <p:nvPr/>
        </p:nvSpPr>
        <p:spPr>
          <a:xfrm>
            <a:off x="777240" y="3520440"/>
            <a:ext cx="4937760" cy="1280160"/>
          </a:xfrm>
          <a:prstGeom prst="rect">
            <a:avLst/>
          </a:prstGeom>
          <a:noFill/>
          <a:ln/>
        </p:spPr>
        <p:txBody>
          <a:bodyPr wrap="square" lIns="0" tIns="0" rIns="0" bIns="0" rtlCol="0" anchor="ctr"/>
          <a:lstStyle/>
          <a:p>
            <a:pPr indent="0" marL="0">
              <a:buNone/>
            </a:pPr>
            <a:r>
              <a:rPr lang="en-US" sz="1400" dirty="0">
                <a:solidFill>
                  <a:srgbClr val="1B1B1F"/>
                </a:solidFill>
              </a:rPr>
              <a:t>El origen (la Tierra) también cae hacia la Luna. En coordenadas geocéntricas hay que restar esa aceleración, −μ_L r_L/|r_L|³ (marco no inercial).</a:t>
            </a:r>
            <a:endParaRPr lang="en-US" sz="1400" dirty="0"/>
          </a:p>
        </p:txBody>
      </p:sp>
      <p:sp>
        <p:nvSpPr>
          <p:cNvPr id="8" name="Shape 5"/>
          <p:cNvSpPr/>
          <p:nvPr/>
        </p:nvSpPr>
        <p:spPr>
          <a:xfrm>
            <a:off x="6217920" y="2971800"/>
            <a:ext cx="5394960" cy="1920240"/>
          </a:xfrm>
          <a:prstGeom prst="roundRect">
            <a:avLst>
              <a:gd name="adj" fmla="val 4762"/>
            </a:avLst>
          </a:prstGeom>
          <a:solidFill>
            <a:srgbClr val="FDEBDD"/>
          </a:solidFill>
          <a:ln w="12700">
            <a:solidFill>
              <a:srgbClr val="FDEBDD"/>
            </a:solidFill>
            <a:prstDash val="solid"/>
          </a:ln>
        </p:spPr>
      </p:sp>
      <p:sp>
        <p:nvSpPr>
          <p:cNvPr id="9" name="Text 6"/>
          <p:cNvSpPr txBox="1"/>
          <p:nvPr/>
        </p:nvSpPr>
        <p:spPr>
          <a:xfrm>
            <a:off x="6446520" y="3090672"/>
            <a:ext cx="4937760" cy="365760"/>
          </a:xfrm>
          <a:prstGeom prst="rect">
            <a:avLst/>
          </a:prstGeom>
          <a:noFill/>
          <a:ln/>
        </p:spPr>
        <p:txBody>
          <a:bodyPr wrap="square" lIns="0" tIns="0" rIns="0" bIns="0" rtlCol="0" anchor="ctr"/>
          <a:lstStyle/>
          <a:p>
            <a:pPr indent="0" marL="0">
              <a:buNone/>
            </a:pPr>
            <a:r>
              <a:rPr lang="en-US" sz="1700" b="1" dirty="0">
                <a:solidFill>
                  <a:srgbClr val="E8702A"/>
                </a:solidFill>
                <a:latin typeface="Cambria" pitchFamily="34" charset="0"/>
                <a:ea typeface="Cambria" pitchFamily="34" charset="-122"/>
                <a:cs typeface="Cambria" pitchFamily="34" charset="-120"/>
              </a:rPr>
              <a:t>Movimiento medio consistente</a:t>
            </a:r>
            <a:endParaRPr lang="en-US" sz="1700" dirty="0"/>
          </a:p>
        </p:txBody>
      </p:sp>
      <p:pic>
        <p:nvPicPr>
          <p:cNvPr id="10" name="Image 1" descr="/home/mayday3003/Documents/githubrepos/ArtemisIV-flight-dynamics/docs/presentation/assets/eq_n.png">    </p:cNvPr>
          <p:cNvPicPr>
            <a:picLocks noChangeAspect="1"/>
          </p:cNvPicPr>
          <p:nvPr/>
        </p:nvPicPr>
        <p:blipFill>
          <a:blip r:embed="rId2"/>
          <a:stretch>
            <a:fillRect/>
          </a:stretch>
        </p:blipFill>
        <p:spPr>
          <a:xfrm>
            <a:off x="6537960" y="3520440"/>
            <a:ext cx="3479999" cy="581309"/>
          </a:xfrm>
          <a:prstGeom prst="rect">
            <a:avLst/>
          </a:prstGeom>
        </p:spPr>
      </p:pic>
      <p:sp>
        <p:nvSpPr>
          <p:cNvPr id="11" name="Text 7"/>
          <p:cNvSpPr txBox="1"/>
          <p:nvPr/>
        </p:nvSpPr>
        <p:spPr>
          <a:xfrm>
            <a:off x="6446520" y="4206240"/>
            <a:ext cx="4937760" cy="640080"/>
          </a:xfrm>
          <a:prstGeom prst="rect">
            <a:avLst/>
          </a:prstGeom>
          <a:noFill/>
          <a:ln/>
        </p:spPr>
        <p:txBody>
          <a:bodyPr wrap="square" lIns="0" tIns="0" rIns="0" bIns="0" rtlCol="0" anchor="ctr"/>
          <a:lstStyle/>
          <a:p>
            <a:pPr indent="0" marL="0">
              <a:buNone/>
            </a:pPr>
            <a:r>
              <a:rPr lang="en-US" sz="1300" dirty="0">
                <a:solidFill>
                  <a:srgbClr val="1B1B1F"/>
                </a:solidFill>
              </a:rPr>
              <a:t>Con n kepleriano el modelo es un CR3BP exacto y la integral de Jacobi se conserva. El valor observado (2.6617e-6) incluye la perturbación solar.</a:t>
            </a:r>
            <a:endParaRPr lang="en-US" sz="1300" dirty="0"/>
          </a:p>
        </p:txBody>
      </p:sp>
      <p:sp>
        <p:nvSpPr>
          <p:cNvPr id="12" name="Shape 8"/>
          <p:cNvSpPr/>
          <p:nvPr/>
        </p:nvSpPr>
        <p:spPr>
          <a:xfrm>
            <a:off x="548640" y="5166360"/>
            <a:ext cx="11064240" cy="694944"/>
          </a:xfrm>
          <a:prstGeom prst="roundRect">
            <a:avLst>
              <a:gd name="adj" fmla="val 10526"/>
            </a:avLst>
          </a:prstGeom>
          <a:solidFill>
            <a:srgbClr val="F1F3F6"/>
          </a:solidFill>
          <a:ln w="9525">
            <a:solidFill>
              <a:srgbClr val="D5DAE1"/>
            </a:solidFill>
            <a:prstDash val="solid"/>
          </a:ln>
        </p:spPr>
      </p:sp>
      <p:sp>
        <p:nvSpPr>
          <p:cNvPr id="13" name="Text 9"/>
          <p:cNvSpPr txBox="1"/>
          <p:nvPr/>
        </p:nvSpPr>
        <p:spPr>
          <a:xfrm>
            <a:off x="658368" y="5166360"/>
            <a:ext cx="10844784" cy="694944"/>
          </a:xfrm>
          <a:prstGeom prst="rect">
            <a:avLst/>
          </a:prstGeom>
          <a:noFill/>
          <a:ln/>
        </p:spPr>
        <p:txBody>
          <a:bodyPr wrap="square" lIns="0" tIns="0" rIns="0" bIns="0" rtlCol="0" anchor="ctr"/>
          <a:lstStyle/>
          <a:p>
            <a:pPr indent="0" marL="0">
              <a:buNone/>
            </a:pPr>
            <a:r>
              <a:rPr lang="en-US" sz="1150" dirty="0">
                <a:solidFill>
                  <a:srgbClr val="52514E"/>
                </a:solidFill>
                <a:latin typeface="Courier New" pitchFamily="34" charset="0"/>
                <a:ea typeface="Courier New" pitchFamily="34" charset="-122"/>
                <a:cs typeface="Courier New" pitchFamily="34" charset="-120"/>
              </a:rPr>
              <a:t>src/artemis_sim/symplectic_solver.py → compute_n_body_acceleration(r, t)</a:t>
            </a:r>
            <a:endParaRPr lang="en-US" sz="1150" dirty="0"/>
          </a:p>
          <a:p>
            <a:pPr indent="0" marL="0">
              <a:buNone/>
            </a:pPr>
            <a:r>
              <a:rPr lang="en-US" sz="1150" b="1" dirty="0">
                <a:solidFill>
                  <a:srgbClr val="0B1D3A"/>
                </a:solidFill>
                <a:latin typeface="Courier New" pitchFamily="34" charset="0"/>
                <a:ea typeface="Courier New" pitchFamily="34" charset="-122"/>
                <a:cs typeface="Courier New" pitchFamily="34" charset="-120"/>
              </a:rPr>
              <a:t>src/artemis_sim/ephemeris.py → LUNAR_MEAN_MOTION_RAD_S · get_body_position() · get_body_velocity()</a:t>
            </a:r>
            <a:endParaRPr lang="en-US" sz="115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000" b="1" dirty="0">
                <a:solidFill>
                  <a:srgbClr val="0B1D3A"/>
                </a:solidFill>
                <a:latin typeface="Cambria" pitchFamily="34" charset="0"/>
                <a:ea typeface="Cambria" pitchFamily="34" charset="-122"/>
                <a:cs typeface="Cambria" pitchFamily="34" charset="-120"/>
              </a:rPr>
              <a:t>Velocity Verlet: un integrador simpléctico</a:t>
            </a:r>
            <a:endParaRPr lang="en-US" sz="3000" dirty="0"/>
          </a:p>
        </p:txBody>
      </p:sp>
      <p:sp>
        <p:nvSpPr>
          <p:cNvPr id="3" name="Text 1"/>
          <p:cNvSpPr txBox="1"/>
          <p:nvPr/>
        </p:nvSpPr>
        <p:spPr>
          <a:xfrm>
            <a:off x="548640" y="1234440"/>
            <a:ext cx="10972800" cy="365760"/>
          </a:xfrm>
          <a:prstGeom prst="rect">
            <a:avLst/>
          </a:prstGeom>
          <a:noFill/>
          <a:ln/>
        </p:spPr>
        <p:txBody>
          <a:bodyPr wrap="square" lIns="0" tIns="0" rIns="0" bIns="0" rtlCol="0" anchor="ctr"/>
          <a:lstStyle/>
          <a:p>
            <a:pPr indent="0" marL="0">
              <a:buNone/>
            </a:pPr>
            <a:r>
              <a:rPr lang="en-US" sz="1600" b="1" dirty="0">
                <a:solidFill>
                  <a:srgbClr val="0B1D3A"/>
                </a:solidFill>
              </a:rPr>
              <a:t>Esquema kick–drift–kick (orden 2, una evaluación de fuerza por paso)</a:t>
            </a:r>
            <a:endParaRPr lang="en-US" sz="1600" dirty="0"/>
          </a:p>
        </p:txBody>
      </p:sp>
      <p:pic>
        <p:nvPicPr>
          <p:cNvPr id="4" name="Image 0" descr="/home/mayday3003/Documents/githubrepos/ArtemisIV-flight-dynamics/docs/presentation/assets/eq_verlet.png">    </p:cNvPr>
          <p:cNvPicPr>
            <a:picLocks noChangeAspect="1"/>
          </p:cNvPicPr>
          <p:nvPr/>
        </p:nvPicPr>
        <p:blipFill>
          <a:blip r:embed="rId1"/>
          <a:stretch>
            <a:fillRect/>
          </a:stretch>
        </p:blipFill>
        <p:spPr>
          <a:xfrm>
            <a:off x="731520" y="1737360"/>
            <a:ext cx="7682706" cy="420832"/>
          </a:xfrm>
          <a:prstGeom prst="rect">
            <a:avLst/>
          </a:prstGeom>
        </p:spPr>
      </p:pic>
      <p:sp>
        <p:nvSpPr>
          <p:cNvPr id="5" name="Text 2"/>
          <p:cNvSpPr txBox="1"/>
          <p:nvPr/>
        </p:nvSpPr>
        <p:spPr>
          <a:xfrm>
            <a:off x="548640" y="2514600"/>
            <a:ext cx="5669280" cy="2194560"/>
          </a:xfrm>
          <a:prstGeom prst="rect">
            <a:avLst/>
          </a:prstGeom>
          <a:noFill/>
          <a:ln/>
        </p:spPr>
        <p:txBody>
          <a:bodyPr wrap="square" lIns="0" tIns="0" rIns="0" bIns="0" rtlCol="0" anchor="t"/>
          <a:lstStyle/>
          <a:p>
            <a:pPr marL="342900" indent="-342900">
              <a:spcAft>
                <a:spcPts val="800"/>
              </a:spcAft>
              <a:buSzPct val="100000"/>
              <a:buChar char="•"/>
            </a:pPr>
            <a:r>
              <a:rPr lang="en-US" sz="1500" b="1" dirty="0">
                <a:solidFill>
                  <a:srgbClr val="1B1B1F"/>
                </a:solidFill>
              </a:rPr>
              <a:t>Simpléctico: </a:t>
            </a:r>
            <a:pPr indent="0" marL="0">
              <a:spcAft>
                <a:spcPts val="800"/>
              </a:spcAft>
              <a:buNone/>
            </a:pPr>
            <a:r>
              <a:rPr lang="en-US" sz="1500" dirty="0">
                <a:solidFill>
                  <a:srgbClr val="1B1B1F"/>
                </a:solidFill>
              </a:rPr>
              <a:t>preserva la 2-forma del espacio de fases</a:t>
            </a:r>
            <a:endParaRPr lang="en-US" sz="1500" dirty="0"/>
          </a:p>
          <a:p>
            <a:pPr marL="342900" indent="-342900">
              <a:spcAft>
                <a:spcPts val="800"/>
              </a:spcAft>
              <a:buSzPct val="100000"/>
              <a:buChar char="•"/>
            </a:pPr>
            <a:r>
              <a:rPr lang="en-US" sz="1500" b="1" dirty="0">
                <a:solidFill>
                  <a:srgbClr val="1B1B1F"/>
                </a:solidFill>
              </a:rPr>
              <a:t>Hamiltoniano modificado: </a:t>
            </a:r>
            <a:pPr indent="0" marL="0">
              <a:spcAft>
                <a:spcPts val="800"/>
              </a:spcAft>
              <a:buNone/>
            </a:pPr>
            <a:r>
              <a:rPr lang="en-US" sz="1500" dirty="0">
                <a:solidFill>
                  <a:srgbClr val="1B1B1F"/>
                </a:solidFill>
              </a:rPr>
              <a:t>el error de energía oscila acotado, sin deriva</a:t>
            </a:r>
            <a:endParaRPr lang="en-US" sz="1500" dirty="0"/>
          </a:p>
          <a:p>
            <a:pPr marL="342900" indent="-342900">
              <a:spcAft>
                <a:spcPts val="800"/>
              </a:spcAft>
              <a:buSzPct val="100000"/>
              <a:buChar char="•"/>
            </a:pPr>
            <a:r>
              <a:rPr lang="en-US" sz="1500" b="1" dirty="0">
                <a:solidFill>
                  <a:srgbClr val="1B1B1F"/>
                </a:solidFill>
              </a:rPr>
              <a:t>Fuerza central: </a:t>
            </a:r>
            <a:pPr indent="0" marL="0">
              <a:spcAft>
                <a:spcPts val="800"/>
              </a:spcAft>
              <a:buNone/>
            </a:pPr>
            <a:r>
              <a:rPr lang="en-US" sz="1500" dirty="0">
                <a:solidFill>
                  <a:srgbClr val="1B1B1F"/>
                </a:solidFill>
              </a:rPr>
              <a:t>conserva el momento angular hasta el redondeo</a:t>
            </a:r>
            <a:endParaRPr lang="en-US" sz="1500" dirty="0"/>
          </a:p>
          <a:p>
            <a:pPr marL="342900" indent="-342900">
              <a:spcAft>
                <a:spcPts val="800"/>
              </a:spcAft>
              <a:buSzPct val="100000"/>
              <a:buChar char="•"/>
            </a:pPr>
            <a:r>
              <a:rPr lang="en-US" sz="1500" b="1" dirty="0">
                <a:solidFill>
                  <a:srgbClr val="1B1B1F"/>
                </a:solidFill>
              </a:rPr>
              <a:t>Verificado: </a:t>
            </a:r>
            <a:pPr indent="0" marL="0">
              <a:spcAft>
                <a:spcPts val="800"/>
              </a:spcAft>
              <a:buNone/>
            </a:pPr>
            <a:r>
              <a:rPr lang="en-US" sz="1500" dirty="0">
                <a:solidFill>
                  <a:srgbClr val="1B1B1F"/>
                </a:solidFill>
              </a:rPr>
              <a:t>pendientes 2.00 (Verlet) y 4.14 (RK4)</a:t>
            </a:r>
            <a:endParaRPr lang="en-US" sz="1500" dirty="0"/>
          </a:p>
        </p:txBody>
      </p:sp>
      <p:pic>
        <p:nvPicPr>
          <p:cNvPr id="6" name="Image 1" descr="/home/mayday3003/Documents/githubrepos/ArtemisIV-flight-dynamics/docs/presentation/assets/eq_hmod.png">    </p:cNvPr>
          <p:cNvPicPr>
            <a:picLocks noChangeAspect="1"/>
          </p:cNvPicPr>
          <p:nvPr/>
        </p:nvPicPr>
        <p:blipFill>
          <a:blip r:embed="rId2"/>
          <a:stretch>
            <a:fillRect/>
          </a:stretch>
        </p:blipFill>
        <p:spPr>
          <a:xfrm>
            <a:off x="731520" y="4526280"/>
            <a:ext cx="4610446" cy="362476"/>
          </a:xfrm>
          <a:prstGeom prst="rect">
            <a:avLst/>
          </a:prstGeom>
        </p:spPr>
      </p:pic>
      <p:pic>
        <p:nvPicPr>
          <p:cNvPr id="7" name="Image 2" descr="/home/mayday3003/Documents/githubrepos/ArtemisIV-flight-dynamics/docs/figures/fig04_orden_convergencia.png">    </p:cNvPr>
          <p:cNvPicPr>
            <a:picLocks noChangeAspect="1"/>
          </p:cNvPicPr>
          <p:nvPr/>
        </p:nvPicPr>
        <p:blipFill>
          <a:blip r:embed="rId3"/>
          <a:stretch>
            <a:fillRect/>
          </a:stretch>
        </p:blipFill>
        <p:spPr>
          <a:xfrm>
            <a:off x="6621413" y="2331720"/>
            <a:ext cx="4862294" cy="3566160"/>
          </a:xfrm>
          <a:prstGeom prst="rect">
            <a:avLst/>
          </a:prstGeom>
        </p:spPr>
      </p:pic>
      <p:sp>
        <p:nvSpPr>
          <p:cNvPr id="8" name="Shape 3"/>
          <p:cNvSpPr/>
          <p:nvPr/>
        </p:nvSpPr>
        <p:spPr>
          <a:xfrm>
            <a:off x="548640" y="5349240"/>
            <a:ext cx="5760720" cy="448056"/>
          </a:xfrm>
          <a:prstGeom prst="roundRect">
            <a:avLst>
              <a:gd name="adj" fmla="val 16327"/>
            </a:avLst>
          </a:prstGeom>
          <a:solidFill>
            <a:srgbClr val="F1F3F6"/>
          </a:solidFill>
          <a:ln w="9525">
            <a:solidFill>
              <a:srgbClr val="D5DAE1"/>
            </a:solidFill>
            <a:prstDash val="solid"/>
          </a:ln>
        </p:spPr>
      </p:sp>
      <p:sp>
        <p:nvSpPr>
          <p:cNvPr id="9" name="Text 4"/>
          <p:cNvSpPr txBox="1"/>
          <p:nvPr/>
        </p:nvSpPr>
        <p:spPr>
          <a:xfrm>
            <a:off x="658368" y="5349240"/>
            <a:ext cx="5541264" cy="448056"/>
          </a:xfrm>
          <a:prstGeom prst="rect">
            <a:avLst/>
          </a:prstGeom>
          <a:noFill/>
          <a:ln/>
        </p:spPr>
        <p:txBody>
          <a:bodyPr wrap="square" lIns="0" tIns="0" rIns="0" bIns="0" rtlCol="0" anchor="ctr"/>
          <a:lstStyle/>
          <a:p>
            <a:pPr indent="0" marL="0">
              <a:buNone/>
            </a:pPr>
            <a:r>
              <a:rPr lang="en-US" sz="1150" dirty="0">
                <a:solidFill>
                  <a:srgbClr val="52514E"/>
                </a:solidFill>
                <a:latin typeface="Courier New" pitchFamily="34" charset="0"/>
                <a:ea typeface="Courier New" pitchFamily="34" charset="-122"/>
                <a:cs typeface="Courier New" pitchFamily="34" charset="-120"/>
              </a:rPr>
              <a:t>symplectic_solver.py → verlet_step() · propagate_verlet() · propagate_rk4() · propagate_reference_dop853()</a:t>
            </a:r>
            <a:endParaRPr lang="en-US" sz="115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000" b="1" dirty="0">
                <a:solidFill>
                  <a:srgbClr val="0B1D3A"/>
                </a:solidFill>
                <a:latin typeface="Cambria" pitchFamily="34" charset="0"/>
                <a:ea typeface="Cambria" pitchFamily="34" charset="-122"/>
                <a:cs typeface="Cambria" pitchFamily="34" charset="-120"/>
              </a:rPr>
              <a:t>Acotado frente a deriva: Verlet, RK4 y DOP853</a:t>
            </a:r>
            <a:endParaRPr lang="en-US" sz="3000" dirty="0"/>
          </a:p>
        </p:txBody>
      </p:sp>
      <p:pic>
        <p:nvPicPr>
          <p:cNvPr id="3" name="Image 0" descr="/home/mayday3003/Documents/githubrepos/ArtemisIV-flight-dynamics/docs/figures/fig03_conservacion_integradores.png">    </p:cNvPr>
          <p:cNvPicPr>
            <a:picLocks noChangeAspect="1"/>
          </p:cNvPicPr>
          <p:nvPr/>
        </p:nvPicPr>
        <p:blipFill>
          <a:blip r:embed="rId1"/>
          <a:stretch>
            <a:fillRect/>
          </a:stretch>
        </p:blipFill>
        <p:spPr>
          <a:xfrm>
            <a:off x="548640" y="1167842"/>
            <a:ext cx="7132320" cy="5070956"/>
          </a:xfrm>
          <a:prstGeom prst="rect">
            <a:avLst/>
          </a:prstGeom>
        </p:spPr>
      </p:pic>
      <p:sp>
        <p:nvSpPr>
          <p:cNvPr id="4" name="Shape 1"/>
          <p:cNvSpPr/>
          <p:nvPr/>
        </p:nvSpPr>
        <p:spPr>
          <a:xfrm>
            <a:off x="8001000" y="1234440"/>
            <a:ext cx="3611880" cy="1143000"/>
          </a:xfrm>
          <a:prstGeom prst="roundRect">
            <a:avLst>
              <a:gd name="adj" fmla="val 8000"/>
            </a:avLst>
          </a:prstGeom>
          <a:solidFill>
            <a:srgbClr val="EEF2F7"/>
          </a:solidFill>
          <a:ln w="12700">
            <a:solidFill>
              <a:srgbClr val="EEF2F7"/>
            </a:solidFill>
            <a:prstDash val="solid"/>
          </a:ln>
        </p:spPr>
      </p:sp>
      <p:sp>
        <p:nvSpPr>
          <p:cNvPr id="5" name="Text 2"/>
          <p:cNvSpPr txBox="1"/>
          <p:nvPr/>
        </p:nvSpPr>
        <p:spPr>
          <a:xfrm>
            <a:off x="8001000" y="1307592"/>
            <a:ext cx="3611880" cy="640080"/>
          </a:xfrm>
          <a:prstGeom prst="rect">
            <a:avLst/>
          </a:prstGeom>
          <a:noFill/>
          <a:ln/>
        </p:spPr>
        <p:txBody>
          <a:bodyPr wrap="square" lIns="0" tIns="0" rIns="0" bIns="0" rtlCol="0" anchor="ctr"/>
          <a:lstStyle/>
          <a:p>
            <a:pPr algn="ctr" indent="0" marL="0">
              <a:buNone/>
            </a:pPr>
            <a:r>
              <a:rPr lang="en-US" sz="3000" b="1" dirty="0">
                <a:solidFill>
                  <a:srgbClr val="2A78D6"/>
                </a:solidFill>
                <a:latin typeface="Cambria" pitchFamily="34" charset="0"/>
                <a:ea typeface="Cambria" pitchFamily="34" charset="-122"/>
                <a:cs typeface="Cambria" pitchFamily="34" charset="-120"/>
              </a:rPr>
              <a:t>1.5e-4</a:t>
            </a:r>
            <a:endParaRPr lang="en-US" sz="3000" dirty="0"/>
          </a:p>
        </p:txBody>
      </p:sp>
      <p:sp>
        <p:nvSpPr>
          <p:cNvPr id="6" name="Text 3"/>
          <p:cNvSpPr txBox="1"/>
          <p:nvPr/>
        </p:nvSpPr>
        <p:spPr>
          <a:xfrm>
            <a:off x="8092440" y="1929384"/>
            <a:ext cx="3429000" cy="365760"/>
          </a:xfrm>
          <a:prstGeom prst="rect">
            <a:avLst/>
          </a:prstGeom>
          <a:noFill/>
          <a:ln/>
        </p:spPr>
        <p:txBody>
          <a:bodyPr wrap="square" lIns="0" tIns="0" rIns="0" bIns="0" rtlCol="0" anchor="ctr"/>
          <a:lstStyle/>
          <a:p>
            <a:pPr algn="ctr" indent="0" marL="0">
              <a:buNone/>
            </a:pPr>
            <a:r>
              <a:rPr lang="en-US" sz="1250" dirty="0">
                <a:solidFill>
                  <a:srgbClr val="52514E"/>
                </a:solidFill>
              </a:rPr>
              <a:t>Verlet: error máximo de energía (acotado)</a:t>
            </a:r>
            <a:endParaRPr lang="en-US" sz="1250" dirty="0"/>
          </a:p>
        </p:txBody>
      </p:sp>
      <p:sp>
        <p:nvSpPr>
          <p:cNvPr id="7" name="Shape 4"/>
          <p:cNvSpPr/>
          <p:nvPr/>
        </p:nvSpPr>
        <p:spPr>
          <a:xfrm>
            <a:off x="8001000" y="2560320"/>
            <a:ext cx="3611880" cy="1143000"/>
          </a:xfrm>
          <a:prstGeom prst="roundRect">
            <a:avLst>
              <a:gd name="adj" fmla="val 8000"/>
            </a:avLst>
          </a:prstGeom>
          <a:solidFill>
            <a:srgbClr val="EEF2F7"/>
          </a:solidFill>
          <a:ln w="12700">
            <a:solidFill>
              <a:srgbClr val="EEF2F7"/>
            </a:solidFill>
            <a:prstDash val="solid"/>
          </a:ln>
        </p:spPr>
      </p:sp>
      <p:sp>
        <p:nvSpPr>
          <p:cNvPr id="8" name="Text 5"/>
          <p:cNvSpPr txBox="1"/>
          <p:nvPr/>
        </p:nvSpPr>
        <p:spPr>
          <a:xfrm>
            <a:off x="8001000" y="2633472"/>
            <a:ext cx="3611880" cy="640080"/>
          </a:xfrm>
          <a:prstGeom prst="rect">
            <a:avLst/>
          </a:prstGeom>
          <a:noFill/>
          <a:ln/>
        </p:spPr>
        <p:txBody>
          <a:bodyPr wrap="square" lIns="0" tIns="0" rIns="0" bIns="0" rtlCol="0" anchor="ctr"/>
          <a:lstStyle/>
          <a:p>
            <a:pPr algn="ctr" indent="0" marL="0">
              <a:buNone/>
            </a:pPr>
            <a:r>
              <a:rPr lang="en-US" sz="3000" b="1" dirty="0">
                <a:solidFill>
                  <a:srgbClr val="E8702A"/>
                </a:solidFill>
                <a:latin typeface="Cambria" pitchFamily="34" charset="0"/>
                <a:ea typeface="Cambria" pitchFamily="34" charset="-122"/>
                <a:cs typeface="Cambria" pitchFamily="34" charset="-120"/>
              </a:rPr>
              <a:t>3.4e-3</a:t>
            </a:r>
            <a:endParaRPr lang="en-US" sz="3000" dirty="0"/>
          </a:p>
        </p:txBody>
      </p:sp>
      <p:sp>
        <p:nvSpPr>
          <p:cNvPr id="9" name="Text 6"/>
          <p:cNvSpPr txBox="1"/>
          <p:nvPr/>
        </p:nvSpPr>
        <p:spPr>
          <a:xfrm>
            <a:off x="8092440" y="3255264"/>
            <a:ext cx="3429000" cy="365760"/>
          </a:xfrm>
          <a:prstGeom prst="rect">
            <a:avLst/>
          </a:prstGeom>
          <a:noFill/>
          <a:ln/>
        </p:spPr>
        <p:txBody>
          <a:bodyPr wrap="square" lIns="0" tIns="0" rIns="0" bIns="0" rtlCol="0" anchor="ctr"/>
          <a:lstStyle/>
          <a:p>
            <a:pPr algn="ctr" indent="0" marL="0">
              <a:buNone/>
            </a:pPr>
            <a:r>
              <a:rPr lang="en-US" sz="1250" dirty="0">
                <a:solidFill>
                  <a:srgbClr val="52514E"/>
                </a:solidFill>
              </a:rPr>
              <a:t>RK4: error final (deriva secular)</a:t>
            </a:r>
            <a:endParaRPr lang="en-US" sz="1250" dirty="0"/>
          </a:p>
        </p:txBody>
      </p:sp>
      <p:sp>
        <p:nvSpPr>
          <p:cNvPr id="10" name="Text 7"/>
          <p:cNvSpPr txBox="1"/>
          <p:nvPr/>
        </p:nvSpPr>
        <p:spPr>
          <a:xfrm>
            <a:off x="8001000" y="3931920"/>
            <a:ext cx="3611880" cy="22860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B1B1F"/>
                </a:solidFill>
              </a:rPr>
              <a:t>200 órbitas a 400 km con Δt = T/40</a:t>
            </a:r>
            <a:endParaRPr lang="en-US" sz="1400" dirty="0"/>
          </a:p>
          <a:p>
            <a:pPr marL="342900" indent="-342900">
              <a:spcAft>
                <a:spcPts val="800"/>
              </a:spcAft>
              <a:buSzPct val="100000"/>
              <a:buChar char="•"/>
            </a:pPr>
            <a:r>
              <a:rPr lang="en-US" sz="1400" dirty="0">
                <a:solidFill>
                  <a:srgbClr val="1B1B1F"/>
                </a:solidFill>
              </a:rPr>
              <a:t>RK4 tiene mayor orden, pero disipa energía y la órbita decae artificialmente</a:t>
            </a:r>
            <a:endParaRPr lang="en-US" sz="1400" dirty="0"/>
          </a:p>
          <a:p>
            <a:pPr marL="342900" indent="-342900">
              <a:spcAft>
                <a:spcPts val="800"/>
              </a:spcAft>
              <a:buSzPct val="100000"/>
              <a:buChar char="•"/>
            </a:pPr>
            <a:r>
              <a:rPr lang="en-US" sz="1400" dirty="0">
                <a:solidFill>
                  <a:srgbClr val="1B1B1F"/>
                </a:solidFill>
              </a:rPr>
              <a:t>DOP853 es más preciso, pero también deriva y cuesta muchas más evaluaciones</a:t>
            </a:r>
            <a:endParaRPr lang="en-US" sz="140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000" b="1" dirty="0">
                <a:solidFill>
                  <a:srgbClr val="0B1D3A"/>
                </a:solidFill>
                <a:latin typeface="Cambria" pitchFamily="34" charset="0"/>
                <a:ea typeface="Cambria" pitchFamily="34" charset="-122"/>
                <a:cs typeface="Cambria" pitchFamily="34" charset="-120"/>
              </a:rPr>
              <a:t>Con la Luna: el invariante correcto es la integral de Jacobi</a:t>
            </a:r>
            <a:endParaRPr lang="en-US" sz="3000" dirty="0"/>
          </a:p>
        </p:txBody>
      </p:sp>
      <p:pic>
        <p:nvPicPr>
          <p:cNvPr id="3" name="Image 0" descr="/home/mayday3003/Documents/githubrepos/ArtemisIV-flight-dynamics/docs/presentation/assets/eq_jacobi.png">    </p:cNvPr>
          <p:cNvPicPr>
            <a:picLocks noChangeAspect="1"/>
          </p:cNvPicPr>
          <p:nvPr/>
        </p:nvPicPr>
        <p:blipFill>
          <a:blip r:embed="rId1"/>
          <a:stretch>
            <a:fillRect/>
          </a:stretch>
        </p:blipFill>
        <p:spPr>
          <a:xfrm>
            <a:off x="731520" y="1325880"/>
            <a:ext cx="4770549" cy="602631"/>
          </a:xfrm>
          <a:prstGeom prst="rect">
            <a:avLst/>
          </a:prstGeom>
        </p:spPr>
      </p:pic>
      <p:sp>
        <p:nvSpPr>
          <p:cNvPr id="4" name="Text 1"/>
          <p:cNvSpPr txBox="1"/>
          <p:nvPr/>
        </p:nvSpPr>
        <p:spPr>
          <a:xfrm>
            <a:off x="548640" y="2240280"/>
            <a:ext cx="5303520" cy="27432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B1B1F"/>
                </a:solidFill>
              </a:rPr>
              <a:t>El potencial lunar depende del tiempo, así que la energía geocéntrica no se conserva</a:t>
            </a:r>
            <a:endParaRPr lang="en-US" sz="1500" dirty="0"/>
          </a:p>
          <a:p>
            <a:pPr marL="342900" indent="-342900">
              <a:spcAft>
                <a:spcPts val="800"/>
              </a:spcAft>
              <a:buSzPct val="100000"/>
              <a:buChar char="•"/>
            </a:pPr>
            <a:r>
              <a:rPr lang="en-US" sz="1500" dirty="0">
                <a:solidFill>
                  <a:srgbClr val="1B1B1F"/>
                </a:solidFill>
              </a:rPr>
              <a:t>En el marco baricéntrico rotante el sistema es autónomo y E_J es constante</a:t>
            </a:r>
            <a:endParaRPr lang="en-US" sz="1500" dirty="0"/>
          </a:p>
          <a:p>
            <a:pPr marL="342900" indent="-342900">
              <a:spcAft>
                <a:spcPts val="800"/>
              </a:spcAft>
              <a:buSzPct val="100000"/>
              <a:buChar char="•"/>
            </a:pPr>
            <a:r>
              <a:rPr lang="en-US" sz="1500" dirty="0">
                <a:solidFill>
                  <a:srgbClr val="1B1B1F"/>
                </a:solidFill>
              </a:rPr>
              <a:t>Variación de la energía geocéntrica: 77 %</a:t>
            </a:r>
            <a:endParaRPr lang="en-US" sz="1500" dirty="0"/>
          </a:p>
          <a:p>
            <a:pPr marL="342900" indent="-342900">
              <a:spcAft>
                <a:spcPts val="800"/>
              </a:spcAft>
              <a:buSzPct val="100000"/>
              <a:buChar char="•"/>
            </a:pPr>
            <a:r>
              <a:rPr lang="en-US" sz="1500" dirty="0">
                <a:solidFill>
                  <a:srgbClr val="1B1B1F"/>
                </a:solidFill>
              </a:rPr>
              <a:t>Variación de Jacobi con Verlet (Δt = 1 s): 9.7e-6</a:t>
            </a:r>
            <a:endParaRPr lang="en-US" sz="1500" dirty="0"/>
          </a:p>
        </p:txBody>
      </p:sp>
      <p:pic>
        <p:nvPicPr>
          <p:cNvPr id="5" name="Image 1" descr="/home/mayday3003/Documents/githubrepos/ArtemisIV-flight-dynamics/docs/figures/fig08_jacobi.png">    </p:cNvPr>
          <p:cNvPicPr>
            <a:picLocks noChangeAspect="1"/>
          </p:cNvPicPr>
          <p:nvPr/>
        </p:nvPicPr>
        <p:blipFill>
          <a:blip r:embed="rId2"/>
          <a:stretch>
            <a:fillRect/>
          </a:stretch>
        </p:blipFill>
        <p:spPr>
          <a:xfrm>
            <a:off x="6126480" y="1519870"/>
            <a:ext cx="5486400" cy="3269619"/>
          </a:xfrm>
          <a:prstGeom prst="rect">
            <a:avLst/>
          </a:prstGeom>
        </p:spPr>
      </p:pic>
      <p:sp>
        <p:nvSpPr>
          <p:cNvPr id="6" name="Shape 2"/>
          <p:cNvSpPr/>
          <p:nvPr/>
        </p:nvSpPr>
        <p:spPr>
          <a:xfrm>
            <a:off x="548640" y="5257800"/>
            <a:ext cx="11064240" cy="694944"/>
          </a:xfrm>
          <a:prstGeom prst="roundRect">
            <a:avLst>
              <a:gd name="adj" fmla="val 10526"/>
            </a:avLst>
          </a:prstGeom>
          <a:solidFill>
            <a:srgbClr val="F1F3F6"/>
          </a:solidFill>
          <a:ln w="9525">
            <a:solidFill>
              <a:srgbClr val="D5DAE1"/>
            </a:solidFill>
            <a:prstDash val="solid"/>
          </a:ln>
        </p:spPr>
      </p:sp>
      <p:sp>
        <p:nvSpPr>
          <p:cNvPr id="7" name="Text 3"/>
          <p:cNvSpPr txBox="1"/>
          <p:nvPr/>
        </p:nvSpPr>
        <p:spPr>
          <a:xfrm>
            <a:off x="658368" y="5257800"/>
            <a:ext cx="10844784" cy="694944"/>
          </a:xfrm>
          <a:prstGeom prst="rect">
            <a:avLst/>
          </a:prstGeom>
          <a:noFill/>
          <a:ln/>
        </p:spPr>
        <p:txBody>
          <a:bodyPr wrap="square" lIns="0" tIns="0" rIns="0" bIns="0" rtlCol="0" anchor="ctr"/>
          <a:lstStyle/>
          <a:p>
            <a:pPr indent="0" marL="0">
              <a:buNone/>
            </a:pPr>
            <a:r>
              <a:rPr lang="en-US" sz="1150" dirty="0">
                <a:solidFill>
                  <a:srgbClr val="52514E"/>
                </a:solidFill>
                <a:latin typeface="Courier New" pitchFamily="34" charset="0"/>
                <a:ea typeface="Courier New" pitchFamily="34" charset="-122"/>
                <a:cs typeface="Courier New" pitchFamily="34" charset="-120"/>
              </a:rPr>
              <a:t>src/artemis_sim/symplectic_solver.py</a:t>
            </a:r>
            <a:endParaRPr lang="en-US" sz="1150" dirty="0"/>
          </a:p>
          <a:p>
            <a:pPr indent="0" marL="0">
              <a:buNone/>
            </a:pPr>
            <a:r>
              <a:rPr lang="en-US" sz="1150" b="1" dirty="0">
                <a:solidFill>
                  <a:srgbClr val="0B1D3A"/>
                </a:solidFill>
                <a:latin typeface="Courier New" pitchFamily="34" charset="0"/>
                <a:ea typeface="Courier New" pitchFamily="34" charset="-122"/>
                <a:cs typeface="Courier New" pitchFamily="34" charset="-120"/>
              </a:rPr>
              <a:t>compute_jacobi_constant(state) · compute_system_energy(state, t)</a:t>
            </a:r>
            <a:endParaRPr lang="en-US" sz="115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1463040"/>
            <a:ext cx="2743200" cy="1188720"/>
          </a:xfrm>
          <a:prstGeom prst="rect">
            <a:avLst/>
          </a:prstGeom>
          <a:noFill/>
          <a:ln/>
        </p:spPr>
        <p:txBody>
          <a:bodyPr wrap="square" lIns="0" tIns="0" rIns="0" bIns="0" rtlCol="0" anchor="ctr"/>
          <a:lstStyle/>
          <a:p>
            <a:pPr indent="0" marL="0">
              <a:buNone/>
            </a:pPr>
            <a:r>
              <a:rPr lang="en-US" sz="8000" b="1" dirty="0">
                <a:solidFill>
                  <a:srgbClr val="E8702A"/>
                </a:solidFill>
                <a:latin typeface="Cambria" pitchFamily="34" charset="0"/>
                <a:ea typeface="Cambria" pitchFamily="34" charset="-122"/>
                <a:cs typeface="Cambria" pitchFamily="34" charset="-120"/>
              </a:rPr>
              <a:t>03</a:t>
            </a:r>
            <a:endParaRPr lang="en-US" sz="8000" dirty="0"/>
          </a:p>
        </p:txBody>
      </p:sp>
      <p:sp>
        <p:nvSpPr>
          <p:cNvPr id="3" name="Text 0"/>
          <p:cNvSpPr/>
          <p:nvPr>
            <p:ph idx="100" type="title" hasCustomPrompt="1"/>
          </p:nvPr>
        </p:nvSpPr>
        <p:spPr>
          <a:xfrm>
            <a:off x="548640" y="2743200"/>
            <a:ext cx="7498080" cy="109728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Fase 3 · Inyección translunar</a:t>
            </a:r>
            <a:endParaRPr lang="en-US" sz="4000" dirty="0"/>
          </a:p>
        </p:txBody>
      </p:sp>
      <p:sp>
        <p:nvSpPr>
          <p:cNvPr id="4" name="Text 0"/>
          <p:cNvSpPr/>
          <p:nvPr>
            <p:ph idx="101" type="body" hasCustomPrompt="1"/>
          </p:nvPr>
        </p:nvSpPr>
        <p:spPr>
          <a:xfrm>
            <a:off x="548640" y="3840480"/>
            <a:ext cx="7498080" cy="1097280"/>
          </a:xfrm>
          <a:prstGeom prst="rect">
            <a:avLst/>
          </a:prstGeom>
          <a:noFill/>
          <a:ln/>
        </p:spPr>
        <p:txBody>
          <a:bodyPr wrap="square" lIns="0" tIns="0" rIns="0" bIns="0" rtlCol="0" anchor="t"/>
          <a:lstStyle/>
          <a:p>
            <a:pPr algn="l" indent="0" marL="0">
              <a:buNone/>
            </a:pPr>
            <a:r>
              <a:rPr lang="en-US" sz="1800" dirty="0">
                <a:solidFill>
                  <a:srgbClr val="CADCFC"/>
                </a:solidFill>
                <a:latin typeface="Calibri" pitchFamily="34" charset="0"/>
                <a:ea typeface="Calibri" pitchFamily="34" charset="-122"/>
                <a:cs typeface="Calibri" pitchFamily="34" charset="-120"/>
              </a:rPr>
              <a:t>Problema de valores en la frontera: método del disparo</a:t>
            </a:r>
            <a:endParaRPr lang="en-US" sz="1800" dirty="0"/>
          </a:p>
        </p:txBody>
      </p:sp>
      <p:pic>
        <p:nvPicPr>
          <p:cNvPr id="5" name="Image 0" descr="/home/mayday3003/Documents/githubrepos/ArtemisIV-flight-dynamics/docs/presentation/assets/nasa_sls_launch.jpg">    </p:cNvPr>
          <p:cNvPicPr>
            <a:picLocks noChangeAspect="1"/>
          </p:cNvPicPr>
          <p:nvPr/>
        </p:nvPicPr>
        <p:blipFill>
          <a:blip r:embed="rId1"/>
          <a:stretch>
            <a:fillRect/>
          </a:stretch>
        </p:blipFill>
        <p:spPr>
          <a:xfrm>
            <a:off x="8229600" y="1063084"/>
            <a:ext cx="3383280" cy="4731832"/>
          </a:xfrm>
          <a:prstGeom prst="rect">
            <a:avLst/>
          </a:prstGeom>
        </p:spPr>
      </p:pic>
      <p:sp>
        <p:nvSpPr>
          <p:cNvPr id="6" name="Text 3"/>
          <p:cNvSpPr txBox="1"/>
          <p:nvPr/>
        </p:nvSpPr>
        <p:spPr>
          <a:xfrm>
            <a:off x="8229600" y="6355080"/>
            <a:ext cx="3383280" cy="228600"/>
          </a:xfrm>
          <a:prstGeom prst="rect">
            <a:avLst/>
          </a:prstGeom>
          <a:noFill/>
          <a:ln/>
        </p:spPr>
        <p:txBody>
          <a:bodyPr wrap="square" lIns="0" tIns="0" rIns="0" bIns="0" rtlCol="0" anchor="ctr"/>
          <a:lstStyle/>
          <a:p>
            <a:pPr indent="0" marL="0">
              <a:buNone/>
            </a:pPr>
            <a:r>
              <a:rPr lang="en-US" sz="1000" i="1" dirty="0">
                <a:solidFill>
                  <a:srgbClr val="CADCFC"/>
                </a:solidFill>
              </a:rPr>
              <a:t>Imagen: NASA, lanzamiento del SLS</a:t>
            </a:r>
            <a:endParaRPr lang="en-US" sz="1000" dirty="0"/>
          </a:p>
        </p:txBody>
      </p:sp>
      <p:sp>
        <p:nvSpPr>
          <p:cNvPr id="25" name="Slide Number Placeholder 0"/>
          <p:cNvSpPr>
            <a:spLocks noGrp="1"/>
          </p:cNvSpPr>
          <p:nvPr>
            <p:ph type="sldNum" sz="quarter" idx="4294967295"/>
          </p:nvPr>
        </p:nvSpPr>
        <p:spPr>
          <a:xfrm>
            <a:off x="1127729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000" b="1" dirty="0">
                <a:solidFill>
                  <a:srgbClr val="0B1D3A"/>
                </a:solidFill>
                <a:latin typeface="Cambria" pitchFamily="34" charset="0"/>
                <a:ea typeface="Cambria" pitchFamily="34" charset="-122"/>
                <a:cs typeface="Cambria" pitchFamily="34" charset="-120"/>
              </a:rPr>
              <a:t>Método del disparo con Newton-Raphson</a:t>
            </a:r>
            <a:endParaRPr lang="en-US" sz="3000" dirty="0"/>
          </a:p>
        </p:txBody>
      </p:sp>
      <p:sp>
        <p:nvSpPr>
          <p:cNvPr id="3" name="Text 1"/>
          <p:cNvSpPr txBox="1"/>
          <p:nvPr/>
        </p:nvSpPr>
        <p:spPr>
          <a:xfrm>
            <a:off x="548640" y="1188720"/>
            <a:ext cx="10972800" cy="365760"/>
          </a:xfrm>
          <a:prstGeom prst="rect">
            <a:avLst/>
          </a:prstGeom>
          <a:noFill/>
          <a:ln/>
        </p:spPr>
        <p:txBody>
          <a:bodyPr wrap="square" lIns="0" tIns="0" rIns="0" bIns="0" rtlCol="0" anchor="ctr"/>
          <a:lstStyle/>
          <a:p>
            <a:pPr indent="0" marL="0">
              <a:buNone/>
            </a:pPr>
            <a:r>
              <a:rPr lang="en-US" sz="1600" b="1" dirty="0">
                <a:solidFill>
                  <a:srgbClr val="0B1D3A"/>
                </a:solidFill>
              </a:rPr>
              <a:t>Buscamos Δv tal que la nave llegue al punto objetivo en t_f = 4 días</a:t>
            </a:r>
            <a:endParaRPr lang="en-US" sz="1600" dirty="0"/>
          </a:p>
        </p:txBody>
      </p:sp>
      <p:pic>
        <p:nvPicPr>
          <p:cNvPr id="4" name="Image 0" descr="/home/mayday3003/Documents/githubrepos/ArtemisIV-flight-dynamics/docs/presentation/assets/eq_shoot.png">    </p:cNvPr>
          <p:cNvPicPr>
            <a:picLocks noChangeAspect="1"/>
          </p:cNvPicPr>
          <p:nvPr/>
        </p:nvPicPr>
        <p:blipFill>
          <a:blip r:embed="rId1"/>
          <a:stretch>
            <a:fillRect/>
          </a:stretch>
        </p:blipFill>
        <p:spPr>
          <a:xfrm>
            <a:off x="731520" y="1691640"/>
            <a:ext cx="4410317" cy="356865"/>
          </a:xfrm>
          <a:prstGeom prst="rect">
            <a:avLst/>
          </a:prstGeom>
        </p:spPr>
      </p:pic>
      <p:pic>
        <p:nvPicPr>
          <p:cNvPr id="5" name="Image 1" descr="/home/mayday3003/Documents/githubrepos/ArtemisIV-flight-dynamics/docs/presentation/assets/eq_newton.png">    </p:cNvPr>
          <p:cNvPicPr>
            <a:picLocks noChangeAspect="1"/>
          </p:cNvPicPr>
          <p:nvPr/>
        </p:nvPicPr>
        <p:blipFill>
          <a:blip r:embed="rId2"/>
          <a:stretch>
            <a:fillRect/>
          </a:stretch>
        </p:blipFill>
        <p:spPr>
          <a:xfrm>
            <a:off x="731520" y="2286000"/>
            <a:ext cx="5120307" cy="595524"/>
          </a:xfrm>
          <a:prstGeom prst="rect">
            <a:avLst/>
          </a:prstGeom>
        </p:spPr>
      </p:pic>
      <p:sp>
        <p:nvSpPr>
          <p:cNvPr id="6" name="Text 2"/>
          <p:cNvSpPr txBox="1"/>
          <p:nvPr/>
        </p:nvSpPr>
        <p:spPr>
          <a:xfrm>
            <a:off x="548640" y="3337560"/>
            <a:ext cx="6766560" cy="16459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B1B1F"/>
                </a:solidFill>
              </a:rPr>
              <a:t>Cada evaluación de F propaga la trayectoria con DOP853 (rtol = 1e-12)</a:t>
            </a:r>
            <a:endParaRPr lang="en-US" sz="1400" dirty="0"/>
          </a:p>
          <a:p>
            <a:pPr marL="342900" indent="-342900">
              <a:spcAft>
                <a:spcPts val="800"/>
              </a:spcAft>
              <a:buSzPct val="100000"/>
              <a:buChar char="•"/>
            </a:pPr>
            <a:r>
              <a:rPr lang="en-US" sz="1400" dirty="0">
                <a:solidFill>
                  <a:srgbClr val="1B1B1F"/>
                </a:solidFill>
              </a:rPr>
              <a:t>Diferencias centrales con h = 1 cm/s, región de confianza (500 m/s) y retroceso</a:t>
            </a:r>
            <a:endParaRPr lang="en-US" sz="1400" dirty="0"/>
          </a:p>
          <a:p>
            <a:pPr marL="342900" indent="-342900">
              <a:spcAft>
                <a:spcPts val="800"/>
              </a:spcAft>
              <a:buSzPct val="100000"/>
              <a:buChar char="•"/>
            </a:pPr>
            <a:r>
              <a:rPr lang="en-US" sz="1400" dirty="0">
                <a:solidFill>
                  <a:srgbClr val="1B1B1F"/>
                </a:solidFill>
              </a:rPr>
              <a:t>Objetivo: 4 000 km sobre la superficie lunar</a:t>
            </a:r>
            <a:endParaRPr lang="en-US" sz="1400" dirty="0"/>
          </a:p>
        </p:txBody>
      </p:sp>
      <p:sp>
        <p:nvSpPr>
          <p:cNvPr id="7" name="Shape 3"/>
          <p:cNvSpPr/>
          <p:nvPr/>
        </p:nvSpPr>
        <p:spPr>
          <a:xfrm>
            <a:off x="7589520" y="1188720"/>
            <a:ext cx="4023360" cy="3749040"/>
          </a:xfrm>
          <a:prstGeom prst="roundRect">
            <a:avLst>
              <a:gd name="adj" fmla="val 2439"/>
            </a:avLst>
          </a:prstGeom>
          <a:solidFill>
            <a:srgbClr val="FDEBDD"/>
          </a:solidFill>
          <a:ln w="12700">
            <a:solidFill>
              <a:srgbClr val="FDEBDD"/>
            </a:solidFill>
            <a:prstDash val="solid"/>
          </a:ln>
        </p:spPr>
      </p:sp>
      <p:sp>
        <p:nvSpPr>
          <p:cNvPr id="8" name="Text 4"/>
          <p:cNvSpPr txBox="1"/>
          <p:nvPr/>
        </p:nvSpPr>
        <p:spPr>
          <a:xfrm>
            <a:off x="7772400" y="1298448"/>
            <a:ext cx="3657600" cy="365760"/>
          </a:xfrm>
          <a:prstGeom prst="rect">
            <a:avLst/>
          </a:prstGeom>
          <a:noFill/>
          <a:ln/>
        </p:spPr>
        <p:txBody>
          <a:bodyPr wrap="square" lIns="0" tIns="0" rIns="0" bIns="0" rtlCol="0" anchor="ctr"/>
          <a:lstStyle/>
          <a:p>
            <a:pPr indent="0" marL="0">
              <a:buNone/>
            </a:pPr>
            <a:r>
              <a:rPr lang="en-US" sz="1700" b="1" dirty="0">
                <a:solidFill>
                  <a:srgbClr val="E8702A"/>
                </a:solidFill>
                <a:latin typeface="Cambria" pitchFamily="34" charset="0"/>
                <a:ea typeface="Cambria" pitchFamily="34" charset="-122"/>
                <a:cs typeface="Cambria" pitchFamily="34" charset="-120"/>
              </a:rPr>
              <a:t>Semilla kepleriana</a:t>
            </a:r>
            <a:endParaRPr lang="en-US" sz="1700" dirty="0"/>
          </a:p>
        </p:txBody>
      </p:sp>
      <p:sp>
        <p:nvSpPr>
          <p:cNvPr id="9" name="Text 5"/>
          <p:cNvSpPr txBox="1"/>
          <p:nvPr/>
        </p:nvSpPr>
        <p:spPr>
          <a:xfrm>
            <a:off x="7772400" y="1691640"/>
            <a:ext cx="3657600" cy="1005840"/>
          </a:xfrm>
          <a:prstGeom prst="rect">
            <a:avLst/>
          </a:prstGeom>
          <a:noFill/>
          <a:ln/>
        </p:spPr>
        <p:txBody>
          <a:bodyPr wrap="square" lIns="0" tIns="0" rIns="0" bIns="0" rtlCol="0" anchor="ctr"/>
          <a:lstStyle/>
          <a:p>
            <a:pPr indent="0" marL="0">
              <a:buNone/>
            </a:pPr>
            <a:r>
              <a:rPr lang="en-US" sz="1350" dirty="0">
                <a:solidFill>
                  <a:srgbClr val="1B1B1F"/>
                </a:solidFill>
              </a:rPr>
              <a:t>Newton converge solo si arranca cerca de la solución, y la Luna se mueve unos 52° en 4 días. Resolvemos la ecuación de Kepler:</a:t>
            </a:r>
            <a:endParaRPr lang="en-US" sz="1350" dirty="0"/>
          </a:p>
        </p:txBody>
      </p:sp>
      <p:pic>
        <p:nvPicPr>
          <p:cNvPr id="10" name="Image 2" descr="/home/mayday3003/Documents/githubrepos/ArtemisIV-flight-dynamics/docs/presentation/assets/eq_kepler.png">    </p:cNvPr>
          <p:cNvPicPr>
            <a:picLocks noChangeAspect="1"/>
          </p:cNvPicPr>
          <p:nvPr/>
        </p:nvPicPr>
        <p:blipFill>
          <a:blip r:embed="rId3"/>
          <a:stretch>
            <a:fillRect/>
          </a:stretch>
        </p:blipFill>
        <p:spPr>
          <a:xfrm>
            <a:off x="7863840" y="2743200"/>
            <a:ext cx="3262849" cy="409610"/>
          </a:xfrm>
          <a:prstGeom prst="rect">
            <a:avLst/>
          </a:prstGeom>
        </p:spPr>
      </p:pic>
      <p:sp>
        <p:nvSpPr>
          <p:cNvPr id="11" name="Text 6"/>
          <p:cNvSpPr txBox="1"/>
          <p:nvPr/>
        </p:nvSpPr>
        <p:spPr>
          <a:xfrm>
            <a:off x="7772400" y="3383280"/>
            <a:ext cx="3657600" cy="1280160"/>
          </a:xfrm>
          <a:prstGeom prst="rect">
            <a:avLst/>
          </a:prstGeom>
          <a:noFill/>
          <a:ln/>
        </p:spPr>
        <p:txBody>
          <a:bodyPr wrap="square" lIns="0" tIns="0" rIns="0" bIns="0" rtlCol="0" anchor="ctr"/>
          <a:lstStyle/>
          <a:p>
            <a:pPr indent="0" marL="0">
              <a:buNone/>
            </a:pPr>
            <a:r>
              <a:rPr lang="en-US" sz="1350" dirty="0">
                <a:solidFill>
                  <a:srgbClr val="1B1B1F"/>
                </a:solidFill>
              </a:rPr>
              <a:t>Con Brent se hallan r_a y ν = 176.9°, que fijan el punto de encendido. Residuo inicial: 23 930 km.</a:t>
            </a:r>
            <a:endParaRPr lang="en-US" sz="1350" dirty="0"/>
          </a:p>
        </p:txBody>
      </p:sp>
      <p:sp>
        <p:nvSpPr>
          <p:cNvPr id="12" name="Shape 7"/>
          <p:cNvSpPr/>
          <p:nvPr/>
        </p:nvSpPr>
        <p:spPr>
          <a:xfrm>
            <a:off x="548640" y="5120640"/>
            <a:ext cx="11064240" cy="941832"/>
          </a:xfrm>
          <a:prstGeom prst="roundRect">
            <a:avLst>
              <a:gd name="adj" fmla="val 7767"/>
            </a:avLst>
          </a:prstGeom>
          <a:solidFill>
            <a:srgbClr val="F1F3F6"/>
          </a:solidFill>
          <a:ln w="9525">
            <a:solidFill>
              <a:srgbClr val="D5DAE1"/>
            </a:solidFill>
            <a:prstDash val="solid"/>
          </a:ln>
        </p:spPr>
      </p:sp>
      <p:sp>
        <p:nvSpPr>
          <p:cNvPr id="13" name="Text 8"/>
          <p:cNvSpPr txBox="1"/>
          <p:nvPr/>
        </p:nvSpPr>
        <p:spPr>
          <a:xfrm>
            <a:off x="658368" y="5120640"/>
            <a:ext cx="10844784" cy="941832"/>
          </a:xfrm>
          <a:prstGeom prst="rect">
            <a:avLst/>
          </a:prstGeom>
          <a:noFill/>
          <a:ln/>
        </p:spPr>
        <p:txBody>
          <a:bodyPr wrap="square" lIns="0" tIns="0" rIns="0" bIns="0" rtlCol="0" anchor="ctr"/>
          <a:lstStyle/>
          <a:p>
            <a:pPr indent="0" marL="0">
              <a:buNone/>
            </a:pPr>
            <a:r>
              <a:rPr lang="en-US" sz="1150" dirty="0">
                <a:solidFill>
                  <a:srgbClr val="52514E"/>
                </a:solidFill>
                <a:latin typeface="Courier New" pitchFamily="34" charset="0"/>
                <a:ea typeface="Courier New" pitchFamily="34" charset="-122"/>
                <a:cs typeface="Courier New" pitchFamily="34" charset="-120"/>
              </a:rPr>
              <a:t>src/artemis_sim/shooting_method.py</a:t>
            </a:r>
            <a:endParaRPr lang="en-US" sz="1150" dirty="0"/>
          </a:p>
          <a:p>
            <a:pPr indent="0" marL="0">
              <a:buNone/>
            </a:pPr>
            <a:r>
              <a:rPr lang="en-US" sz="1150" b="1" dirty="0">
                <a:solidFill>
                  <a:srgbClr val="0B1D3A"/>
                </a:solidFill>
                <a:latin typeface="Courier New" pitchFamily="34" charset="0"/>
                <a:ea typeface="Courier New" pitchFamily="34" charset="-122"/>
                <a:cs typeface="Courier New" pitchFamily="34" charset="-120"/>
              </a:rPr>
              <a:t>solve_tli_shooting() · shooting_residual() · numerical_jacobian()</a:t>
            </a:r>
            <a:endParaRPr lang="en-US" sz="1150" dirty="0"/>
          </a:p>
          <a:p>
            <a:pPr indent="0" marL="0">
              <a:buNone/>
            </a:pPr>
            <a:r>
              <a:rPr lang="en-US" sz="1150" b="1" dirty="0">
                <a:solidFill>
                  <a:srgbClr val="0B1D3A"/>
                </a:solidFill>
                <a:latin typeface="Courier New" pitchFamily="34" charset="0"/>
                <a:ea typeface="Courier New" pitchFamily="34" charset="-122"/>
                <a:cs typeface="Courier New" pitchFamily="34" charset="-120"/>
              </a:rPr>
              <a:t>kepler_transfer_geometry() · moon_relative_target() · make_dop853_propagator()</a:t>
            </a:r>
            <a:endParaRPr lang="en-US" sz="115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000" b="1" dirty="0">
                <a:solidFill>
                  <a:srgbClr val="0B1D3A"/>
                </a:solidFill>
                <a:latin typeface="Cambria" pitchFamily="34" charset="0"/>
                <a:ea typeface="Cambria" pitchFamily="34" charset="-122"/>
                <a:cs typeface="Cambria" pitchFamily="34" charset="-120"/>
              </a:rPr>
              <a:t>Resultado de la TLI</a:t>
            </a:r>
            <a:endParaRPr lang="en-US" sz="3000" dirty="0"/>
          </a:p>
        </p:txBody>
      </p:sp>
      <p:pic>
        <p:nvPicPr>
          <p:cNvPr id="3" name="Image 0" descr="/home/mayday3003/Documents/githubrepos/ArtemisIV-flight-dynamics/docs/figures/fig05_trayectoria_tli.png">    </p:cNvPr>
          <p:cNvPicPr>
            <a:picLocks noChangeAspect="1"/>
          </p:cNvPicPr>
          <p:nvPr/>
        </p:nvPicPr>
        <p:blipFill>
          <a:blip r:embed="rId1"/>
          <a:stretch>
            <a:fillRect/>
          </a:stretch>
        </p:blipFill>
        <p:spPr>
          <a:xfrm>
            <a:off x="635075" y="1143000"/>
            <a:ext cx="7050890" cy="3246120"/>
          </a:xfrm>
          <a:prstGeom prst="rect">
            <a:avLst/>
          </a:prstGeom>
        </p:spPr>
      </p:pic>
      <p:pic>
        <p:nvPicPr>
          <p:cNvPr id="4" name="Image 1" descr="/home/mayday3003/Documents/githubrepos/ArtemisIV-flight-dynamics/docs/figures/fig07_convergencia_disparo.png">    </p:cNvPr>
          <p:cNvPicPr>
            <a:picLocks noChangeAspect="1"/>
          </p:cNvPicPr>
          <p:nvPr/>
        </p:nvPicPr>
        <p:blipFill>
          <a:blip r:embed="rId2"/>
          <a:stretch>
            <a:fillRect/>
          </a:stretch>
        </p:blipFill>
        <p:spPr>
          <a:xfrm>
            <a:off x="1776020" y="4434840"/>
            <a:ext cx="4768999" cy="1874520"/>
          </a:xfrm>
          <a:prstGeom prst="rect">
            <a:avLst/>
          </a:prstGeom>
        </p:spPr>
      </p:pic>
      <p:sp>
        <p:nvSpPr>
          <p:cNvPr id="5" name="Shape 1"/>
          <p:cNvSpPr/>
          <p:nvPr/>
        </p:nvSpPr>
        <p:spPr>
          <a:xfrm>
            <a:off x="8092440" y="1234440"/>
            <a:ext cx="3520440" cy="1143000"/>
          </a:xfrm>
          <a:prstGeom prst="roundRect">
            <a:avLst>
              <a:gd name="adj" fmla="val 8000"/>
            </a:avLst>
          </a:prstGeom>
          <a:solidFill>
            <a:srgbClr val="EEF2F7"/>
          </a:solidFill>
          <a:ln w="12700">
            <a:solidFill>
              <a:srgbClr val="EEF2F7"/>
            </a:solidFill>
            <a:prstDash val="solid"/>
          </a:ln>
        </p:spPr>
      </p:sp>
      <p:sp>
        <p:nvSpPr>
          <p:cNvPr id="6" name="Text 2"/>
          <p:cNvSpPr txBox="1"/>
          <p:nvPr/>
        </p:nvSpPr>
        <p:spPr>
          <a:xfrm>
            <a:off x="8092440" y="1307592"/>
            <a:ext cx="3520440" cy="640080"/>
          </a:xfrm>
          <a:prstGeom prst="rect">
            <a:avLst/>
          </a:prstGeom>
          <a:noFill/>
          <a:ln/>
        </p:spPr>
        <p:txBody>
          <a:bodyPr wrap="square" lIns="0" tIns="0" rIns="0" bIns="0" rtlCol="0" anchor="ctr"/>
          <a:lstStyle/>
          <a:p>
            <a:pPr algn="ctr" indent="0" marL="0">
              <a:buNone/>
            </a:pPr>
            <a:r>
              <a:rPr lang="en-US" sz="3000" b="1" dirty="0">
                <a:solidFill>
                  <a:srgbClr val="E8702A"/>
                </a:solidFill>
                <a:latin typeface="Cambria" pitchFamily="34" charset="0"/>
                <a:ea typeface="Cambria" pitchFamily="34" charset="-122"/>
                <a:cs typeface="Cambria" pitchFamily="34" charset="-120"/>
              </a:rPr>
              <a:t>3 150 m/s</a:t>
            </a:r>
            <a:endParaRPr lang="en-US" sz="3000" dirty="0"/>
          </a:p>
        </p:txBody>
      </p:sp>
      <p:sp>
        <p:nvSpPr>
          <p:cNvPr id="7" name="Text 3"/>
          <p:cNvSpPr txBox="1"/>
          <p:nvPr/>
        </p:nvSpPr>
        <p:spPr>
          <a:xfrm>
            <a:off x="8183880" y="1929384"/>
            <a:ext cx="3337560" cy="365760"/>
          </a:xfrm>
          <a:prstGeom prst="rect">
            <a:avLst/>
          </a:prstGeom>
          <a:noFill/>
          <a:ln/>
        </p:spPr>
        <p:txBody>
          <a:bodyPr wrap="square" lIns="0" tIns="0" rIns="0" bIns="0" rtlCol="0" anchor="ctr"/>
          <a:lstStyle/>
          <a:p>
            <a:pPr algn="ctr" indent="0" marL="0">
              <a:buNone/>
            </a:pPr>
            <a:r>
              <a:rPr lang="en-US" sz="1250" dirty="0">
                <a:solidFill>
                  <a:srgbClr val="52514E"/>
                </a:solidFill>
              </a:rPr>
              <a:t>Δv de la TLI (clásico: 3.1–3.2 km/s)</a:t>
            </a:r>
            <a:endParaRPr lang="en-US" sz="1250" dirty="0"/>
          </a:p>
        </p:txBody>
      </p:sp>
      <p:sp>
        <p:nvSpPr>
          <p:cNvPr id="8" name="Shape 4"/>
          <p:cNvSpPr/>
          <p:nvPr/>
        </p:nvSpPr>
        <p:spPr>
          <a:xfrm>
            <a:off x="8092440" y="2560320"/>
            <a:ext cx="3520440" cy="1143000"/>
          </a:xfrm>
          <a:prstGeom prst="roundRect">
            <a:avLst>
              <a:gd name="adj" fmla="val 8000"/>
            </a:avLst>
          </a:prstGeom>
          <a:solidFill>
            <a:srgbClr val="EEF2F7"/>
          </a:solidFill>
          <a:ln w="12700">
            <a:solidFill>
              <a:srgbClr val="EEF2F7"/>
            </a:solidFill>
            <a:prstDash val="solid"/>
          </a:ln>
        </p:spPr>
      </p:sp>
      <p:sp>
        <p:nvSpPr>
          <p:cNvPr id="9" name="Text 5"/>
          <p:cNvSpPr txBox="1"/>
          <p:nvPr/>
        </p:nvSpPr>
        <p:spPr>
          <a:xfrm>
            <a:off x="8092440" y="2633472"/>
            <a:ext cx="3520440" cy="640080"/>
          </a:xfrm>
          <a:prstGeom prst="rect">
            <a:avLst/>
          </a:prstGeom>
          <a:noFill/>
          <a:ln/>
        </p:spPr>
        <p:txBody>
          <a:bodyPr wrap="square" lIns="0" tIns="0" rIns="0" bIns="0" rtlCol="0" anchor="ctr"/>
          <a:lstStyle/>
          <a:p>
            <a:pPr algn="ctr" indent="0" marL="0">
              <a:buNone/>
            </a:pPr>
            <a:r>
              <a:rPr lang="en-US" sz="3000" b="1" dirty="0">
                <a:solidFill>
                  <a:srgbClr val="0B1D3A"/>
                </a:solidFill>
                <a:latin typeface="Cambria" pitchFamily="34" charset="0"/>
                <a:ea typeface="Cambria" pitchFamily="34" charset="-122"/>
                <a:cs typeface="Cambria" pitchFamily="34" charset="-120"/>
              </a:rPr>
              <a:t>5 iteraciones</a:t>
            </a:r>
            <a:endParaRPr lang="en-US" sz="3000" dirty="0"/>
          </a:p>
        </p:txBody>
      </p:sp>
      <p:sp>
        <p:nvSpPr>
          <p:cNvPr id="10" name="Text 6"/>
          <p:cNvSpPr txBox="1"/>
          <p:nvPr/>
        </p:nvSpPr>
        <p:spPr>
          <a:xfrm>
            <a:off x="8183880" y="3255264"/>
            <a:ext cx="3337560" cy="365760"/>
          </a:xfrm>
          <a:prstGeom prst="rect">
            <a:avLst/>
          </a:prstGeom>
          <a:noFill/>
          <a:ln/>
        </p:spPr>
        <p:txBody>
          <a:bodyPr wrap="square" lIns="0" tIns="0" rIns="0" bIns="0" rtlCol="0" anchor="ctr"/>
          <a:lstStyle/>
          <a:p>
            <a:pPr algn="ctr" indent="0" marL="0">
              <a:buNone/>
            </a:pPr>
            <a:r>
              <a:rPr lang="en-US" sz="1250" dirty="0">
                <a:solidFill>
                  <a:srgbClr val="52514E"/>
                </a:solidFill>
              </a:rPr>
              <a:t>residuo final 4.2e-4 m</a:t>
            </a:r>
            <a:endParaRPr lang="en-US" sz="1250" dirty="0"/>
          </a:p>
        </p:txBody>
      </p:sp>
      <p:sp>
        <p:nvSpPr>
          <p:cNvPr id="11" name="Text 7"/>
          <p:cNvSpPr txBox="1"/>
          <p:nvPr/>
        </p:nvSpPr>
        <p:spPr>
          <a:xfrm>
            <a:off x="8092440" y="3931920"/>
            <a:ext cx="3520440" cy="22860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B1B1F"/>
                </a:solidFill>
              </a:rPr>
              <a:t>Convergencia cuadrática al final (Newton)</a:t>
            </a:r>
            <a:endParaRPr lang="en-US" sz="1400" dirty="0"/>
          </a:p>
          <a:p>
            <a:pPr marL="342900" indent="-342900">
              <a:spcAft>
                <a:spcPts val="800"/>
              </a:spcAft>
              <a:buSzPct val="100000"/>
              <a:buChar char="•"/>
            </a:pPr>
            <a:r>
              <a:rPr lang="en-US" sz="1400" dirty="0">
                <a:solidFill>
                  <a:srgbClr val="1B1B1F"/>
                </a:solidFill>
              </a:rPr>
              <a:t>κ(J) ≤ 2.7e+4: problema bien condicionado</a:t>
            </a:r>
            <a:endParaRPr lang="en-US" sz="1400" dirty="0"/>
          </a:p>
          <a:p>
            <a:pPr marL="342900" indent="-342900">
              <a:spcAft>
                <a:spcPts val="800"/>
              </a:spcAft>
              <a:buSzPct val="100000"/>
              <a:buChar char="•"/>
            </a:pPr>
            <a:r>
              <a:rPr lang="en-US" sz="1400" dirty="0">
                <a:solidFill>
                  <a:srgbClr val="1B1B1F"/>
                </a:solidFill>
              </a:rPr>
              <a:t>Verificación con Verlet: llega a 4 001 km de altitud lunar</a:t>
            </a:r>
            <a:endParaRPr lang="en-US" sz="140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000" b="1" dirty="0">
                <a:solidFill>
                  <a:srgbClr val="0B1D3A"/>
                </a:solidFill>
                <a:latin typeface="Cambria" pitchFamily="34" charset="0"/>
                <a:ea typeface="Cambria" pitchFamily="34" charset="-122"/>
                <a:cs typeface="Cambria" pitchFamily="34" charset="-120"/>
              </a:rPr>
              <a:t>Conclusiones: lo que nos dice la física</a:t>
            </a:r>
            <a:endParaRPr lang="en-US" sz="3000" dirty="0"/>
          </a:p>
        </p:txBody>
      </p:sp>
      <p:sp>
        <p:nvSpPr>
          <p:cNvPr id="3" name="Shape 1"/>
          <p:cNvSpPr/>
          <p:nvPr/>
        </p:nvSpPr>
        <p:spPr>
          <a:xfrm>
            <a:off x="548640" y="1234440"/>
            <a:ext cx="1737360" cy="914400"/>
          </a:xfrm>
          <a:prstGeom prst="roundRect">
            <a:avLst>
              <a:gd name="adj" fmla="val 8000"/>
            </a:avLst>
          </a:prstGeom>
          <a:solidFill>
            <a:srgbClr val="FDEBDD"/>
          </a:solidFill>
          <a:ln w="12700">
            <a:solidFill>
              <a:srgbClr val="FDEBDD"/>
            </a:solidFill>
            <a:prstDash val="solid"/>
          </a:ln>
        </p:spPr>
      </p:sp>
      <p:sp>
        <p:nvSpPr>
          <p:cNvPr id="4" name="Text 2"/>
          <p:cNvSpPr txBox="1"/>
          <p:nvPr/>
        </p:nvSpPr>
        <p:spPr>
          <a:xfrm>
            <a:off x="548640" y="1234440"/>
            <a:ext cx="1737360" cy="914400"/>
          </a:xfrm>
          <a:prstGeom prst="rect">
            <a:avLst/>
          </a:prstGeom>
          <a:noFill/>
          <a:ln/>
        </p:spPr>
        <p:txBody>
          <a:bodyPr wrap="square" lIns="0" tIns="0" rIns="0" bIns="0" rtlCol="0" anchor="ctr"/>
          <a:lstStyle/>
          <a:p>
            <a:pPr algn="ctr" indent="0" marL="0">
              <a:buNone/>
            </a:pPr>
            <a:r>
              <a:rPr lang="en-US" sz="1700" b="1" dirty="0">
                <a:solidFill>
                  <a:srgbClr val="E8702A"/>
                </a:solidFill>
                <a:latin typeface="Cambria" pitchFamily="34" charset="0"/>
                <a:ea typeface="Cambria" pitchFamily="34" charset="-122"/>
                <a:cs typeface="Cambria" pitchFamily="34" charset="-120"/>
              </a:rPr>
              <a:t>Realismo</a:t>
            </a:r>
            <a:endParaRPr lang="en-US" sz="1700" dirty="0"/>
          </a:p>
        </p:txBody>
      </p:sp>
      <p:sp>
        <p:nvSpPr>
          <p:cNvPr id="5" name="Text 3"/>
          <p:cNvSpPr txBox="1"/>
          <p:nvPr/>
        </p:nvSpPr>
        <p:spPr>
          <a:xfrm>
            <a:off x="2514600" y="1252728"/>
            <a:ext cx="5120640" cy="384048"/>
          </a:xfrm>
          <a:prstGeom prst="rect">
            <a:avLst/>
          </a:prstGeom>
          <a:noFill/>
          <a:ln/>
        </p:spPr>
        <p:txBody>
          <a:bodyPr wrap="square" lIns="0" tIns="0" rIns="0" bIns="0" rtlCol="0" anchor="ctr"/>
          <a:lstStyle/>
          <a:p>
            <a:pPr indent="0" marL="0">
              <a:buNone/>
            </a:pPr>
            <a:r>
              <a:rPr lang="en-US" sz="1700" b="1" dirty="0">
                <a:solidFill>
                  <a:srgbClr val="0B1D3A"/>
                </a:solidFill>
              </a:rPr>
              <a:t>El simulador reproduce el vuelo real</a:t>
            </a:r>
            <a:endParaRPr lang="en-US" sz="1700" dirty="0"/>
          </a:p>
        </p:txBody>
      </p:sp>
      <p:sp>
        <p:nvSpPr>
          <p:cNvPr id="6" name="Text 4"/>
          <p:cNvSpPr txBox="1"/>
          <p:nvPr/>
        </p:nvSpPr>
        <p:spPr>
          <a:xfrm>
            <a:off x="2514600" y="1636776"/>
            <a:ext cx="5120640" cy="512064"/>
          </a:xfrm>
          <a:prstGeom prst="rect">
            <a:avLst/>
          </a:prstGeom>
          <a:noFill/>
          <a:ln/>
        </p:spPr>
        <p:txBody>
          <a:bodyPr wrap="square" lIns="0" tIns="0" rIns="0" bIns="0" rtlCol="0" anchor="t"/>
          <a:lstStyle/>
          <a:p>
            <a:pPr indent="0" marL="0">
              <a:buNone/>
            </a:pPr>
            <a:r>
              <a:rPr lang="en-US" sz="1400" dirty="0">
                <a:solidFill>
                  <a:srgbClr val="1B1B1F"/>
                </a:solidFill>
              </a:rPr>
              <a:t>El ascenso y el viaje a la Luna dan valores del mismo orden que los del SLS y las misiones lunares.</a:t>
            </a:r>
            <a:endParaRPr lang="en-US" sz="1400" dirty="0"/>
          </a:p>
        </p:txBody>
      </p:sp>
      <p:sp>
        <p:nvSpPr>
          <p:cNvPr id="7" name="Shape 5"/>
          <p:cNvSpPr/>
          <p:nvPr/>
        </p:nvSpPr>
        <p:spPr>
          <a:xfrm>
            <a:off x="548640" y="2350008"/>
            <a:ext cx="1737360" cy="914400"/>
          </a:xfrm>
          <a:prstGeom prst="roundRect">
            <a:avLst>
              <a:gd name="adj" fmla="val 8000"/>
            </a:avLst>
          </a:prstGeom>
          <a:solidFill>
            <a:srgbClr val="EEF2F7"/>
          </a:solidFill>
          <a:ln w="12700">
            <a:solidFill>
              <a:srgbClr val="EEF2F7"/>
            </a:solidFill>
            <a:prstDash val="solid"/>
          </a:ln>
        </p:spPr>
      </p:sp>
      <p:sp>
        <p:nvSpPr>
          <p:cNvPr id="8" name="Text 6"/>
          <p:cNvSpPr txBox="1"/>
          <p:nvPr/>
        </p:nvSpPr>
        <p:spPr>
          <a:xfrm>
            <a:off x="548640" y="2350008"/>
            <a:ext cx="1737360" cy="914400"/>
          </a:xfrm>
          <a:prstGeom prst="rect">
            <a:avLst/>
          </a:prstGeom>
          <a:noFill/>
          <a:ln/>
        </p:spPr>
        <p:txBody>
          <a:bodyPr wrap="square" lIns="0" tIns="0" rIns="0" bIns="0" rtlCol="0" anchor="ctr"/>
          <a:lstStyle/>
          <a:p>
            <a:pPr algn="ctr" indent="0" marL="0">
              <a:buNone/>
            </a:pPr>
            <a:r>
              <a:rPr lang="en-US" sz="1700" b="1" dirty="0">
                <a:solidFill>
                  <a:srgbClr val="0B1D3A"/>
                </a:solidFill>
                <a:latin typeface="Cambria" pitchFamily="34" charset="0"/>
                <a:ea typeface="Cambria" pitchFamily="34" charset="-122"/>
                <a:cs typeface="Cambria" pitchFamily="34" charset="-120"/>
              </a:rPr>
              <a:t>Métodos</a:t>
            </a:r>
            <a:endParaRPr lang="en-US" sz="1700" dirty="0"/>
          </a:p>
        </p:txBody>
      </p:sp>
      <p:sp>
        <p:nvSpPr>
          <p:cNvPr id="9" name="Text 7"/>
          <p:cNvSpPr txBox="1"/>
          <p:nvPr/>
        </p:nvSpPr>
        <p:spPr>
          <a:xfrm>
            <a:off x="2514600" y="2368296"/>
            <a:ext cx="5120640" cy="384048"/>
          </a:xfrm>
          <a:prstGeom prst="rect">
            <a:avLst/>
          </a:prstGeom>
          <a:noFill/>
          <a:ln/>
        </p:spPr>
        <p:txBody>
          <a:bodyPr wrap="square" lIns="0" tIns="0" rIns="0" bIns="0" rtlCol="0" anchor="ctr"/>
          <a:lstStyle/>
          <a:p>
            <a:pPr indent="0" marL="0">
              <a:buNone/>
            </a:pPr>
            <a:r>
              <a:rPr lang="en-US" sz="1700" b="1" dirty="0">
                <a:solidFill>
                  <a:srgbClr val="0B1D3A"/>
                </a:solidFill>
              </a:rPr>
              <a:t>Cada fase necesita su propio método</a:t>
            </a:r>
            <a:endParaRPr lang="en-US" sz="1700" dirty="0"/>
          </a:p>
        </p:txBody>
      </p:sp>
      <p:sp>
        <p:nvSpPr>
          <p:cNvPr id="10" name="Text 8"/>
          <p:cNvSpPr txBox="1"/>
          <p:nvPr/>
        </p:nvSpPr>
        <p:spPr>
          <a:xfrm>
            <a:off x="2514600" y="2752344"/>
            <a:ext cx="5120640" cy="512064"/>
          </a:xfrm>
          <a:prstGeom prst="rect">
            <a:avLst/>
          </a:prstGeom>
          <a:noFill/>
          <a:ln/>
        </p:spPr>
        <p:txBody>
          <a:bodyPr wrap="square" lIns="0" tIns="0" rIns="0" bIns="0" rtlCol="0" anchor="t"/>
          <a:lstStyle/>
          <a:p>
            <a:pPr indent="0" marL="0">
              <a:buNone/>
            </a:pPr>
            <a:r>
              <a:rPr lang="en-US" sz="1400" dirty="0">
                <a:solidFill>
                  <a:srgbClr val="1B1B1F"/>
                </a:solidFill>
              </a:rPr>
              <a:t>La atmósfera pide un método adaptativo (RK45); el vacío, uno que respete la energía (Verlet).</a:t>
            </a:r>
            <a:endParaRPr lang="en-US" sz="1400" dirty="0"/>
          </a:p>
        </p:txBody>
      </p:sp>
      <p:sp>
        <p:nvSpPr>
          <p:cNvPr id="11" name="Shape 9"/>
          <p:cNvSpPr/>
          <p:nvPr/>
        </p:nvSpPr>
        <p:spPr>
          <a:xfrm>
            <a:off x="548640" y="3465576"/>
            <a:ext cx="1737360" cy="914400"/>
          </a:xfrm>
          <a:prstGeom prst="roundRect">
            <a:avLst>
              <a:gd name="adj" fmla="val 8000"/>
            </a:avLst>
          </a:prstGeom>
          <a:solidFill>
            <a:srgbClr val="FDEBDD"/>
          </a:solidFill>
          <a:ln w="12700">
            <a:solidFill>
              <a:srgbClr val="FDEBDD"/>
            </a:solidFill>
            <a:prstDash val="solid"/>
          </a:ln>
        </p:spPr>
      </p:sp>
      <p:sp>
        <p:nvSpPr>
          <p:cNvPr id="12" name="Text 10"/>
          <p:cNvSpPr txBox="1"/>
          <p:nvPr/>
        </p:nvSpPr>
        <p:spPr>
          <a:xfrm>
            <a:off x="548640" y="3465576"/>
            <a:ext cx="1737360" cy="914400"/>
          </a:xfrm>
          <a:prstGeom prst="rect">
            <a:avLst/>
          </a:prstGeom>
          <a:noFill/>
          <a:ln/>
        </p:spPr>
        <p:txBody>
          <a:bodyPr wrap="square" lIns="0" tIns="0" rIns="0" bIns="0" rtlCol="0" anchor="ctr"/>
          <a:lstStyle/>
          <a:p>
            <a:pPr algn="ctr" indent="0" marL="0">
              <a:buNone/>
            </a:pPr>
            <a:r>
              <a:rPr lang="en-US" sz="1700" b="1" dirty="0">
                <a:solidFill>
                  <a:srgbClr val="E8702A"/>
                </a:solidFill>
                <a:latin typeface="Cambria" pitchFamily="34" charset="0"/>
                <a:ea typeface="Cambria" pitchFamily="34" charset="-122"/>
                <a:cs typeface="Cambria" pitchFamily="34" charset="-120"/>
              </a:rPr>
              <a:t>Energía</a:t>
            </a:r>
            <a:endParaRPr lang="en-US" sz="1700" dirty="0"/>
          </a:p>
        </p:txBody>
      </p:sp>
      <p:sp>
        <p:nvSpPr>
          <p:cNvPr id="13" name="Text 11"/>
          <p:cNvSpPr txBox="1"/>
          <p:nvPr/>
        </p:nvSpPr>
        <p:spPr>
          <a:xfrm>
            <a:off x="2514600" y="3483864"/>
            <a:ext cx="5120640" cy="384048"/>
          </a:xfrm>
          <a:prstGeom prst="rect">
            <a:avLst/>
          </a:prstGeom>
          <a:noFill/>
          <a:ln/>
        </p:spPr>
        <p:txBody>
          <a:bodyPr wrap="square" lIns="0" tIns="0" rIns="0" bIns="0" rtlCol="0" anchor="ctr"/>
          <a:lstStyle/>
          <a:p>
            <a:pPr indent="0" marL="0">
              <a:buNone/>
            </a:pPr>
            <a:r>
              <a:rPr lang="en-US" sz="1700" b="1" dirty="0">
                <a:solidFill>
                  <a:srgbClr val="0B1D3A"/>
                </a:solidFill>
              </a:rPr>
              <a:t>Para viajes largos, el método simpléctico gana</a:t>
            </a:r>
            <a:endParaRPr lang="en-US" sz="1700" dirty="0"/>
          </a:p>
        </p:txBody>
      </p:sp>
      <p:sp>
        <p:nvSpPr>
          <p:cNvPr id="14" name="Text 12"/>
          <p:cNvSpPr txBox="1"/>
          <p:nvPr/>
        </p:nvSpPr>
        <p:spPr>
          <a:xfrm>
            <a:off x="2514600" y="3867912"/>
            <a:ext cx="5120640" cy="512064"/>
          </a:xfrm>
          <a:prstGeom prst="rect">
            <a:avLst/>
          </a:prstGeom>
          <a:noFill/>
          <a:ln/>
        </p:spPr>
        <p:txBody>
          <a:bodyPr wrap="square" lIns="0" tIns="0" rIns="0" bIns="0" rtlCol="0" anchor="t"/>
          <a:lstStyle/>
          <a:p>
            <a:pPr indent="0" marL="0">
              <a:buNone/>
            </a:pPr>
            <a:r>
              <a:rPr lang="en-US" sz="1400" dirty="0">
                <a:solidFill>
                  <a:srgbClr val="1B1B1F"/>
                </a:solidFill>
              </a:rPr>
              <a:t>Su error de energía no crece con el tiempo, mientras que el de RK4 se acumula.</a:t>
            </a:r>
            <a:endParaRPr lang="en-US" sz="1400" dirty="0"/>
          </a:p>
        </p:txBody>
      </p:sp>
      <p:sp>
        <p:nvSpPr>
          <p:cNvPr id="15" name="Shape 13"/>
          <p:cNvSpPr/>
          <p:nvPr/>
        </p:nvSpPr>
        <p:spPr>
          <a:xfrm>
            <a:off x="548640" y="4581144"/>
            <a:ext cx="1737360" cy="914400"/>
          </a:xfrm>
          <a:prstGeom prst="roundRect">
            <a:avLst>
              <a:gd name="adj" fmla="val 8000"/>
            </a:avLst>
          </a:prstGeom>
          <a:solidFill>
            <a:srgbClr val="EEF2F7"/>
          </a:solidFill>
          <a:ln w="12700">
            <a:solidFill>
              <a:srgbClr val="EEF2F7"/>
            </a:solidFill>
            <a:prstDash val="solid"/>
          </a:ln>
        </p:spPr>
      </p:sp>
      <p:sp>
        <p:nvSpPr>
          <p:cNvPr id="16" name="Text 14"/>
          <p:cNvSpPr txBox="1"/>
          <p:nvPr/>
        </p:nvSpPr>
        <p:spPr>
          <a:xfrm>
            <a:off x="548640" y="4581144"/>
            <a:ext cx="1737360" cy="914400"/>
          </a:xfrm>
          <a:prstGeom prst="rect">
            <a:avLst/>
          </a:prstGeom>
          <a:noFill/>
          <a:ln/>
        </p:spPr>
        <p:txBody>
          <a:bodyPr wrap="square" lIns="0" tIns="0" rIns="0" bIns="0" rtlCol="0" anchor="ctr"/>
          <a:lstStyle/>
          <a:p>
            <a:pPr algn="ctr" indent="0" marL="0">
              <a:buNone/>
            </a:pPr>
            <a:r>
              <a:rPr lang="en-US" sz="1700" b="1" dirty="0">
                <a:solidFill>
                  <a:srgbClr val="0B1D3A"/>
                </a:solidFill>
                <a:latin typeface="Cambria" pitchFamily="34" charset="0"/>
                <a:ea typeface="Cambria" pitchFamily="34" charset="-122"/>
                <a:cs typeface="Cambria" pitchFamily="34" charset="-120"/>
              </a:rPr>
              <a:t>Misión</a:t>
            </a:r>
            <a:endParaRPr lang="en-US" sz="1700" dirty="0"/>
          </a:p>
        </p:txBody>
      </p:sp>
      <p:sp>
        <p:nvSpPr>
          <p:cNvPr id="17" name="Text 15"/>
          <p:cNvSpPr txBox="1"/>
          <p:nvPr/>
        </p:nvSpPr>
        <p:spPr>
          <a:xfrm>
            <a:off x="2514600" y="4599432"/>
            <a:ext cx="5120640" cy="384048"/>
          </a:xfrm>
          <a:prstGeom prst="rect">
            <a:avLst/>
          </a:prstGeom>
          <a:noFill/>
          <a:ln/>
        </p:spPr>
        <p:txBody>
          <a:bodyPr wrap="square" lIns="0" tIns="0" rIns="0" bIns="0" rtlCol="0" anchor="ctr"/>
          <a:lstStyle/>
          <a:p>
            <a:pPr indent="0" marL="0">
              <a:buNone/>
            </a:pPr>
            <a:r>
              <a:rPr lang="en-US" sz="1700" b="1" dirty="0">
                <a:solidFill>
                  <a:srgbClr val="0B1D3A"/>
                </a:solidFill>
              </a:rPr>
              <a:t>Llegar a la Luna es factible</a:t>
            </a:r>
            <a:endParaRPr lang="en-US" sz="1700" dirty="0"/>
          </a:p>
        </p:txBody>
      </p:sp>
      <p:sp>
        <p:nvSpPr>
          <p:cNvPr id="18" name="Text 16"/>
          <p:cNvSpPr txBox="1"/>
          <p:nvPr/>
        </p:nvSpPr>
        <p:spPr>
          <a:xfrm>
            <a:off x="2514600" y="4983480"/>
            <a:ext cx="5120640" cy="512064"/>
          </a:xfrm>
          <a:prstGeom prst="rect">
            <a:avLst/>
          </a:prstGeom>
          <a:noFill/>
          <a:ln/>
        </p:spPr>
        <p:txBody>
          <a:bodyPr wrap="square" lIns="0" tIns="0" rIns="0" bIns="0" rtlCol="0" anchor="t"/>
          <a:lstStyle/>
          <a:p>
            <a:pPr indent="0" marL="0">
              <a:buNone/>
            </a:pPr>
            <a:r>
              <a:rPr lang="en-US" sz="1400" dirty="0">
                <a:solidFill>
                  <a:srgbClr val="1B1B1F"/>
                </a:solidFill>
              </a:rPr>
              <a:t>La etapa EUS tiene combustible suficiente para entrar en órbita y luego impulsar la nave hacia la Luna.</a:t>
            </a:r>
            <a:endParaRPr lang="en-US" sz="1400" dirty="0"/>
          </a:p>
        </p:txBody>
      </p:sp>
      <p:sp>
        <p:nvSpPr>
          <p:cNvPr id="19" name="Shape 17"/>
          <p:cNvSpPr/>
          <p:nvPr/>
        </p:nvSpPr>
        <p:spPr>
          <a:xfrm>
            <a:off x="7818120" y="1188720"/>
            <a:ext cx="3794760" cy="4526280"/>
          </a:xfrm>
          <a:prstGeom prst="roundRect">
            <a:avLst>
              <a:gd name="adj" fmla="val 2410"/>
            </a:avLst>
          </a:prstGeom>
          <a:solidFill>
            <a:srgbClr val="0B1D3A"/>
          </a:solidFill>
          <a:ln w="12700">
            <a:solidFill>
              <a:srgbClr val="0B1D3A"/>
            </a:solidFill>
            <a:prstDash val="solid"/>
          </a:ln>
        </p:spPr>
      </p:sp>
      <p:sp>
        <p:nvSpPr>
          <p:cNvPr id="20" name="Text 18"/>
          <p:cNvSpPr txBox="1"/>
          <p:nvPr/>
        </p:nvSpPr>
        <p:spPr>
          <a:xfrm>
            <a:off x="8046720" y="1325880"/>
            <a:ext cx="3383280" cy="411480"/>
          </a:xfrm>
          <a:prstGeom prst="rect">
            <a:avLst/>
          </a:prstGeom>
          <a:noFill/>
          <a:ln/>
        </p:spPr>
        <p:txBody>
          <a:bodyPr wrap="square" lIns="0" tIns="0" rIns="0" bIns="0" rtlCol="0" anchor="ctr"/>
          <a:lstStyle/>
          <a:p>
            <a:pPr indent="0" marL="0">
              <a:buNone/>
            </a:pPr>
            <a:r>
              <a:rPr lang="en-US" sz="2000" b="1" dirty="0">
                <a:solidFill>
                  <a:srgbClr val="E8702A"/>
                </a:solidFill>
                <a:latin typeface="Cambria" pitchFamily="34" charset="0"/>
                <a:ea typeface="Cambria" pitchFamily="34" charset="-122"/>
                <a:cs typeface="Cambria" pitchFamily="34" charset="-120"/>
              </a:rPr>
              <a:t>Trabajo futuro</a:t>
            </a:r>
            <a:endParaRPr lang="en-US" sz="2000" dirty="0"/>
          </a:p>
        </p:txBody>
      </p:sp>
      <p:sp>
        <p:nvSpPr>
          <p:cNvPr id="21" name="Text 19"/>
          <p:cNvSpPr txBox="1"/>
          <p:nvPr/>
        </p:nvSpPr>
        <p:spPr>
          <a:xfrm>
            <a:off x="8046720" y="1874520"/>
            <a:ext cx="3383280" cy="3703320"/>
          </a:xfrm>
          <a:prstGeom prst="rect">
            <a:avLst/>
          </a:prstGeom>
          <a:noFill/>
          <a:ln/>
        </p:spPr>
        <p:txBody>
          <a:bodyPr wrap="square" lIns="0" tIns="0" rIns="0" bIns="0" rtlCol="0" anchor="t"/>
          <a:lstStyle/>
          <a:p>
            <a:pPr indent="0" marL="0">
              <a:spcAft>
                <a:spcPts val="900"/>
              </a:spcAft>
              <a:buNone/>
            </a:pPr>
            <a:r>
              <a:rPr lang="en-US" sz="1500" b="1" dirty="0">
                <a:solidFill>
                  <a:srgbClr val="FFFFFF"/>
                </a:solidFill>
              </a:rPr>
              <a:t>NRHO de Gateway</a:t>
            </a:r>
            <a:endParaRPr lang="en-US" sz="1500" dirty="0"/>
          </a:p>
          <a:p>
            <a:pPr indent="0" marL="0">
              <a:spcAft>
                <a:spcPts val="900"/>
              </a:spcAft>
              <a:buNone/>
            </a:pPr>
            <a:r>
              <a:rPr lang="en-US" sz="1500" dirty="0">
                <a:solidFill>
                  <a:srgbClr val="CADCFC"/>
                </a:solidFill>
              </a:rPr>
              <a:t>Órbitas de halo L2 por corrección diferencial</a:t>
            </a:r>
            <a:endParaRPr lang="en-US" sz="1500" dirty="0"/>
          </a:p>
          <a:p>
            <a:pPr indent="0" marL="0">
              <a:spcAft>
                <a:spcPts val="900"/>
              </a:spcAft>
              <a:buNone/>
            </a:pPr>
            <a:r>
              <a:rPr lang="en-US" sz="1500" b="1" dirty="0">
                <a:solidFill>
                  <a:srgbClr val="FFFFFF"/>
                </a:solidFill>
              </a:rPr>
              <a:t>Descenso del HLS</a:t>
            </a:r>
            <a:endParaRPr lang="en-US" sz="1500" dirty="0"/>
          </a:p>
          <a:p>
            <a:pPr indent="0" marL="0">
              <a:spcAft>
                <a:spcPts val="900"/>
              </a:spcAft>
              <a:buNone/>
            </a:pPr>
            <a:r>
              <a:rPr lang="en-US" sz="1500" dirty="0">
                <a:solidFill>
                  <a:srgbClr val="CADCFC"/>
                </a:solidFill>
              </a:rPr>
              <a:t>Gravedad lunar con mascons (GRAIL)</a:t>
            </a:r>
            <a:endParaRPr lang="en-US" sz="1500" dirty="0"/>
          </a:p>
          <a:p>
            <a:pPr indent="0" marL="0">
              <a:spcAft>
                <a:spcPts val="900"/>
              </a:spcAft>
              <a:buNone/>
            </a:pPr>
            <a:r>
              <a:rPr lang="en-US" sz="1500" b="1" dirty="0">
                <a:solidFill>
                  <a:srgbClr val="FFFFFF"/>
                </a:solidFill>
              </a:rPr>
              <a:t>Mayor fidelidad</a:t>
            </a:r>
            <a:endParaRPr lang="en-US" sz="1500" dirty="0"/>
          </a:p>
          <a:p>
            <a:pPr indent="0" marL="0">
              <a:spcAft>
                <a:spcPts val="900"/>
              </a:spcAft>
              <a:buNone/>
            </a:pPr>
            <a:r>
              <a:rPr lang="en-US" sz="1500" dirty="0">
                <a:solidFill>
                  <a:srgbClr val="CADCFC"/>
                </a:solidFill>
              </a:rPr>
              <a:t>Efemérides DE440, Sol, J₂, combustiones finitas</a:t>
            </a:r>
            <a:endParaRPr lang="en-US" sz="1500" dirty="0"/>
          </a:p>
          <a:p>
            <a:pPr indent="0" marL="0">
              <a:spcAft>
                <a:spcPts val="900"/>
              </a:spcAft>
              <a:buNone/>
            </a:pPr>
            <a:r>
              <a:rPr lang="en-US" sz="1500" b="1" dirty="0">
                <a:solidFill>
                  <a:srgbClr val="FFFFFF"/>
                </a:solidFill>
              </a:rPr>
              <a:t>Visualización 3D</a:t>
            </a:r>
            <a:endParaRPr lang="en-US" sz="1500" dirty="0"/>
          </a:p>
          <a:p>
            <a:pPr indent="0" marL="0">
              <a:spcAft>
                <a:spcPts val="900"/>
              </a:spcAft>
              <a:buNone/>
            </a:pPr>
            <a:r>
              <a:rPr lang="en-US" sz="1500" dirty="0">
                <a:solidFill>
                  <a:srgbClr val="CADCFC"/>
                </a:solidFill>
              </a:rPr>
              <a:t>Trayectorias en Three.js</a:t>
            </a:r>
            <a:endParaRPr lang="en-US" sz="150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home/mayday3003/Documents/githubrepos/ArtemisIV-flight-dynamics/docs/presentation/assets/nasa_sls_family.jpg">    </p:cNvPr>
          <p:cNvPicPr>
            <a:picLocks noChangeAspect="1"/>
          </p:cNvPicPr>
          <p:nvPr/>
        </p:nvPicPr>
        <p:blipFill>
          <a:blip r:embed="rId1"/>
          <a:stretch>
            <a:fillRect/>
          </a:stretch>
        </p:blipFill>
        <p:spPr>
          <a:xfrm>
            <a:off x="5852160" y="1153922"/>
            <a:ext cx="5943600" cy="3361436"/>
          </a:xfrm>
          <a:prstGeom prst="rect">
            <a:avLst/>
          </a:prstGeom>
        </p:spPr>
      </p:pic>
      <p:sp>
        <p:nvSpPr>
          <p:cNvPr id="3" name="Text 0"/>
          <p:cNvSpPr txBox="1"/>
          <p:nvPr/>
        </p:nvSpPr>
        <p:spPr>
          <a:xfrm>
            <a:off x="6035040" y="4892040"/>
            <a:ext cx="5669280" cy="228600"/>
          </a:xfrm>
          <a:prstGeom prst="rect">
            <a:avLst/>
          </a:prstGeom>
          <a:noFill/>
          <a:ln/>
        </p:spPr>
        <p:txBody>
          <a:bodyPr wrap="square" lIns="0" tIns="0" rIns="0" bIns="0" rtlCol="0" anchor="ctr"/>
          <a:lstStyle/>
          <a:p>
            <a:pPr indent="0" marL="0">
              <a:buNone/>
            </a:pPr>
            <a:r>
              <a:rPr lang="en-US" sz="1000" i="1" dirty="0">
                <a:solidFill>
                  <a:srgbClr val="CADCFC"/>
                </a:solidFill>
              </a:rPr>
              <a:t>Imagen: NASA, evolución del SLS (Block 1 → Block 2)</a:t>
            </a:r>
            <a:endParaRPr lang="en-US" sz="1000" dirty="0"/>
          </a:p>
        </p:txBody>
      </p:sp>
      <p:sp>
        <p:nvSpPr>
          <p:cNvPr id="4" name="Text 1"/>
          <p:cNvSpPr txBox="1"/>
          <p:nvPr/>
        </p:nvSpPr>
        <p:spPr>
          <a:xfrm>
            <a:off x="548640" y="2011680"/>
            <a:ext cx="5120640" cy="10972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¿Preguntas?</a:t>
            </a:r>
            <a:endParaRPr lang="en-US" sz="4800" dirty="0"/>
          </a:p>
        </p:txBody>
      </p:sp>
      <p:sp>
        <p:nvSpPr>
          <p:cNvPr id="5" name="Text 2"/>
          <p:cNvSpPr txBox="1"/>
          <p:nvPr/>
        </p:nvSpPr>
        <p:spPr>
          <a:xfrm>
            <a:off x="548640" y="3108960"/>
            <a:ext cx="5120640" cy="548640"/>
          </a:xfrm>
          <a:prstGeom prst="rect">
            <a:avLst/>
          </a:prstGeom>
          <a:noFill/>
          <a:ln/>
        </p:spPr>
        <p:txBody>
          <a:bodyPr wrap="square" lIns="0" tIns="0" rIns="0" bIns="0" rtlCol="0" anchor="ctr"/>
          <a:lstStyle/>
          <a:p>
            <a:pPr indent="0" marL="0">
              <a:buNone/>
            </a:pPr>
            <a:r>
              <a:rPr lang="en-US" sz="2200" b="1" dirty="0">
                <a:solidFill>
                  <a:srgbClr val="E8702A"/>
                </a:solidFill>
              </a:rPr>
              <a:t>Gracias</a:t>
            </a:r>
            <a:endParaRPr lang="en-US" sz="2200" dirty="0"/>
          </a:p>
        </p:txBody>
      </p:sp>
      <p:sp>
        <p:nvSpPr>
          <p:cNvPr id="6" name="Text 3"/>
          <p:cNvSpPr txBox="1"/>
          <p:nvPr/>
        </p:nvSpPr>
        <p:spPr>
          <a:xfrm>
            <a:off x="548640" y="5120640"/>
            <a:ext cx="10972800" cy="1371600"/>
          </a:xfrm>
          <a:prstGeom prst="rect">
            <a:avLst/>
          </a:prstGeom>
          <a:noFill/>
          <a:ln/>
        </p:spPr>
        <p:txBody>
          <a:bodyPr wrap="square" lIns="0" tIns="0" rIns="0" bIns="0" rtlCol="0" anchor="ctr"/>
          <a:lstStyle/>
          <a:p>
            <a:pPr indent="0" marL="0">
              <a:spcAft>
                <a:spcPts val="200"/>
              </a:spcAft>
              <a:buNone/>
            </a:pPr>
            <a:r>
              <a:rPr lang="en-US" sz="1250" b="1" dirty="0">
                <a:solidFill>
                  <a:srgbClr val="FFFFFF"/>
                </a:solidFill>
              </a:rPr>
              <a:t>Referencias principales</a:t>
            </a:r>
            <a:endParaRPr lang="en-US" sz="1250" dirty="0"/>
          </a:p>
          <a:p>
            <a:pPr indent="0" marL="0">
              <a:spcAft>
                <a:spcPts val="200"/>
              </a:spcAft>
              <a:buNone/>
            </a:pPr>
            <a:r>
              <a:rPr lang="en-US" sz="1250" dirty="0">
                <a:solidFill>
                  <a:srgbClr val="CADCFC"/>
                </a:solidFill>
              </a:rPr>
              <a:t>NASA (2020) Artemis Plan · NASA (2023) SLS Fact Sheet</a:t>
            </a:r>
            <a:endParaRPr lang="en-US" sz="1250" dirty="0"/>
          </a:p>
          <a:p>
            <a:pPr indent="0" marL="0">
              <a:spcAft>
                <a:spcPts val="200"/>
              </a:spcAft>
              <a:buNone/>
            </a:pPr>
            <a:r>
              <a:rPr lang="en-US" sz="1250" dirty="0">
                <a:solidFill>
                  <a:srgbClr val="CADCFC"/>
                </a:solidFill>
              </a:rPr>
              <a:t>Hairer, Lubich &amp; Wanner (2006) Geometric Numerical Integration</a:t>
            </a:r>
            <a:endParaRPr lang="en-US" sz="1250" dirty="0"/>
          </a:p>
          <a:p>
            <a:pPr indent="0" marL="0">
              <a:spcAft>
                <a:spcPts val="200"/>
              </a:spcAft>
              <a:buNone/>
            </a:pPr>
            <a:r>
              <a:rPr lang="en-US" sz="1250" dirty="0">
                <a:solidFill>
                  <a:srgbClr val="CADCFC"/>
                </a:solidFill>
              </a:rPr>
              <a:t>Curtis (2013) Orbital Mechanics · Sutton (2017) Rocket Propulsion</a:t>
            </a:r>
            <a:endParaRPr lang="en-US" sz="1250" dirty="0"/>
          </a:p>
          <a:p>
            <a:pPr indent="0" marL="0">
              <a:spcAft>
                <a:spcPts val="200"/>
              </a:spcAft>
              <a:buNone/>
            </a:pPr>
            <a:r>
              <a:rPr lang="en-US" sz="1250" dirty="0">
                <a:solidFill>
                  <a:srgbClr val="CADCFC"/>
                </a:solidFill>
              </a:rPr>
              <a:t>Código: src/artemis_sim · Informe: docs/paper/final/main.pdf</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Universidad de Medellín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Simulación dinámica multifase de la misión Artemis IV</dc:title>
  <dc:subject>PptxGenJS Presentation</dc:subject>
  <dc:creator>Mariana Lopera Correa, Juan José Becerra Bedoya, Daniel Santiago Machado</dc:creator>
  <cp:lastModifiedBy>Mariana Lopera Correa, Juan José Becerra Bedoya, Daniel Santiago Machado</cp:lastModifiedBy>
  <cp:revision>1</cp:revision>
  <dcterms:created xsi:type="dcterms:W3CDTF">2026-10-27T21:27:54Z</dcterms:created>
  <dcterms:modified xsi:type="dcterms:W3CDTF">2026-10-27T21:27:54Z</dcterms:modified>
</cp:coreProperties>
</file>